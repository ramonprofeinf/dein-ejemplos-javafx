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tema. Los ejemplos de la Parte 2 están en el proyecto mvc-javafx y las soluciones de la Parte 3, en soluciones-javafx. Los tres colores se repiten en toda la presentación: verde para el modelo, azul para la vista y naranja para el controlador.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hablar de patrones, un programa mínimo. Pregunta a la clase qué tiene que hacer el código. Los colores de los números ya adelantan el reparto: azul para la vista, naranja para el controlador y verde para el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lo escribiría casi todo el mundo la primera vez. Funciona, pero la suma está dentro del setOnAction de un botón: para probarla hay que abrir la ventana y pulsar a mano. En el proyecto, la clase CalculadoraEspagueti es un ejemplo completo de este problema y es la base de la tarea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tres preguntas en cursiva sirven para decidir dónde va cada línea de código. Truco: si una línea tendría sentido también en una aplicación de consola o en una web, es modelo. Si habla de componentes, colores o posiciones, es vista. Si es del tipo «cuando pase X, haz Y», es controlador.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Regla del proyecto: el modelo puede usar javafx.beans y javafx.collections (propiedades y listas observables), porque no dibujan nada y funcionan sin ventanas. Lo que nunca importa es javafx.scene ni javafx.stage. Comprobar los import de cada clase es la forma más rápida de saber si se respeta el MVC.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vez que el usuario hace algo se recorre siempre el mismo camino. ¿Por qué el modelo no conoce a nadie? Porque es la parte más valiosa: si no depende de la interfaz, se reutiliza tal cual y se prueba con JUnit sin abrir ventanas.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dos son MVC: la diferencia es quién avisa a la vista. Con la variante A, si hubiera tres vistas, el controlador tendría que acordarse de refrescar las tres. Con la B, cada vista se enlaza una vez al modelo y ya no hay que hacer nada más. En JavaFX la variante B sale casi gratis gracias a las propiedades observables.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cliente nunca entra en la cocina y el cocinero no sale a la sala a tomar nota. El riesgo de los controladores enormes aparece cuando se mete en ellos lógica que debería estar en el modelo: un controlador debería ser corto y aburrido.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aprendan aquí con JavaFX les servirá en web y en móvil. Android usa una variante, MVVM, en la que el ViewModel hace el papel del controlador y la vista se enlaza a él, de forma parecida al bind() de JavaFX.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Todos los ejemplos siguen esta estructura. La ventana (Stage) la crea JavaFX y nos la da en start(); por eso la vista no es la ventana, sino un panel que se coloca dentro. Application.launch arranca JavaFX y llama a start() desde su hilo de interfaz. Main existe solo para que el IDE no se queje: si la clase con el main hereda de Application, Java se niega a arrancar. Con un JDK en español el mensaje sale mal traducido, pero es el mismo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ejemplo está en su propio paquete de mvc-javafx y se ejecuta con su clase Main. Los dos primeros usan la variante A (el controlador refresca); la lista de la compra y la TableView usan la variante B (el modelo avisa).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Paquete mvc.contador. El modelo guarda el valor como private, así que solo cambia a través de sus métodos. La vista hereda de BorderPane, tiene los componentes private y ofrece dos cosas: mostrar(int), para pintar, y los enganches alPulsarX(Runnable), para que el controlador decida qué pasa al pulsar. Ojo: setOnAction sustituye la acción anterior, un botón solo tiene una. En el código real hay también un alPulsarReset y el constructor que coloca los nodos; aquí se han quitado para que quepa.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controlador recibe el modelo y la vista por el constructor (no los crea él) y se engancha a los botones con lambdas sin parámetros, porque los enganches reciben un Runnable. Cada acción sigue los mismos dos pasos: cambiar el modelo y refrescar la vista. Fíjate en lo que no hace: ni valor++ (es del modelo) ni tocar un Label (es de la vista). La llamada a refrescarVista() del constructor hace que lo que se ve salga siempre del modelo, también al arrancar.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Paquete mvc.contadorfxml. La vista es un fichero FXML que se puede editar con Scene Builder: no tiene ni una línea de lógica. El FXMLLoader crea los nodos y los inyecta en los atributos @FXML del controlador; initialize() se ejecuta cuando ya están inyectados (en el constructor todavía son null). Como el controlador necesita el modelo, App usa setControllerFactory para crearlo. Para debatir: aquí el controlador sí conoce un Label. Es la forma habitual de trabajar en JavaFX, pero mezcla un poco controlador y vista. ¿Qué se gana y qué se pierde?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Paquete mvc.login. Usuarios de prueba: admin/1234, alumno/dam2 y profe/javafx. Comprobar que los campos no estén vacíos es tarea del controlador; decidir si un usuario y una clave son correctos es una regla de negocio y va en el modelo. Si mañana los usuarios se leen de una base de datos, solo cambia UsuarioService. Detalle de la vista: el botón Entrar es el botón por defecto, así que pulsar Intro equivale a pulsarlo.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Paquete mvc.compra. Es la variante B del patrón. El modelo usa una ObservableList y un ReadOnlyDoubleWrapper para el total, que se recalcula solo con un listener cada vez que cambia la lista. Hacia fuera da la lista de solo lectura, para que nadie la modifique sin pasar por agregar() o eliminar(). Las dos vistas no se conocen entre sí: cada una escucha al modelo por su cuenta. Compáralo con el contador: aquí el controlador no refresca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Paquete mvc.tableview. GrupoAlumnos guarda los alumnos en una ObservableList y da hacia fuera una versión de solo lectura. En la tabla de la derecha, la fila verde es la que se acaba de añadir: aparece sin que el controlador avise a nadie. Detalle del código real: para poder ordenar pulsando en las cabeceras, la vista envuelve la lista en un SortedList y lo enlaza al comparador de la tabla. Así el usuario ordena lo que ve sin cambiar el orden del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soluciones de las cuatro tareas están en el proyecto soluciones-javafx, que conviene no repartir. La tarea 2 parte de la clase CalculadoraEspagueti del proyecto de ejemplos.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Solución: soluciones.conversor. Es la tarea guiada: sigue la misma estructura que el contador. El cero absoluto (−273,15 °C) es una regla de negocio, así que la comprobación va en el modelo, que lanza una excepción; el controlador la recoge y la vista solo muestra el mensaje.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clase está en mvc.calculadoraespagueti y tiene los problemas marcados con comentarios [OLOR]. El fallo escondido: al pulsar el segundo +, la calculadora pierde el primer número y «2 + 3 + 4 =» da 7 en lugar de 9. Con el modelo separado se puede escribir un test que lo detecte. Recuerda que hay que ejecutar la clase Main, no CalculadoraEspagueti.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Solución: soluciones.banco, con 4 tests en CuentaBancariaTest. El modelo expone saldoProperty() y saldoBajoProperty(), esta última enlazada a saldo &lt; 100. La vista enlaza el texto al saldo y el color a saldoBajo con Bindings.when. Buen punto para repasar el reparto: la regla (100 €) es del modelo; el aspecto (rojo), de la vista.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Solución: soluciones.agenda, con 3 tests en AgendaTest. La búsqueda usa una FilteredList en el modelo, así que el filtro se mantiene solo después de cada alta, baja o modificación. Conviene trabajar con objetos Contacto y no con números de fila: con la tabla filtrada u ordenada, la fila 0 de la tabla no es la posición 0 de la agenda. La ampliación con FXML se puede editar con Scene Builder.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293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72033"/>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81201"/>
            <a:ext cx="10566400" cy="4063999"/>
          </a:xfrm>
          <a:prstGeom prst="rect">
            <a:avLst/>
          </a:prstGeom>
          <a:noFill/>
          <a:ln/>
        </p:spPr>
        <p:txBody>
          <a:bodyPr wrap="square" lIns="0" tIns="0" rIns="0" bIns="0" rtlCol="0" anchor="t"/>
          <a:lstStyle>
            <a:lvl1pPr algn="l" indent="0" marL="0">
              <a:lnSpc>
                <a:spcPct val="140000"/>
              </a:lnSpc>
              <a:buNone/>
              <a:defRPr lang="en-US" sz="1600" dirty="0">
                <a:solidFill>
                  <a:srgbClr val="1720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293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72033"/>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81201"/>
            <a:ext cx="10566400" cy="4063999"/>
          </a:xfrm>
          <a:prstGeom prst="rect">
            <a:avLst/>
          </a:prstGeom>
          <a:noFill/>
          <a:ln/>
        </p:spPr>
        <p:txBody>
          <a:bodyPr wrap="square" lIns="0" tIns="0" rIns="0" bIns="0" rtlCol="0" anchor="t"/>
          <a:lstStyle>
            <a:lvl1pPr algn="l" indent="0" marL="0">
              <a:lnSpc>
                <a:spcPct val="140000"/>
              </a:lnSpc>
              <a:buNone/>
              <a:defRPr lang="en-US" sz="1600" dirty="0">
                <a:solidFill>
                  <a:srgbClr val="1720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033"/>
        </a:solidFill>
      </p:bgPr>
    </p:bg>
    <p:spTree>
      <p:nvGrpSpPr>
        <p:cNvPr id="1" name=""/>
        <p:cNvGrpSpPr/>
        <p:nvPr/>
      </p:nvGrpSpPr>
      <p:grpSpPr>
        <a:xfrm>
          <a:off x="0" y="0"/>
          <a:ext cx="0" cy="0"/>
          <a:chOff x="0" y="0"/>
          <a:chExt cx="0" cy="0"/>
        </a:xfrm>
      </p:grpSpPr>
      <p:sp>
        <p:nvSpPr>
          <p:cNvPr id="2" name="Text 0"/>
          <p:cNvSpPr/>
          <p:nvPr/>
        </p:nvSpPr>
        <p:spPr>
          <a:xfrm>
            <a:off x="812800" y="170307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9AA6BA"/>
                </a:solidFill>
                <a:latin typeface="IBM Plex Sans" pitchFamily="34" charset="0"/>
                <a:ea typeface="IBM Plex Sans" pitchFamily="34" charset="-122"/>
                <a:cs typeface="IBM Plex Sans" pitchFamily="34" charset="-120"/>
              </a:rPr>
              <a:t>DESARROLLO DE INTERFACES · 2º DAM</a:t>
            </a:r>
            <a:endParaRPr lang="en-US" sz="1400" dirty="0"/>
          </a:p>
        </p:txBody>
      </p:sp>
      <p:sp>
        <p:nvSpPr>
          <p:cNvPr id="3" name="Text 1"/>
          <p:cNvSpPr/>
          <p:nvPr>
            <p:ph type="title"/>
          </p:nvPr>
        </p:nvSpPr>
        <p:spPr>
          <a:xfrm>
            <a:off x="812800" y="2205990"/>
            <a:ext cx="10883392" cy="2105660"/>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7F6F2"/>
                </a:solidFill>
                <a:latin typeface="IBM Plex Sans" pitchFamily="34" charset="0"/>
                <a:ea typeface="IBM Plex Sans" pitchFamily="34" charset="-122"/>
                <a:cs typeface="IBM Plex Sans" pitchFamily="34" charset="-120"/>
              </a:rPr>
              <a:t>El patrón</a:t>
            </a:r>
            <a:endParaRPr lang="en-US" sz="5200" dirty="0"/>
          </a:p>
          <a:p>
            <a:pPr algn="l" indent="0" marL="0">
              <a:lnSpc>
                <a:spcPts val="5460"/>
              </a:lnSpc>
              <a:buNone/>
            </a:pPr>
            <a:r>
              <a:rPr lang="en-US" sz="5200" b="1" i="0" dirty="0">
                <a:solidFill>
                  <a:srgbClr val="F7F6F2"/>
                </a:solidFill>
                <a:latin typeface="IBM Plex Sans" pitchFamily="34" charset="0"/>
                <a:ea typeface="IBM Plex Sans" pitchFamily="34" charset="-122"/>
                <a:cs typeface="IBM Plex Sans" pitchFamily="34" charset="-120"/>
              </a:rPr>
              <a:t>Modelo-Vista-Controlador</a:t>
            </a:r>
            <a:endParaRPr lang="en-US" sz="5200" dirty="0"/>
          </a:p>
          <a:p>
            <a:pPr algn="l" indent="0" marL="0">
              <a:lnSpc>
                <a:spcPts val="5460"/>
              </a:lnSpc>
              <a:buNone/>
            </a:pPr>
            <a:r>
              <a:rPr lang="en-US" sz="5200" b="1" i="0" dirty="0">
                <a:solidFill>
                  <a:srgbClr val="F7F6F2"/>
                </a:solidFill>
                <a:latin typeface="IBM Plex Sans" pitchFamily="34" charset="0"/>
                <a:ea typeface="IBM Plex Sans" pitchFamily="34" charset="-122"/>
                <a:cs typeface="IBM Plex Sans" pitchFamily="34" charset="-120"/>
              </a:rPr>
              <a:t>en JavaFX</a:t>
            </a:r>
            <a:endParaRPr lang="en-US" sz="5200" dirty="0"/>
          </a:p>
        </p:txBody>
      </p:sp>
      <p:sp>
        <p:nvSpPr>
          <p:cNvPr id="4" name="Shape 2"/>
          <p:cNvSpPr/>
          <p:nvPr/>
        </p:nvSpPr>
        <p:spPr>
          <a:xfrm>
            <a:off x="812800" y="4540250"/>
            <a:ext cx="762000" cy="76200"/>
          </a:xfrm>
          <a:prstGeom prst="roundRect">
            <a:avLst>
              <a:gd name="adj" fmla="val 50000"/>
            </a:avLst>
          </a:prstGeom>
          <a:solidFill>
            <a:srgbClr val="4FAE78"/>
          </a:solidFill>
          <a:ln/>
        </p:spPr>
      </p:sp>
      <p:sp>
        <p:nvSpPr>
          <p:cNvPr id="5" name="Shape 3"/>
          <p:cNvSpPr/>
          <p:nvPr/>
        </p:nvSpPr>
        <p:spPr>
          <a:xfrm>
            <a:off x="1676400" y="4540250"/>
            <a:ext cx="762000" cy="76200"/>
          </a:xfrm>
          <a:prstGeom prst="roundRect">
            <a:avLst>
              <a:gd name="adj" fmla="val 50000"/>
            </a:avLst>
          </a:prstGeom>
          <a:solidFill>
            <a:srgbClr val="5B8FDB"/>
          </a:solidFill>
          <a:ln/>
        </p:spPr>
      </p:sp>
      <p:sp>
        <p:nvSpPr>
          <p:cNvPr id="6" name="Shape 4"/>
          <p:cNvSpPr/>
          <p:nvPr/>
        </p:nvSpPr>
        <p:spPr>
          <a:xfrm>
            <a:off x="2540000" y="4540250"/>
            <a:ext cx="762000" cy="76200"/>
          </a:xfrm>
          <a:prstGeom prst="roundRect">
            <a:avLst>
              <a:gd name="adj" fmla="val 50000"/>
            </a:avLst>
          </a:prstGeom>
          <a:solidFill>
            <a:srgbClr val="E08A3C"/>
          </a:solidFill>
          <a:ln/>
        </p:spPr>
      </p:sp>
      <p:sp>
        <p:nvSpPr>
          <p:cNvPr id="7" name="Text 5"/>
          <p:cNvSpPr/>
          <p:nvPr/>
        </p:nvSpPr>
        <p:spPr>
          <a:xfrm>
            <a:off x="812800" y="487045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C8D6"/>
                </a:solidFill>
                <a:latin typeface="IBM Plex Sans" pitchFamily="34" charset="0"/>
                <a:ea typeface="IBM Plex Sans" pitchFamily="34" charset="-122"/>
                <a:cs typeface="IBM Plex Sans" pitchFamily="34" charset="-120"/>
              </a:rPr>
              <a:t>Qué es el MVC, ejemplos resueltos y tareas para clase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6A80"/>
                </a:solidFill>
                <a:latin typeface="IBM Plex Sans" pitchFamily="34" charset="0"/>
                <a:ea typeface="IBM Plex Sans" pitchFamily="34" charset="-122"/>
                <a:cs typeface="IBM Plex Sans" pitchFamily="34" charset="-120"/>
              </a:rPr>
              <a:t>PARTE 1 · QUÉ ES EL MVC</a:t>
            </a:r>
            <a:endParaRPr lang="en-US" sz="1200" dirty="0"/>
          </a:p>
        </p:txBody>
      </p:sp>
      <p:sp>
        <p:nvSpPr>
          <p:cNvPr id="3" name="Text 1"/>
          <p:cNvSpPr/>
          <p:nvPr>
            <p:ph type="title"/>
          </p:nvPr>
        </p:nvSpPr>
        <p:spPr>
          <a:xfrm>
            <a:off x="812800" y="12293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33"/>
                </a:solidFill>
                <a:latin typeface="IBM Plex Sans" pitchFamily="34" charset="0"/>
                <a:ea typeface="IBM Plex Sans" pitchFamily="34" charset="-122"/>
                <a:cs typeface="IBM Plex Sans" pitchFamily="34" charset="-120"/>
              </a:rPr>
              <a:t>Punto de partida: una calculadora sencilla</a:t>
            </a:r>
            <a:endParaRPr lang="en-US" sz="3200" dirty="0"/>
          </a:p>
        </p:txBody>
      </p:sp>
      <p:sp>
        <p:nvSpPr>
          <p:cNvPr id="4" name="Text 2"/>
          <p:cNvSpPr/>
          <p:nvPr/>
        </p:nvSpPr>
        <p:spPr>
          <a:xfrm>
            <a:off x="812800" y="18796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A5C"/>
                </a:solidFill>
                <a:latin typeface="IBM Plex Sans" pitchFamily="34" charset="0"/>
                <a:ea typeface="IBM Plex Sans" pitchFamily="34" charset="-122"/>
                <a:cs typeface="IBM Plex Sans" pitchFamily="34" charset="-120"/>
              </a:rPr>
              <a:t>El usuario escribe dos números, pulsa + y ve el resultado.</a:t>
            </a:r>
            <a:endParaRPr lang="en-US" sz="1600" dirty="0"/>
          </a:p>
        </p:txBody>
      </p:sp>
      <p:sp>
        <p:nvSpPr>
          <p:cNvPr id="5" name="Shape 3"/>
          <p:cNvSpPr/>
          <p:nvPr/>
        </p:nvSpPr>
        <p:spPr>
          <a:xfrm>
            <a:off x="819150" y="2482850"/>
            <a:ext cx="3543300" cy="1673860"/>
          </a:xfrm>
          <a:prstGeom prst="roundRect">
            <a:avLst>
              <a:gd name="adj" fmla="val 5690"/>
            </a:avLst>
          </a:prstGeom>
          <a:solidFill>
            <a:srgbClr val="FFFFFF"/>
          </a:solidFill>
          <a:ln w="12700">
            <a:solidFill>
              <a:srgbClr val="C9D0DB"/>
            </a:solidFill>
            <a:prstDash val="solid"/>
          </a:ln>
          <a:effectLst>
            <a:outerShdw sx="100000" sy="100000" kx="0" ky="0" algn="bl" rotWithShape="0" blurRad="203200" dist="76200" dir="5400000">
              <a:srgbClr val="172033">
                <a:alpha val="12000"/>
              </a:srgbClr>
            </a:outerShdw>
          </a:effectLst>
        </p:spPr>
      </p:sp>
      <p:sp>
        <p:nvSpPr>
          <p:cNvPr id="6" name="Text 4"/>
          <p:cNvSpPr/>
          <p:nvPr/>
        </p:nvSpPr>
        <p:spPr>
          <a:xfrm>
            <a:off x="822960" y="2486660"/>
            <a:ext cx="3535680" cy="416560"/>
          </a:xfrm>
          <a:custGeom>
            <a:avLst/>
            <a:gdLst/>
            <a:ahLst/>
            <a:cxnLst/>
            <a:rect l="l" t="t" r="r" b="b"/>
            <a:pathLst>
              <a:path w="3535680" h="416560">
                <a:moveTo>
                  <a:pt x="0" y="91440"/>
                </a:moveTo>
                <a:arcTo hR="91440" wR="91440" stAng="10800000" swAng="5400000"/>
                <a:lnTo>
                  <a:pt x="3444240" y="0"/>
                </a:lnTo>
                <a:arcTo hR="91440" wR="91440" stAng="16200000" swAng="5400000"/>
                <a:lnTo>
                  <a:pt x="3535680" y="416560"/>
                </a:lnTo>
                <a:lnTo>
                  <a:pt x="0" y="416560"/>
                </a:lnTo>
                <a:close/>
              </a:path>
            </a:pathLst>
          </a:custGeom>
          <a:solidFill>
            <a:srgbClr val="E4E8EE"/>
          </a:solidFill>
          <a:ln/>
        </p:spPr>
        <p:txBody>
          <a:bodyPr wrap="square" lIns="152400" tIns="101600" rIns="55473" bIns="7620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Calculadora</a:t>
            </a:r>
            <a:endParaRPr lang="en-US" sz="1200" dirty="0"/>
          </a:p>
        </p:txBody>
      </p:sp>
      <p:sp>
        <p:nvSpPr>
          <p:cNvPr id="7" name="Text 5"/>
          <p:cNvSpPr/>
          <p:nvPr/>
        </p:nvSpPr>
        <p:spPr>
          <a:xfrm>
            <a:off x="1032510" y="3112770"/>
            <a:ext cx="1211580" cy="393700"/>
          </a:xfrm>
          <a:prstGeom prst="roundRect">
            <a:avLst>
              <a:gd name="adj" fmla="val 11290"/>
            </a:avLst>
          </a:prstGeom>
          <a:noFill/>
          <a:ln w="12700">
            <a:solidFill>
              <a:srgbClr val="C9D0DB"/>
            </a:solidFill>
            <a:prstDash val="solid"/>
          </a:ln>
        </p:spPr>
        <p:txBody>
          <a:bodyPr wrap="square" lIns="92391" tIns="41591" rIns="41591" bIns="16191" rtlCol="0" anchor="t">
            <a:normAutofit/>
          </a:bodyPr>
          <a:lstStyle/>
          <a:p>
            <a:pPr algn="l" indent="0" marL="0">
              <a:lnSpc>
                <a:spcPts val="2240"/>
              </a:lnSpc>
              <a:buNone/>
            </a:pPr>
            <a:r>
              <a:rPr lang="en-US" sz="1600" dirty="0">
                <a:solidFill>
                  <a:srgbClr val="172033"/>
                </a:solidFill>
                <a:latin typeface="IBM Plex Sans" pitchFamily="34" charset="0"/>
                <a:ea typeface="IBM Plex Sans" pitchFamily="34" charset="-122"/>
                <a:cs typeface="IBM Plex Sans" pitchFamily="34" charset="-120"/>
              </a:rPr>
              <a:t>5</a:t>
            </a:r>
            <a:endParaRPr lang="en-US" sz="1600" dirty="0"/>
          </a:p>
        </p:txBody>
      </p:sp>
      <p:sp>
        <p:nvSpPr>
          <p:cNvPr id="8" name="Text 6"/>
          <p:cNvSpPr/>
          <p:nvPr/>
        </p:nvSpPr>
        <p:spPr>
          <a:xfrm>
            <a:off x="2358390" y="3112770"/>
            <a:ext cx="1211580" cy="393700"/>
          </a:xfrm>
          <a:prstGeom prst="roundRect">
            <a:avLst>
              <a:gd name="adj" fmla="val 11290"/>
            </a:avLst>
          </a:prstGeom>
          <a:noFill/>
          <a:ln w="12700">
            <a:solidFill>
              <a:srgbClr val="C9D0DB"/>
            </a:solidFill>
            <a:prstDash val="solid"/>
          </a:ln>
        </p:spPr>
        <p:txBody>
          <a:bodyPr wrap="square" lIns="92391" tIns="41591" rIns="41591" bIns="16191" rtlCol="0" anchor="t">
            <a:normAutofit/>
          </a:bodyPr>
          <a:lstStyle/>
          <a:p>
            <a:pPr algn="l" indent="0" marL="0">
              <a:lnSpc>
                <a:spcPts val="2240"/>
              </a:lnSpc>
              <a:buNone/>
            </a:pPr>
            <a:r>
              <a:rPr lang="en-US" sz="1600" dirty="0">
                <a:solidFill>
                  <a:srgbClr val="172033"/>
                </a:solidFill>
                <a:latin typeface="IBM Plex Sans" pitchFamily="34" charset="0"/>
                <a:ea typeface="IBM Plex Sans" pitchFamily="34" charset="-122"/>
                <a:cs typeface="IBM Plex Sans" pitchFamily="34" charset="-120"/>
              </a:rPr>
              <a:t>3</a:t>
            </a:r>
            <a:endParaRPr lang="en-US" sz="1600" dirty="0"/>
          </a:p>
        </p:txBody>
      </p:sp>
      <p:sp>
        <p:nvSpPr>
          <p:cNvPr id="9" name="Text 7"/>
          <p:cNvSpPr/>
          <p:nvPr/>
        </p:nvSpPr>
        <p:spPr>
          <a:xfrm>
            <a:off x="3677920" y="3116580"/>
            <a:ext cx="477520" cy="386080"/>
          </a:xfrm>
          <a:prstGeom prst="roundRect">
            <a:avLst>
              <a:gd name="adj" fmla="val 13158"/>
            </a:avLst>
          </a:prstGeom>
          <a:solidFill>
            <a:srgbClr val="2A5EA8"/>
          </a:solidFill>
          <a:ln/>
        </p:spPr>
        <p:txBody>
          <a:bodyPr wrap="none" lIns="0" tIns="0" rIns="0" bIns="0" rtlCol="0" anchor="ctr">
            <a:normAutofit/>
          </a:bodyPr>
          <a:lstStyle/>
          <a:p>
            <a:pPr algn="ctr" indent="0" marL="0">
              <a:lnSpc>
                <a:spcPts val="2240"/>
              </a:lnSpc>
              <a:buNone/>
            </a:pPr>
            <a:r>
              <a:rPr lang="en-US" sz="1600" b="1" dirty="0">
                <a:solidFill>
                  <a:srgbClr val="F7F6F2"/>
                </a:solidFill>
                <a:latin typeface="IBM Plex Sans" pitchFamily="34" charset="0"/>
                <a:ea typeface="IBM Plex Sans" pitchFamily="34" charset="-122"/>
                <a:cs typeface="IBM Plex Sans" pitchFamily="34" charset="-120"/>
              </a:rPr>
              <a:t>+</a:t>
            </a:r>
            <a:endParaRPr lang="en-US" sz="1600" dirty="0"/>
          </a:p>
        </p:txBody>
      </p:sp>
      <p:sp>
        <p:nvSpPr>
          <p:cNvPr id="10" name="Text 8"/>
          <p:cNvSpPr/>
          <p:nvPr/>
        </p:nvSpPr>
        <p:spPr>
          <a:xfrm>
            <a:off x="1026160" y="3665220"/>
            <a:ext cx="3223159"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2033"/>
                </a:solidFill>
                <a:latin typeface="IBM Plex Sans" pitchFamily="34" charset="0"/>
                <a:ea typeface="IBM Plex Sans" pitchFamily="34" charset="-122"/>
                <a:cs typeface="IBM Plex Sans" pitchFamily="34" charset="-120"/>
              </a:rPr>
              <a:t>Resultado: 8</a:t>
            </a:r>
            <a:endParaRPr lang="en-US" sz="1600" dirty="0"/>
          </a:p>
        </p:txBody>
      </p:sp>
      <p:sp>
        <p:nvSpPr>
          <p:cNvPr id="11" name="Text 9"/>
          <p:cNvSpPr/>
          <p:nvPr/>
        </p:nvSpPr>
        <p:spPr>
          <a:xfrm>
            <a:off x="4876800" y="2367280"/>
            <a:ext cx="669747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033"/>
                </a:solidFill>
                <a:latin typeface="IBM Plex Sans" pitchFamily="34" charset="0"/>
                <a:ea typeface="IBM Plex Sans" pitchFamily="34" charset="-122"/>
                <a:cs typeface="IBM Plex Sans" pitchFamily="34" charset="-120"/>
              </a:rPr>
              <a:t>Su código tiene que hacer tres cosas</a:t>
            </a:r>
            <a:endParaRPr lang="en-US" sz="2000" dirty="0"/>
          </a:p>
        </p:txBody>
      </p:sp>
      <p:sp>
        <p:nvSpPr>
          <p:cNvPr id="12" name="Text 10"/>
          <p:cNvSpPr/>
          <p:nvPr/>
        </p:nvSpPr>
        <p:spPr>
          <a:xfrm>
            <a:off x="4876800" y="2849880"/>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2A5EA8"/>
          </a:solidFill>
          <a:ln/>
        </p:spPr>
        <p:txBody>
          <a:bodyPr wrap="square" lIns="0" tIns="0" rIns="0" bIns="0" rtlCol="0" anchor="t">
            <a:normAutofit/>
          </a:bodyPr>
          <a:lstStyle/>
          <a:p>
            <a:pPr algn="ctr" indent="0" marL="0">
              <a:lnSpc>
                <a:spcPts val="2800"/>
              </a:lnSpc>
              <a:buNone/>
            </a:pPr>
            <a:r>
              <a:rPr lang="en-US" sz="1600" b="1" dirty="0">
                <a:solidFill>
                  <a:srgbClr val="F7F6F2"/>
                </a:solidFill>
                <a:latin typeface="IBM Plex Sans" pitchFamily="34" charset="0"/>
                <a:ea typeface="IBM Plex Sans" pitchFamily="34" charset="-122"/>
                <a:cs typeface="IBM Plex Sans" pitchFamily="34" charset="-120"/>
              </a:rPr>
              <a:t>1</a:t>
            </a:r>
            <a:endParaRPr lang="en-US" sz="1600" dirty="0"/>
          </a:p>
        </p:txBody>
      </p:sp>
      <p:sp>
        <p:nvSpPr>
          <p:cNvPr id="13" name="Text 11"/>
          <p:cNvSpPr/>
          <p:nvPr/>
        </p:nvSpPr>
        <p:spPr>
          <a:xfrm>
            <a:off x="5384800" y="2885440"/>
            <a:ext cx="5003387"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E4A5C"/>
                </a:solidFill>
                <a:latin typeface="IBM Plex Sans" pitchFamily="34" charset="0"/>
                <a:ea typeface="IBM Plex Sans" pitchFamily="34" charset="-122"/>
                <a:cs typeface="IBM Plex Sans" pitchFamily="34" charset="-120"/>
              </a:rPr>
              <a:t>Dibujar la ventana:</a:t>
            </a:r>
            <a:r>
              <a:rPr lang="en-US" sz="1600" dirty="0">
                <a:solidFill>
                  <a:srgbClr val="3E4A5C"/>
                </a:solidFill>
                <a:latin typeface="IBM Plex Sans" pitchFamily="34" charset="0"/>
                <a:ea typeface="IBM Plex Sans" pitchFamily="34" charset="-122"/>
                <a:cs typeface="IBM Plex Sans" pitchFamily="34" charset="-120"/>
              </a:rPr>
              <a:t> campos, botón y etiqueta</a:t>
            </a:r>
            <a:endParaRPr lang="en-US" sz="1600" dirty="0"/>
          </a:p>
        </p:txBody>
      </p:sp>
      <p:sp>
        <p:nvSpPr>
          <p:cNvPr id="14" name="Text 12"/>
          <p:cNvSpPr/>
          <p:nvPr/>
        </p:nvSpPr>
        <p:spPr>
          <a:xfrm>
            <a:off x="4876800" y="3383280"/>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B0601A"/>
          </a:solidFill>
          <a:ln/>
        </p:spPr>
        <p:txBody>
          <a:bodyPr wrap="square" lIns="0" tIns="0" rIns="0" bIns="0" rtlCol="0" anchor="t">
            <a:normAutofit/>
          </a:bodyPr>
          <a:lstStyle/>
          <a:p>
            <a:pPr algn="ctr" indent="0" marL="0">
              <a:lnSpc>
                <a:spcPts val="2800"/>
              </a:lnSpc>
              <a:buNone/>
            </a:pPr>
            <a:r>
              <a:rPr lang="en-US" sz="1600" b="1" dirty="0">
                <a:solidFill>
                  <a:srgbClr val="F7F6F2"/>
                </a:solidFill>
                <a:latin typeface="IBM Plex Sans" pitchFamily="34" charset="0"/>
                <a:ea typeface="IBM Plex Sans" pitchFamily="34" charset="-122"/>
                <a:cs typeface="IBM Plex Sans" pitchFamily="34" charset="-120"/>
              </a:rPr>
              <a:t>2</a:t>
            </a:r>
            <a:endParaRPr lang="en-US" sz="1600" dirty="0"/>
          </a:p>
        </p:txBody>
      </p:sp>
      <p:sp>
        <p:nvSpPr>
          <p:cNvPr id="15" name="Text 13"/>
          <p:cNvSpPr/>
          <p:nvPr/>
        </p:nvSpPr>
        <p:spPr>
          <a:xfrm>
            <a:off x="5384800" y="3418840"/>
            <a:ext cx="4058603"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E4A5C"/>
                </a:solidFill>
                <a:latin typeface="IBM Plex Sans" pitchFamily="34" charset="0"/>
                <a:ea typeface="IBM Plex Sans" pitchFamily="34" charset="-122"/>
                <a:cs typeface="IBM Plex Sans" pitchFamily="34" charset="-120"/>
              </a:rPr>
              <a:t>Reaccionar</a:t>
            </a:r>
            <a:r>
              <a:rPr lang="en-US" sz="1600" dirty="0">
                <a:solidFill>
                  <a:srgbClr val="3E4A5C"/>
                </a:solidFill>
                <a:latin typeface="IBM Plex Sans" pitchFamily="34" charset="0"/>
                <a:ea typeface="IBM Plex Sans" pitchFamily="34" charset="-122"/>
                <a:cs typeface="IBM Plex Sans" pitchFamily="34" charset="-120"/>
              </a:rPr>
              <a:t> cuando se pulsa el botón</a:t>
            </a:r>
            <a:endParaRPr lang="en-US" sz="1600" dirty="0"/>
          </a:p>
        </p:txBody>
      </p:sp>
      <p:sp>
        <p:nvSpPr>
          <p:cNvPr id="16" name="Text 14"/>
          <p:cNvSpPr/>
          <p:nvPr/>
        </p:nvSpPr>
        <p:spPr>
          <a:xfrm>
            <a:off x="4876800" y="3916680"/>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2F7D4F"/>
          </a:solidFill>
          <a:ln/>
        </p:spPr>
        <p:txBody>
          <a:bodyPr wrap="square" lIns="0" tIns="0" rIns="0" bIns="0" rtlCol="0" anchor="t">
            <a:normAutofit/>
          </a:bodyPr>
          <a:lstStyle/>
          <a:p>
            <a:pPr algn="ctr" indent="0" marL="0">
              <a:lnSpc>
                <a:spcPts val="2800"/>
              </a:lnSpc>
              <a:buNone/>
            </a:pPr>
            <a:r>
              <a:rPr lang="en-US" sz="1600" b="1" dirty="0">
                <a:solidFill>
                  <a:srgbClr val="F7F6F2"/>
                </a:solidFill>
                <a:latin typeface="IBM Plex Sans" pitchFamily="34" charset="0"/>
                <a:ea typeface="IBM Plex Sans" pitchFamily="34" charset="-122"/>
                <a:cs typeface="IBM Plex Sans" pitchFamily="34" charset="-120"/>
              </a:rPr>
              <a:t>3</a:t>
            </a:r>
            <a:endParaRPr lang="en-US" sz="1600" dirty="0"/>
          </a:p>
        </p:txBody>
      </p:sp>
      <p:sp>
        <p:nvSpPr>
          <p:cNvPr id="17" name="Text 15"/>
          <p:cNvSpPr/>
          <p:nvPr/>
        </p:nvSpPr>
        <p:spPr>
          <a:xfrm>
            <a:off x="5384800" y="3952240"/>
            <a:ext cx="4071747"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E4A5C"/>
                </a:solidFill>
                <a:latin typeface="IBM Plex Sans" pitchFamily="34" charset="0"/>
                <a:ea typeface="IBM Plex Sans" pitchFamily="34" charset="-122"/>
                <a:cs typeface="IBM Plex Sans" pitchFamily="34" charset="-120"/>
              </a:rPr>
              <a:t>Hacer la cuenta:</a:t>
            </a:r>
            <a:r>
              <a:rPr lang="en-US" sz="1600" dirty="0">
                <a:solidFill>
                  <a:srgbClr val="3E4A5C"/>
                </a:solidFill>
                <a:latin typeface="IBM Plex Sans" pitchFamily="34" charset="0"/>
                <a:ea typeface="IBM Plex Sans" pitchFamily="34" charset="-122"/>
                <a:cs typeface="IBM Plex Sans" pitchFamily="34" charset="-120"/>
              </a:rPr>
              <a:t> la lógica de la suma</a:t>
            </a:r>
            <a:endParaRPr lang="en-US" sz="1600" dirty="0"/>
          </a:p>
        </p:txBody>
      </p:sp>
      <p:sp>
        <p:nvSpPr>
          <p:cNvPr id="18" name="Text 16"/>
          <p:cNvSpPr/>
          <p:nvPr/>
        </p:nvSpPr>
        <p:spPr>
          <a:xfrm>
            <a:off x="812800" y="447548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5E6A80"/>
                </a:solidFill>
                <a:latin typeface="IBM Plex Sans" pitchFamily="34" charset="0"/>
                <a:ea typeface="IBM Plex Sans" pitchFamily="34" charset="-122"/>
                <a:cs typeface="IBM Plex Sans" pitchFamily="34" charset="-120"/>
              </a:rPr>
              <a:t>Siguiente diapositiva: cómo queda el código si metemos las tres cosas en una sola clase.</a:t>
            </a:r>
            <a:endParaRPr lang="en-US" sz="1400" dirty="0"/>
          </a:p>
        </p:txBody>
      </p:sp>
      <p:sp>
        <p:nvSpPr>
          <p:cNvPr id="19" name="Text 17"/>
          <p:cNvSpPr/>
          <p:nvPr/>
        </p:nvSpPr>
        <p:spPr>
          <a:xfrm>
            <a:off x="812800" y="62382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El patrón MVC en JavaFX · Desarrollo de Interfaces · 2º DAM</a:t>
            </a:r>
            <a:endParaRPr lang="en-US" sz="1200" dirty="0"/>
          </a:p>
        </p:txBody>
      </p:sp>
      <p:sp>
        <p:nvSpPr>
          <p:cNvPr id="20" name="Text 18"/>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2 / 22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6A80"/>
                </a:solidFill>
                <a:latin typeface="IBM Plex Sans" pitchFamily="34" charset="0"/>
                <a:ea typeface="IBM Plex Sans" pitchFamily="34" charset="-122"/>
                <a:cs typeface="IBM Plex Sans" pitchFamily="34" charset="-120"/>
              </a:rPr>
              <a:t>PARTE 1 · QUÉ ES EL MVC</a:t>
            </a:r>
            <a:endParaRPr lang="en-US" sz="1200" dirty="0"/>
          </a:p>
        </p:txBody>
      </p:sp>
      <p:sp>
        <p:nvSpPr>
          <p:cNvPr id="3" name="Text 1"/>
          <p:cNvSpPr/>
          <p:nvPr>
            <p:ph type="title"/>
          </p:nvPr>
        </p:nvSpPr>
        <p:spPr>
          <a:xfrm>
            <a:off x="812800" y="1229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33"/>
                </a:solidFill>
                <a:latin typeface="IBM Plex Sans" pitchFamily="34" charset="0"/>
                <a:ea typeface="IBM Plex Sans" pitchFamily="34" charset="-122"/>
                <a:cs typeface="IBM Plex Sans" pitchFamily="34" charset="-120"/>
              </a:rPr>
              <a:t>El problema: una clase que lo hace todo</a:t>
            </a:r>
            <a:endParaRPr lang="en-US" sz="3200" dirty="0"/>
          </a:p>
        </p:txBody>
      </p:sp>
      <p:sp>
        <p:nvSpPr>
          <p:cNvPr id="4" name="Text 2"/>
          <p:cNvSpPr/>
          <p:nvPr/>
        </p:nvSpPr>
        <p:spPr>
          <a:xfrm>
            <a:off x="812800" y="1879600"/>
            <a:ext cx="5588000" cy="3500120"/>
          </a:xfrm>
          <a:prstGeom prst="roundRect">
            <a:avLst>
              <a:gd name="adj" fmla="val 2903"/>
            </a:avLst>
          </a:prstGeom>
          <a:solidFill>
            <a:srgbClr val="1C2333"/>
          </a:solidFill>
          <a:ln/>
        </p:spPr>
        <p:txBody>
          <a:bodyPr wrap="none" lIns="198842" tIns="173442" rIns="44918" bIns="148042" rtlCol="0" anchor="t">
            <a:normAutofit/>
          </a:bodyPr>
          <a:lstStyle/>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public class Calculadora extends Application {</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public void start(Stage ventana) {</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TextField a = new TextField();   </a:t>
            </a:r>
            <a:r>
              <a:rPr lang="en-US" sz="1200" dirty="0">
                <a:solidFill>
                  <a:srgbClr val="8FB4F0"/>
                </a:solidFill>
                <a:latin typeface="JetBrains Mono" pitchFamily="49" charset="0"/>
                <a:ea typeface="JetBrains Mono" pitchFamily="49" charset="-122"/>
                <a:cs typeface="JetBrains Mono" pitchFamily="49" charset="-120"/>
              </a:rPr>
              <a:t>// 1. ventana</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TextField b = new TextField();   </a:t>
            </a:r>
            <a:r>
              <a:rPr lang="en-US" sz="1200" dirty="0">
                <a:solidFill>
                  <a:srgbClr val="8FB4F0"/>
                </a:solidFill>
                <a:latin typeface="JetBrains Mono" pitchFamily="49" charset="0"/>
                <a:ea typeface="JetBrains Mono" pitchFamily="49" charset="-122"/>
                <a:cs typeface="JetBrains Mono" pitchFamily="49" charset="-120"/>
              </a:rPr>
              <a:t>// 1. ventana</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Label res = new Label();         </a:t>
            </a:r>
            <a:r>
              <a:rPr lang="en-US" sz="1200" dirty="0">
                <a:solidFill>
                  <a:srgbClr val="8FB4F0"/>
                </a:solidFill>
                <a:latin typeface="JetBrains Mono" pitchFamily="49" charset="0"/>
                <a:ea typeface="JetBrains Mono" pitchFamily="49" charset="-122"/>
                <a:cs typeface="JetBrains Mono" pitchFamily="49" charset="-120"/>
              </a:rPr>
              <a:t>// 1. ventana</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Button sumar = new Button("+");  </a:t>
            </a:r>
            <a:r>
              <a:rPr lang="en-US" sz="1200" dirty="0">
                <a:solidFill>
                  <a:srgbClr val="8FB4F0"/>
                </a:solidFill>
                <a:latin typeface="JetBrains Mono" pitchFamily="49" charset="0"/>
                <a:ea typeface="JetBrains Mono" pitchFamily="49" charset="-122"/>
                <a:cs typeface="JetBrains Mono" pitchFamily="49" charset="-120"/>
              </a:rPr>
              <a:t>// 1. ventana</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sumar.setOnAction(e -&gt; {         </a:t>
            </a:r>
            <a:r>
              <a:rPr lang="en-US" sz="1200" dirty="0">
                <a:solidFill>
                  <a:srgbClr val="F2B880"/>
                </a:solidFill>
                <a:latin typeface="JetBrains Mono" pitchFamily="49" charset="0"/>
                <a:ea typeface="JetBrains Mono" pitchFamily="49" charset="-122"/>
                <a:cs typeface="JetBrains Mono" pitchFamily="49" charset="-120"/>
              </a:rPr>
              <a:t>// 2. reacción</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int x = Integer.parseInt(a.getText());</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int y = Integer.parseInt(b.getText());</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res.setText("" + (x + y));   </a:t>
            </a:r>
            <a:r>
              <a:rPr lang="en-US" sz="1200" dirty="0">
                <a:solidFill>
                  <a:srgbClr val="8FD3A8"/>
                </a:solidFill>
                <a:latin typeface="JetBrains Mono" pitchFamily="49" charset="0"/>
                <a:ea typeface="JetBrains Mono" pitchFamily="49" charset="-122"/>
                <a:cs typeface="JetBrains Mono" pitchFamily="49" charset="-120"/>
              </a:rPr>
              <a:t>// 3. lógica</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a:t>
            </a:r>
            <a:endParaRPr lang="en-US" sz="1200" dirty="0"/>
          </a:p>
        </p:txBody>
      </p:sp>
      <p:sp>
        <p:nvSpPr>
          <p:cNvPr id="5" name="Text 3"/>
          <p:cNvSpPr/>
          <p:nvPr/>
        </p:nvSpPr>
        <p:spPr>
          <a:xfrm>
            <a:off x="6705600" y="1879600"/>
            <a:ext cx="4813808"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A5C"/>
                </a:solidFill>
                <a:latin typeface="IBM Plex Sans" pitchFamily="34" charset="0"/>
                <a:ea typeface="IBM Plex Sans" pitchFamily="34" charset="-122"/>
                <a:cs typeface="IBM Plex Sans" pitchFamily="34" charset="-120"/>
              </a:rPr>
              <a:t>Las tres tareas están mezcladas en la misma clase. Consecuencias:</a:t>
            </a:r>
            <a:endParaRPr lang="en-US" sz="1600" dirty="0"/>
          </a:p>
        </p:txBody>
      </p:sp>
      <p:sp>
        <p:nvSpPr>
          <p:cNvPr id="6" name="Text 4"/>
          <p:cNvSpPr/>
          <p:nvPr/>
        </p:nvSpPr>
        <p:spPr>
          <a:xfrm>
            <a:off x="6705600" y="2600961"/>
            <a:ext cx="4673600" cy="772160"/>
          </a:xfrm>
          <a:prstGeom prst="roundRect">
            <a:avLst>
              <a:gd name="adj" fmla="val 6579"/>
            </a:avLst>
          </a:prstGeom>
          <a:solidFill>
            <a:srgbClr val="FFFFFF"/>
          </a:solidFill>
          <a:ln/>
        </p:spPr>
        <p:txBody>
          <a:bodyPr wrap="square" lIns="173081" tIns="86721" rIns="7524" bIns="61321" rtlCol="0" anchor="t">
            <a:normAutofit/>
          </a:bodyPr>
          <a:lstStyle/>
          <a:p>
            <a:pPr algn="l" indent="0" marL="0">
              <a:lnSpc>
                <a:spcPts val="2240"/>
              </a:lnSpc>
              <a:buNone/>
            </a:pPr>
            <a:r>
              <a:rPr lang="en-US" sz="1600" dirty="0">
                <a:solidFill>
                  <a:srgbClr val="172033"/>
                </a:solidFill>
                <a:latin typeface="IBM Plex Sans" pitchFamily="34" charset="0"/>
                <a:ea typeface="IBM Plex Sans" pitchFamily="34" charset="-122"/>
                <a:cs typeface="IBM Plex Sans" pitchFamily="34" charset="-120"/>
              </a:rPr>
              <a:t>No se puede probar la lógica sin abrir la ventana</a:t>
            </a:r>
            <a:endParaRPr lang="en-US" sz="1600" dirty="0"/>
          </a:p>
        </p:txBody>
      </p:sp>
      <p:sp>
        <p:nvSpPr>
          <p:cNvPr id="7" name="Shape 5"/>
          <p:cNvSpPr/>
          <p:nvPr/>
        </p:nvSpPr>
        <p:spPr>
          <a:xfrm>
            <a:off x="6705600" y="2600961"/>
            <a:ext cx="4673600" cy="772160"/>
          </a:xfrm>
          <a:custGeom>
            <a:avLst/>
            <a:gdLst/>
            <a:ahLst/>
            <a:cxnLst/>
            <a:rect l="l" t="t" r="r" b="b"/>
            <a:pathLst>
              <a:path w="4673600" h="772160">
                <a:moveTo>
                  <a:pt x="50800" y="772160"/>
                </a:moveTo>
                <a:lnTo>
                  <a:pt x="50800" y="772160"/>
                </a:lnTo>
                <a:arcTo hR="50800" wR="50800" stAng="5400000" swAng="5400000"/>
                <a:lnTo>
                  <a:pt x="0" y="50800"/>
                </a:lnTo>
                <a:arcTo hR="50800" wR="50800" stAng="10800000" swAng="5400000"/>
                <a:lnTo>
                  <a:pt x="50800" y="0"/>
                </a:lnTo>
                <a:arcTo hR="50800" wR="12700" stAng="16200000" swAng="-5400000"/>
                <a:lnTo>
                  <a:pt x="38100" y="721360"/>
                </a:lnTo>
                <a:arcTo hR="50800" wR="12700" stAng="10800000" swAng="-5400000"/>
                <a:close/>
              </a:path>
            </a:pathLst>
          </a:custGeom>
          <a:solidFill>
            <a:srgbClr val="A8322D"/>
          </a:solidFill>
          <a:ln/>
        </p:spPr>
      </p:sp>
      <p:sp>
        <p:nvSpPr>
          <p:cNvPr id="8" name="Text 6"/>
          <p:cNvSpPr/>
          <p:nvPr/>
        </p:nvSpPr>
        <p:spPr>
          <a:xfrm>
            <a:off x="6705600" y="3525520"/>
            <a:ext cx="4673600" cy="772160"/>
          </a:xfrm>
          <a:prstGeom prst="roundRect">
            <a:avLst>
              <a:gd name="adj" fmla="val 6579"/>
            </a:avLst>
          </a:prstGeom>
          <a:solidFill>
            <a:srgbClr val="FFFFFF"/>
          </a:solidFill>
          <a:ln/>
        </p:spPr>
        <p:txBody>
          <a:bodyPr wrap="square" lIns="173081" tIns="86721" rIns="7524" bIns="61321" rtlCol="0" anchor="t">
            <a:normAutofit/>
          </a:bodyPr>
          <a:lstStyle/>
          <a:p>
            <a:pPr algn="l" indent="0" marL="0">
              <a:lnSpc>
                <a:spcPts val="2240"/>
              </a:lnSpc>
              <a:buNone/>
            </a:pPr>
            <a:r>
              <a:rPr lang="en-US" sz="1600" dirty="0">
                <a:solidFill>
                  <a:srgbClr val="172033"/>
                </a:solidFill>
                <a:latin typeface="IBM Plex Sans" pitchFamily="34" charset="0"/>
                <a:ea typeface="IBM Plex Sans" pitchFamily="34" charset="-122"/>
                <a:cs typeface="IBM Plex Sans" pitchFamily="34" charset="-120"/>
              </a:rPr>
              <a:t>No se puede cambiar la ventana sin tocar la lógica</a:t>
            </a:r>
            <a:endParaRPr lang="en-US" sz="1600" dirty="0"/>
          </a:p>
        </p:txBody>
      </p:sp>
      <p:sp>
        <p:nvSpPr>
          <p:cNvPr id="9" name="Shape 7"/>
          <p:cNvSpPr/>
          <p:nvPr/>
        </p:nvSpPr>
        <p:spPr>
          <a:xfrm>
            <a:off x="6705600" y="3525520"/>
            <a:ext cx="4673600" cy="772160"/>
          </a:xfrm>
          <a:custGeom>
            <a:avLst/>
            <a:gdLst/>
            <a:ahLst/>
            <a:cxnLst/>
            <a:rect l="l" t="t" r="r" b="b"/>
            <a:pathLst>
              <a:path w="4673600" h="772160">
                <a:moveTo>
                  <a:pt x="50800" y="772160"/>
                </a:moveTo>
                <a:lnTo>
                  <a:pt x="50800" y="772160"/>
                </a:lnTo>
                <a:arcTo hR="50800" wR="50800" stAng="5400000" swAng="5400000"/>
                <a:lnTo>
                  <a:pt x="0" y="50800"/>
                </a:lnTo>
                <a:arcTo hR="50800" wR="50800" stAng="10800000" swAng="5400000"/>
                <a:lnTo>
                  <a:pt x="50800" y="0"/>
                </a:lnTo>
                <a:arcTo hR="50800" wR="12700" stAng="16200000" swAng="-5400000"/>
                <a:lnTo>
                  <a:pt x="38100" y="721360"/>
                </a:lnTo>
                <a:arcTo hR="50800" wR="12700" stAng="10800000" swAng="-5400000"/>
                <a:close/>
              </a:path>
            </a:pathLst>
          </a:custGeom>
          <a:solidFill>
            <a:srgbClr val="A8322D"/>
          </a:solidFill>
          <a:ln/>
        </p:spPr>
      </p:sp>
      <p:sp>
        <p:nvSpPr>
          <p:cNvPr id="10" name="Text 8"/>
          <p:cNvSpPr/>
          <p:nvPr/>
        </p:nvSpPr>
        <p:spPr>
          <a:xfrm>
            <a:off x="6705600" y="4450080"/>
            <a:ext cx="4673600" cy="487680"/>
          </a:xfrm>
          <a:prstGeom prst="roundRect">
            <a:avLst>
              <a:gd name="adj" fmla="val 10417"/>
            </a:avLst>
          </a:prstGeom>
          <a:solidFill>
            <a:srgbClr val="FFFFFF"/>
          </a:solidFill>
          <a:ln/>
        </p:spPr>
        <p:txBody>
          <a:bodyPr wrap="square" lIns="173081" tIns="86721" rIns="7524" bIns="61321" rtlCol="0" anchor="t">
            <a:normAutofit/>
          </a:bodyPr>
          <a:lstStyle/>
          <a:p>
            <a:pPr algn="l" indent="0" marL="0">
              <a:lnSpc>
                <a:spcPts val="2240"/>
              </a:lnSpc>
              <a:buNone/>
            </a:pPr>
            <a:r>
              <a:rPr lang="en-US" sz="1600" dirty="0">
                <a:solidFill>
                  <a:srgbClr val="172033"/>
                </a:solidFill>
                <a:latin typeface="IBM Plex Sans" pitchFamily="34" charset="0"/>
                <a:ea typeface="IBM Plex Sans" pitchFamily="34" charset="-122"/>
                <a:cs typeface="IBM Plex Sans" pitchFamily="34" charset="-120"/>
              </a:rPr>
              <a:t>Los datos viven dentro de los campos de texto</a:t>
            </a:r>
            <a:endParaRPr lang="en-US" sz="1600" dirty="0"/>
          </a:p>
        </p:txBody>
      </p:sp>
      <p:sp>
        <p:nvSpPr>
          <p:cNvPr id="11" name="Shape 9"/>
          <p:cNvSpPr/>
          <p:nvPr/>
        </p:nvSpPr>
        <p:spPr>
          <a:xfrm>
            <a:off x="6705600" y="4450080"/>
            <a:ext cx="4673600" cy="487680"/>
          </a:xfrm>
          <a:custGeom>
            <a:avLst/>
            <a:gdLst/>
            <a:ahLst/>
            <a:cxnLst/>
            <a:rect l="l" t="t" r="r" b="b"/>
            <a:pathLst>
              <a:path w="4673600" h="487680">
                <a:moveTo>
                  <a:pt x="50800" y="487680"/>
                </a:moveTo>
                <a:lnTo>
                  <a:pt x="50800" y="487680"/>
                </a:lnTo>
                <a:arcTo hR="50800" wR="50800" stAng="5400000" swAng="5400000"/>
                <a:lnTo>
                  <a:pt x="0" y="50800"/>
                </a:lnTo>
                <a:arcTo hR="50800" wR="50800" stAng="10800000" swAng="5400000"/>
                <a:lnTo>
                  <a:pt x="50800" y="0"/>
                </a:lnTo>
                <a:arcTo hR="50800" wR="12700" stAng="16200000" swAng="-5400000"/>
                <a:lnTo>
                  <a:pt x="38100" y="436880"/>
                </a:lnTo>
                <a:arcTo hR="50800" wR="12700" stAng="10800000" swAng="-5400000"/>
                <a:close/>
              </a:path>
            </a:pathLst>
          </a:custGeom>
          <a:solidFill>
            <a:srgbClr val="A8322D"/>
          </a:solidFill>
          <a:ln/>
        </p:spPr>
      </p:sp>
      <p:sp>
        <p:nvSpPr>
          <p:cNvPr id="12" name="Text 10"/>
          <p:cNvSpPr/>
          <p:nvPr/>
        </p:nvSpPr>
        <p:spPr>
          <a:xfrm>
            <a:off x="6705600" y="5090161"/>
            <a:ext cx="4673600" cy="487680"/>
          </a:xfrm>
          <a:prstGeom prst="roundRect">
            <a:avLst>
              <a:gd name="adj" fmla="val 10417"/>
            </a:avLst>
          </a:prstGeom>
          <a:solidFill>
            <a:srgbClr val="FFFFFF"/>
          </a:solidFill>
          <a:ln/>
        </p:spPr>
        <p:txBody>
          <a:bodyPr wrap="square" lIns="173081" tIns="86721" rIns="7524" bIns="61321" rtlCol="0" anchor="t">
            <a:normAutofit/>
          </a:bodyPr>
          <a:lstStyle/>
          <a:p>
            <a:pPr algn="l" indent="0" marL="0">
              <a:lnSpc>
                <a:spcPts val="2240"/>
              </a:lnSpc>
              <a:buNone/>
            </a:pPr>
            <a:r>
              <a:rPr lang="en-US" sz="1600" dirty="0">
                <a:solidFill>
                  <a:srgbClr val="172033"/>
                </a:solidFill>
                <a:latin typeface="IBM Plex Sans" pitchFamily="34" charset="0"/>
                <a:ea typeface="IBM Plex Sans" pitchFamily="34" charset="-122"/>
                <a:cs typeface="IBM Plex Sans" pitchFamily="34" charset="-120"/>
              </a:rPr>
              <a:t>Cualquier cambio toca la misma clase</a:t>
            </a:r>
            <a:endParaRPr lang="en-US" sz="1600" dirty="0"/>
          </a:p>
        </p:txBody>
      </p:sp>
      <p:sp>
        <p:nvSpPr>
          <p:cNvPr id="13" name="Shape 11"/>
          <p:cNvSpPr/>
          <p:nvPr/>
        </p:nvSpPr>
        <p:spPr>
          <a:xfrm>
            <a:off x="6705600" y="5090161"/>
            <a:ext cx="4673600" cy="487680"/>
          </a:xfrm>
          <a:custGeom>
            <a:avLst/>
            <a:gdLst/>
            <a:ahLst/>
            <a:cxnLst/>
            <a:rect l="l" t="t" r="r" b="b"/>
            <a:pathLst>
              <a:path w="4673600" h="487680">
                <a:moveTo>
                  <a:pt x="50800" y="487680"/>
                </a:moveTo>
                <a:lnTo>
                  <a:pt x="50800" y="487680"/>
                </a:lnTo>
                <a:arcTo hR="50800" wR="50800" stAng="5400000" swAng="5400000"/>
                <a:lnTo>
                  <a:pt x="0" y="50800"/>
                </a:lnTo>
                <a:arcTo hR="50800" wR="50800" stAng="10800000" swAng="5400000"/>
                <a:lnTo>
                  <a:pt x="50800" y="0"/>
                </a:lnTo>
                <a:arcTo hR="50800" wR="12700" stAng="16200000" swAng="-5400000"/>
                <a:lnTo>
                  <a:pt x="38100" y="436880"/>
                </a:lnTo>
                <a:arcTo hR="50800" wR="12700" stAng="10800000" swAng="-5400000"/>
                <a:close/>
              </a:path>
            </a:pathLst>
          </a:custGeom>
          <a:solidFill>
            <a:srgbClr val="A8322D"/>
          </a:solidFill>
          <a:ln/>
        </p:spPr>
      </p:sp>
      <p:sp>
        <p:nvSpPr>
          <p:cNvPr id="14" name="Text 12"/>
          <p:cNvSpPr/>
          <p:nvPr/>
        </p:nvSpPr>
        <p:spPr>
          <a:xfrm>
            <a:off x="812800" y="62382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El patrón MVC en JavaFX · Desarrollo de Interfaces · 2º DAM</a:t>
            </a:r>
            <a:endParaRPr lang="en-US" sz="1200" dirty="0"/>
          </a:p>
        </p:txBody>
      </p:sp>
      <p:sp>
        <p:nvSpPr>
          <p:cNvPr id="15" name="Text 13"/>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3 / 22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6A80"/>
                </a:solidFill>
                <a:latin typeface="IBM Plex Sans" pitchFamily="34" charset="0"/>
                <a:ea typeface="IBM Plex Sans" pitchFamily="34" charset="-122"/>
                <a:cs typeface="IBM Plex Sans" pitchFamily="34" charset="-120"/>
              </a:rPr>
              <a:t>PARTE 1 · QUÉ ES EL MVC</a:t>
            </a:r>
            <a:endParaRPr lang="en-US" sz="1200" dirty="0"/>
          </a:p>
        </p:txBody>
      </p:sp>
      <p:sp>
        <p:nvSpPr>
          <p:cNvPr id="3" name="Text 1"/>
          <p:cNvSpPr/>
          <p:nvPr>
            <p:ph type="title"/>
          </p:nvPr>
        </p:nvSpPr>
        <p:spPr>
          <a:xfrm>
            <a:off x="812800" y="1229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33"/>
                </a:solidFill>
                <a:latin typeface="IBM Plex Sans" pitchFamily="34" charset="0"/>
                <a:ea typeface="IBM Plex Sans" pitchFamily="34" charset="-122"/>
                <a:cs typeface="IBM Plex Sans" pitchFamily="34" charset="-120"/>
              </a:rPr>
              <a:t>¿Qué es el Modelo-Vista-Controlador?</a:t>
            </a:r>
            <a:endParaRPr lang="en-US" sz="3200" dirty="0"/>
          </a:p>
        </p:txBody>
      </p:sp>
      <p:sp>
        <p:nvSpPr>
          <p:cNvPr id="4" name="Text 2"/>
          <p:cNvSpPr/>
          <p:nvPr/>
        </p:nvSpPr>
        <p:spPr>
          <a:xfrm>
            <a:off x="812800" y="18796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A5C"/>
                </a:solidFill>
                <a:latin typeface="IBM Plex Sans" pitchFamily="34" charset="0"/>
                <a:ea typeface="IBM Plex Sans" pitchFamily="34" charset="-122"/>
                <a:cs typeface="IBM Plex Sans" pitchFamily="34" charset="-120"/>
              </a:rPr>
              <a:t>Un </a:t>
            </a:r>
            <a:r>
              <a:rPr lang="en-US" sz="1600" b="1" dirty="0">
                <a:solidFill>
                  <a:srgbClr val="3E4A5C"/>
                </a:solidFill>
                <a:latin typeface="IBM Plex Sans" pitchFamily="34" charset="0"/>
                <a:ea typeface="IBM Plex Sans" pitchFamily="34" charset="-122"/>
                <a:cs typeface="IBM Plex Sans" pitchFamily="34" charset="-120"/>
              </a:rPr>
              <a:t>patrón de arquitectura</a:t>
            </a:r>
            <a:r>
              <a:rPr lang="en-US" sz="1600" dirty="0">
                <a:solidFill>
                  <a:srgbClr val="3E4A5C"/>
                </a:solidFill>
                <a:latin typeface="IBM Plex Sans" pitchFamily="34" charset="0"/>
                <a:ea typeface="IBM Plex Sans" pitchFamily="34" charset="-122"/>
                <a:cs typeface="IBM Plex Sans" pitchFamily="34" charset="-120"/>
              </a:rPr>
              <a:t>: separa la aplicación en tres partes, cada una con una sola responsabilidad.</a:t>
            </a:r>
            <a:endParaRPr lang="en-US" sz="1600" dirty="0"/>
          </a:p>
        </p:txBody>
      </p:sp>
      <p:sp>
        <p:nvSpPr>
          <p:cNvPr id="5" name="Shape 3"/>
          <p:cNvSpPr/>
          <p:nvPr/>
        </p:nvSpPr>
        <p:spPr>
          <a:xfrm>
            <a:off x="812800" y="2367280"/>
            <a:ext cx="3386614" cy="2453640"/>
          </a:xfrm>
          <a:prstGeom prst="roundRect">
            <a:avLst>
              <a:gd name="adj" fmla="val 4141"/>
            </a:avLst>
          </a:prstGeom>
          <a:solidFill>
            <a:srgbClr val="E6F2EA"/>
          </a:solidFill>
          <a:ln/>
        </p:spPr>
      </p:sp>
      <p:sp>
        <p:nvSpPr>
          <p:cNvPr id="6" name="Shape 4"/>
          <p:cNvSpPr/>
          <p:nvPr/>
        </p:nvSpPr>
        <p:spPr>
          <a:xfrm>
            <a:off x="812800" y="2367280"/>
            <a:ext cx="3386614" cy="2453640"/>
          </a:xfrm>
          <a:custGeom>
            <a:avLst/>
            <a:gdLst/>
            <a:ahLst/>
            <a:cxnLst/>
            <a:rect l="l" t="t" r="r" b="b"/>
            <a:pathLst>
              <a:path w="3386614" h="2453640">
                <a:moveTo>
                  <a:pt x="0" y="101600"/>
                </a:moveTo>
                <a:lnTo>
                  <a:pt x="0" y="101600"/>
                </a:lnTo>
                <a:arcTo hR="101600" wR="101600" stAng="10800000" swAng="5400000"/>
                <a:lnTo>
                  <a:pt x="3285014" y="0"/>
                </a:lnTo>
                <a:arcTo hR="101600" wR="101600" stAng="16200000" swAng="5400000"/>
                <a:lnTo>
                  <a:pt x="3386614" y="101600"/>
                </a:lnTo>
                <a:arcTo hR="50800" wR="101600" stAng="0" swAng="-5400000"/>
                <a:lnTo>
                  <a:pt x="101600" y="50800"/>
                </a:lnTo>
                <a:arcTo hR="50800" wR="101600" stAng="16200000" swAng="-5400000"/>
                <a:close/>
              </a:path>
            </a:pathLst>
          </a:custGeom>
          <a:solidFill>
            <a:srgbClr val="2F7D4F"/>
          </a:solidFill>
          <a:ln/>
        </p:spPr>
      </p:sp>
      <p:pic>
        <p:nvPicPr>
          <p:cNvPr id="7" name="Image 0" descr="Database">    </p:cNvPr>
          <p:cNvPicPr>
            <a:picLocks noChangeAspect="1"/>
          </p:cNvPicPr>
          <p:nvPr/>
        </p:nvPicPr>
        <p:blipFill>
          <a:blip r:embed="rId1"/>
          <a:srcRect l="0" r="0" t="0" b="0"/>
          <a:stretch/>
        </p:blipFill>
        <p:spPr>
          <a:xfrm>
            <a:off x="1066800" y="2672080"/>
            <a:ext cx="355600" cy="355600"/>
          </a:xfrm>
          <a:prstGeom prst="rect">
            <a:avLst/>
          </a:prstGeom>
        </p:spPr>
      </p:pic>
      <p:sp>
        <p:nvSpPr>
          <p:cNvPr id="8" name="Text 5"/>
          <p:cNvSpPr/>
          <p:nvPr/>
        </p:nvSpPr>
        <p:spPr>
          <a:xfrm>
            <a:off x="1066800" y="3154680"/>
            <a:ext cx="296497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3633E"/>
                </a:solidFill>
                <a:latin typeface="IBM Plex Sans" pitchFamily="34" charset="0"/>
                <a:ea typeface="IBM Plex Sans" pitchFamily="34" charset="-122"/>
                <a:cs typeface="IBM Plex Sans" pitchFamily="34" charset="-120"/>
              </a:rPr>
              <a:t>Modelo</a:t>
            </a:r>
            <a:endParaRPr lang="en-US" sz="2000" dirty="0"/>
          </a:p>
        </p:txBody>
      </p:sp>
      <p:sp>
        <p:nvSpPr>
          <p:cNvPr id="9" name="Text 6"/>
          <p:cNvSpPr/>
          <p:nvPr/>
        </p:nvSpPr>
        <p:spPr>
          <a:xfrm>
            <a:off x="1066800" y="3586480"/>
            <a:ext cx="296497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033"/>
                </a:solidFill>
                <a:latin typeface="IBM Plex Sans" pitchFamily="34" charset="0"/>
                <a:ea typeface="IBM Plex Sans" pitchFamily="34" charset="-122"/>
                <a:cs typeface="IBM Plex Sans" pitchFamily="34" charset="-120"/>
              </a:rPr>
              <a:t>Los datos y las reglas.</a:t>
            </a:r>
            <a:endParaRPr lang="en-US" sz="1600" dirty="0"/>
          </a:p>
        </p:txBody>
      </p:sp>
      <p:sp>
        <p:nvSpPr>
          <p:cNvPr id="10" name="Text 7"/>
          <p:cNvSpPr/>
          <p:nvPr/>
        </p:nvSpPr>
        <p:spPr>
          <a:xfrm>
            <a:off x="1066800" y="3997961"/>
            <a:ext cx="2964972" cy="594360"/>
          </a:xfrm>
          <a:prstGeom prst="rect">
            <a:avLst/>
          </a:prstGeom>
          <a:noFill/>
          <a:ln/>
        </p:spPr>
        <p:txBody>
          <a:bodyPr wrap="square" lIns="0" tIns="0" rIns="0" bIns="0" rtlCol="0" anchor="t">
            <a:normAutofit/>
          </a:bodyPr>
          <a:lstStyle/>
          <a:p>
            <a:pPr algn="l" indent="0" marL="0">
              <a:lnSpc>
                <a:spcPts val="2240"/>
              </a:lnSpc>
              <a:buNone/>
            </a:pPr>
            <a:r>
              <a:rPr lang="en-US" sz="1600" i="1" dirty="0">
                <a:solidFill>
                  <a:srgbClr val="3E4A5C"/>
                </a:solidFill>
                <a:latin typeface="IBM Plex Sans" pitchFamily="34" charset="0"/>
                <a:ea typeface="IBM Plex Sans" pitchFamily="34" charset="-122"/>
                <a:cs typeface="IBM Plex Sans" pitchFamily="34" charset="-120"/>
              </a:rPr>
              <a:t>¿Qué información hay y qué reglas se cumplen?</a:t>
            </a:r>
            <a:endParaRPr lang="en-US" sz="1600" dirty="0"/>
          </a:p>
        </p:txBody>
      </p:sp>
      <p:sp>
        <p:nvSpPr>
          <p:cNvPr id="11" name="Shape 8"/>
          <p:cNvSpPr/>
          <p:nvPr/>
        </p:nvSpPr>
        <p:spPr>
          <a:xfrm>
            <a:off x="4402614" y="2367280"/>
            <a:ext cx="3386693" cy="2453640"/>
          </a:xfrm>
          <a:prstGeom prst="roundRect">
            <a:avLst>
              <a:gd name="adj" fmla="val 4141"/>
            </a:avLst>
          </a:prstGeom>
          <a:solidFill>
            <a:srgbClr val="E5EDF8"/>
          </a:solidFill>
          <a:ln/>
        </p:spPr>
      </p:sp>
      <p:sp>
        <p:nvSpPr>
          <p:cNvPr id="12" name="Shape 9"/>
          <p:cNvSpPr/>
          <p:nvPr/>
        </p:nvSpPr>
        <p:spPr>
          <a:xfrm>
            <a:off x="4402614" y="2367280"/>
            <a:ext cx="3386693" cy="2453640"/>
          </a:xfrm>
          <a:custGeom>
            <a:avLst/>
            <a:gdLst/>
            <a:ahLst/>
            <a:cxnLst/>
            <a:rect l="l" t="t" r="r" b="b"/>
            <a:pathLst>
              <a:path w="3386693" h="2453640">
                <a:moveTo>
                  <a:pt x="0" y="101600"/>
                </a:moveTo>
                <a:lnTo>
                  <a:pt x="0" y="101600"/>
                </a:lnTo>
                <a:arcTo hR="101600" wR="101600" stAng="10800000" swAng="5400000"/>
                <a:lnTo>
                  <a:pt x="3285093" y="0"/>
                </a:lnTo>
                <a:arcTo hR="101600" wR="101600" stAng="16200000" swAng="5400000"/>
                <a:lnTo>
                  <a:pt x="3386693" y="101600"/>
                </a:lnTo>
                <a:arcTo hR="50800" wR="101600" stAng="0" swAng="-5400000"/>
                <a:lnTo>
                  <a:pt x="101600" y="50800"/>
                </a:lnTo>
                <a:arcTo hR="50800" wR="101600" stAng="16200000" swAng="-5400000"/>
                <a:close/>
              </a:path>
            </a:pathLst>
          </a:custGeom>
          <a:solidFill>
            <a:srgbClr val="2A5EA8"/>
          </a:solidFill>
          <a:ln/>
        </p:spPr>
      </p:sp>
      <p:pic>
        <p:nvPicPr>
          <p:cNvPr id="13" name="Image 1" descr="Users">    </p:cNvPr>
          <p:cNvPicPr>
            <a:picLocks noChangeAspect="1"/>
          </p:cNvPicPr>
          <p:nvPr/>
        </p:nvPicPr>
        <p:blipFill>
          <a:blip r:embed="rId2"/>
          <a:srcRect l="0" r="0" t="0" b="0"/>
          <a:stretch/>
        </p:blipFill>
        <p:spPr>
          <a:xfrm>
            <a:off x="4656614" y="2672080"/>
            <a:ext cx="355600" cy="355600"/>
          </a:xfrm>
          <a:prstGeom prst="rect">
            <a:avLst/>
          </a:prstGeom>
        </p:spPr>
      </p:pic>
      <p:sp>
        <p:nvSpPr>
          <p:cNvPr id="14" name="Text 10"/>
          <p:cNvSpPr/>
          <p:nvPr/>
        </p:nvSpPr>
        <p:spPr>
          <a:xfrm>
            <a:off x="4656614" y="3154680"/>
            <a:ext cx="296505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4E91"/>
                </a:solidFill>
                <a:latin typeface="IBM Plex Sans" pitchFamily="34" charset="0"/>
                <a:ea typeface="IBM Plex Sans" pitchFamily="34" charset="-122"/>
                <a:cs typeface="IBM Plex Sans" pitchFamily="34" charset="-120"/>
              </a:rPr>
              <a:t>Vista</a:t>
            </a:r>
            <a:endParaRPr lang="en-US" sz="2000" dirty="0"/>
          </a:p>
        </p:txBody>
      </p:sp>
      <p:sp>
        <p:nvSpPr>
          <p:cNvPr id="15" name="Text 11"/>
          <p:cNvSpPr/>
          <p:nvPr/>
        </p:nvSpPr>
        <p:spPr>
          <a:xfrm>
            <a:off x="4656614" y="3586480"/>
            <a:ext cx="2965054"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033"/>
                </a:solidFill>
                <a:latin typeface="IBM Plex Sans" pitchFamily="34" charset="0"/>
                <a:ea typeface="IBM Plex Sans" pitchFamily="34" charset="-122"/>
                <a:cs typeface="IBM Plex Sans" pitchFamily="34" charset="-120"/>
              </a:rPr>
              <a:t>Lo que ve y toca el usuario.</a:t>
            </a:r>
            <a:endParaRPr lang="en-US" sz="1600" dirty="0"/>
          </a:p>
        </p:txBody>
      </p:sp>
      <p:sp>
        <p:nvSpPr>
          <p:cNvPr id="16" name="Text 12"/>
          <p:cNvSpPr/>
          <p:nvPr/>
        </p:nvSpPr>
        <p:spPr>
          <a:xfrm>
            <a:off x="4656614" y="3997961"/>
            <a:ext cx="2965054" cy="309880"/>
          </a:xfrm>
          <a:prstGeom prst="rect">
            <a:avLst/>
          </a:prstGeom>
          <a:noFill/>
          <a:ln/>
        </p:spPr>
        <p:txBody>
          <a:bodyPr wrap="square" lIns="0" tIns="0" rIns="0" bIns="0" rtlCol="0" anchor="t">
            <a:normAutofit/>
          </a:bodyPr>
          <a:lstStyle/>
          <a:p>
            <a:pPr algn="l" indent="0" marL="0">
              <a:lnSpc>
                <a:spcPts val="2240"/>
              </a:lnSpc>
              <a:buNone/>
            </a:pPr>
            <a:r>
              <a:rPr lang="en-US" sz="1600" i="1" dirty="0">
                <a:solidFill>
                  <a:srgbClr val="3E4A5C"/>
                </a:solidFill>
                <a:latin typeface="IBM Plex Sans" pitchFamily="34" charset="0"/>
                <a:ea typeface="IBM Plex Sans" pitchFamily="34" charset="-122"/>
                <a:cs typeface="IBM Plex Sans" pitchFamily="34" charset="-120"/>
              </a:rPr>
              <a:t>¿Cómo se muestran los datos?</a:t>
            </a:r>
            <a:endParaRPr lang="en-US" sz="1600" dirty="0"/>
          </a:p>
        </p:txBody>
      </p:sp>
      <p:sp>
        <p:nvSpPr>
          <p:cNvPr id="17" name="Shape 13"/>
          <p:cNvSpPr/>
          <p:nvPr/>
        </p:nvSpPr>
        <p:spPr>
          <a:xfrm>
            <a:off x="7992507" y="2367280"/>
            <a:ext cx="3386693" cy="2453640"/>
          </a:xfrm>
          <a:prstGeom prst="roundRect">
            <a:avLst>
              <a:gd name="adj" fmla="val 4141"/>
            </a:avLst>
          </a:prstGeom>
          <a:solidFill>
            <a:srgbClr val="FAEEDF"/>
          </a:solidFill>
          <a:ln/>
        </p:spPr>
      </p:sp>
      <p:sp>
        <p:nvSpPr>
          <p:cNvPr id="18" name="Shape 14"/>
          <p:cNvSpPr/>
          <p:nvPr/>
        </p:nvSpPr>
        <p:spPr>
          <a:xfrm>
            <a:off x="7992507" y="2367280"/>
            <a:ext cx="3386693" cy="2453640"/>
          </a:xfrm>
          <a:custGeom>
            <a:avLst/>
            <a:gdLst/>
            <a:ahLst/>
            <a:cxnLst/>
            <a:rect l="l" t="t" r="r" b="b"/>
            <a:pathLst>
              <a:path w="3386693" h="2453640">
                <a:moveTo>
                  <a:pt x="0" y="101600"/>
                </a:moveTo>
                <a:lnTo>
                  <a:pt x="0" y="101600"/>
                </a:lnTo>
                <a:arcTo hR="101600" wR="101600" stAng="10800000" swAng="5400000"/>
                <a:lnTo>
                  <a:pt x="3285093" y="0"/>
                </a:lnTo>
                <a:arcTo hR="101600" wR="101600" stAng="16200000" swAng="5400000"/>
                <a:lnTo>
                  <a:pt x="3386693" y="101600"/>
                </a:lnTo>
                <a:arcTo hR="50800" wR="101600" stAng="0" swAng="-5400000"/>
                <a:lnTo>
                  <a:pt x="101600" y="50800"/>
                </a:lnTo>
                <a:arcTo hR="50800" wR="101600" stAng="16200000" swAng="-5400000"/>
                <a:close/>
              </a:path>
            </a:pathLst>
          </a:custGeom>
          <a:solidFill>
            <a:srgbClr val="B0601A"/>
          </a:solidFill>
          <a:ln/>
        </p:spPr>
      </p:sp>
      <p:pic>
        <p:nvPicPr>
          <p:cNvPr id="19" name="Image 2" descr="Settings">    </p:cNvPr>
          <p:cNvPicPr>
            <a:picLocks noChangeAspect="1"/>
          </p:cNvPicPr>
          <p:nvPr/>
        </p:nvPicPr>
        <p:blipFill>
          <a:blip r:embed="rId3"/>
          <a:srcRect l="0" r="0" t="0" b="0"/>
          <a:stretch/>
        </p:blipFill>
        <p:spPr>
          <a:xfrm>
            <a:off x="8246507" y="2672080"/>
            <a:ext cx="355600" cy="355600"/>
          </a:xfrm>
          <a:prstGeom prst="rect">
            <a:avLst/>
          </a:prstGeom>
        </p:spPr>
      </p:pic>
      <p:sp>
        <p:nvSpPr>
          <p:cNvPr id="20" name="Text 15"/>
          <p:cNvSpPr/>
          <p:nvPr/>
        </p:nvSpPr>
        <p:spPr>
          <a:xfrm>
            <a:off x="8246507" y="3154680"/>
            <a:ext cx="296505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8F4C12"/>
                </a:solidFill>
                <a:latin typeface="IBM Plex Sans" pitchFamily="34" charset="0"/>
                <a:ea typeface="IBM Plex Sans" pitchFamily="34" charset="-122"/>
                <a:cs typeface="IBM Plex Sans" pitchFamily="34" charset="-120"/>
              </a:rPr>
              <a:t>Controlador</a:t>
            </a:r>
            <a:endParaRPr lang="en-US" sz="2000" dirty="0"/>
          </a:p>
        </p:txBody>
      </p:sp>
      <p:sp>
        <p:nvSpPr>
          <p:cNvPr id="21" name="Text 16"/>
          <p:cNvSpPr/>
          <p:nvPr/>
        </p:nvSpPr>
        <p:spPr>
          <a:xfrm>
            <a:off x="8246507" y="3586480"/>
            <a:ext cx="2965054"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033"/>
                </a:solidFill>
                <a:latin typeface="IBM Plex Sans" pitchFamily="34" charset="0"/>
                <a:ea typeface="IBM Plex Sans" pitchFamily="34" charset="-122"/>
                <a:cs typeface="IBM Plex Sans" pitchFamily="34" charset="-120"/>
              </a:rPr>
              <a:t>El intermediario entre ambos.</a:t>
            </a:r>
            <a:endParaRPr lang="en-US" sz="1600" dirty="0"/>
          </a:p>
        </p:txBody>
      </p:sp>
      <p:sp>
        <p:nvSpPr>
          <p:cNvPr id="22" name="Text 17"/>
          <p:cNvSpPr/>
          <p:nvPr/>
        </p:nvSpPr>
        <p:spPr>
          <a:xfrm>
            <a:off x="8246507" y="3997961"/>
            <a:ext cx="2965054" cy="594360"/>
          </a:xfrm>
          <a:prstGeom prst="rect">
            <a:avLst/>
          </a:prstGeom>
          <a:noFill/>
          <a:ln/>
        </p:spPr>
        <p:txBody>
          <a:bodyPr wrap="square" lIns="0" tIns="0" rIns="0" bIns="0" rtlCol="0" anchor="t">
            <a:normAutofit/>
          </a:bodyPr>
          <a:lstStyle/>
          <a:p>
            <a:pPr algn="l" indent="0" marL="0">
              <a:lnSpc>
                <a:spcPts val="2240"/>
              </a:lnSpc>
              <a:buNone/>
            </a:pPr>
            <a:r>
              <a:rPr lang="en-US" sz="1600" i="1" dirty="0">
                <a:solidFill>
                  <a:srgbClr val="3E4A5C"/>
                </a:solidFill>
                <a:latin typeface="IBM Plex Sans" pitchFamily="34" charset="0"/>
                <a:ea typeface="IBM Plex Sans" pitchFamily="34" charset="-122"/>
                <a:cs typeface="IBM Plex Sans" pitchFamily="34" charset="-120"/>
              </a:rPr>
              <a:t>¿Qué pasa cuando el usuario actúa?</a:t>
            </a:r>
            <a:endParaRPr lang="en-US" sz="1600" dirty="0"/>
          </a:p>
        </p:txBody>
      </p:sp>
      <p:sp>
        <p:nvSpPr>
          <p:cNvPr id="23" name="Text 18"/>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El patrón MVC en JavaFX · Desarrollo de Interfaces · 2º DAM</a:t>
            </a:r>
            <a:endParaRPr lang="en-US" sz="1200" dirty="0"/>
          </a:p>
        </p:txBody>
      </p:sp>
      <p:sp>
        <p:nvSpPr>
          <p:cNvPr id="24" name="Text 19"/>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4 / 22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6A80"/>
                </a:solidFill>
                <a:latin typeface="IBM Plex Sans" pitchFamily="34" charset="0"/>
                <a:ea typeface="IBM Plex Sans" pitchFamily="34" charset="-122"/>
                <a:cs typeface="IBM Plex Sans" pitchFamily="34" charset="-120"/>
              </a:rPr>
              <a:t>PARTE 1 · QUÉ ES EL MVC</a:t>
            </a:r>
            <a:endParaRPr lang="en-US" sz="1200" dirty="0"/>
          </a:p>
        </p:txBody>
      </p:sp>
      <p:sp>
        <p:nvSpPr>
          <p:cNvPr id="3" name="Text 1"/>
          <p:cNvSpPr/>
          <p:nvPr>
            <p:ph type="title"/>
          </p:nvPr>
        </p:nvSpPr>
        <p:spPr>
          <a:xfrm>
            <a:off x="812800" y="1229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33"/>
                </a:solidFill>
                <a:latin typeface="IBM Plex Sans" pitchFamily="34" charset="0"/>
                <a:ea typeface="IBM Plex Sans" pitchFamily="34" charset="-122"/>
                <a:cs typeface="IBM Plex Sans" pitchFamily="34" charset="-120"/>
              </a:rPr>
              <a:t>Qué hace y qué no hace cada parte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89760"/>
          <a:ext cx="10556240" cy="2533650"/>
        </p:xfrm>
        <a:graphic>
          <a:graphicData uri="http://schemas.openxmlformats.org/drawingml/2006/table">
            <a:tbl>
              <a:tblPr/>
              <a:tblGrid>
                <a:gridCol w="1688998"/>
                <a:gridCol w="3166872"/>
                <a:gridCol w="2850185"/>
                <a:gridCol w="2850185"/>
              </a:tblGrid>
              <a:tr h="453390">
                <a:tc>
                  <a:txBody>
                    <a:bodyPr/>
                    <a:lstStyle/>
                    <a:p>
                      <a:pPr indent="0" marL="0">
                        <a:lnSpc>
                          <a:spcPts val="1960"/>
                        </a:lnSpc>
                        <a:buNone/>
                      </a:pPr>
                      <a:r>
                        <a:rPr lang="en-US" sz="1400" b="1" dirty="0">
                          <a:solidFill>
                            <a:srgbClr val="F7F6F2"/>
                          </a:solidFill>
                          <a:latin typeface="IBM Plex Sans" pitchFamily="34" charset="0"/>
                          <a:ea typeface="IBM Plex Sans" pitchFamily="34" charset="-122"/>
                          <a:cs typeface="IBM Plex Sans" pitchFamily="34" charset="-120"/>
                        </a:rPr>
                        <a:t>Parte</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C5C4C1"/>
                      </a:solidFill>
                      <a:prstDash val="solid"/>
                      <a:round/>
                      <a:headEnd type="none" w="med" len="med"/>
                      <a:tailEnd type="none" w="med" len="med"/>
                    </a:lnL>
                    <a:lnR w="12700" cap="flat" cmpd="sng" algn="ctr">
                      <a:solidFill>
                        <a:srgbClr val="161D2C"/>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61D2C"/>
                      </a:solidFill>
                      <a:prstDash val="solid"/>
                      <a:round/>
                      <a:headEnd type="none" w="med" len="med"/>
                      <a:tailEnd type="none" w="med" len="med"/>
                    </a:lnB>
                    <a:solidFill>
                      <a:srgbClr val="172033"/>
                    </a:solidFill>
                  </a:tcPr>
                </a:tc>
                <a:tc>
                  <a:txBody>
                    <a:bodyPr/>
                    <a:lstStyle/>
                    <a:p>
                      <a:pPr indent="0" marL="0">
                        <a:lnSpc>
                          <a:spcPts val="1960"/>
                        </a:lnSpc>
                        <a:buNone/>
                      </a:pPr>
                      <a:r>
                        <a:rPr lang="en-US" sz="1400" b="1" dirty="0">
                          <a:solidFill>
                            <a:srgbClr val="F7F6F2"/>
                          </a:solidFill>
                          <a:latin typeface="IBM Plex Sans" pitchFamily="34" charset="0"/>
                          <a:ea typeface="IBM Plex Sans" pitchFamily="34" charset="-122"/>
                          <a:cs typeface="IBM Plex Sans" pitchFamily="34" charset="-120"/>
                        </a:rPr>
                        <a:t>Qué hace</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161D2C"/>
                      </a:solidFill>
                      <a:prstDash val="solid"/>
                      <a:round/>
                      <a:headEnd type="none" w="med" len="med"/>
                      <a:tailEnd type="none" w="med" len="med"/>
                    </a:lnL>
                    <a:lnR w="12700" cap="flat" cmpd="sng" algn="ctr">
                      <a:solidFill>
                        <a:srgbClr val="161D2C"/>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61D2C"/>
                      </a:solidFill>
                      <a:prstDash val="solid"/>
                      <a:round/>
                      <a:headEnd type="none" w="med" len="med"/>
                      <a:tailEnd type="none" w="med" len="med"/>
                    </a:lnB>
                    <a:solidFill>
                      <a:srgbClr val="172033"/>
                    </a:solidFill>
                  </a:tcPr>
                </a:tc>
                <a:tc>
                  <a:txBody>
                    <a:bodyPr/>
                    <a:lstStyle/>
                    <a:p>
                      <a:pPr indent="0" marL="0">
                        <a:lnSpc>
                          <a:spcPts val="1960"/>
                        </a:lnSpc>
                        <a:buNone/>
                      </a:pPr>
                      <a:r>
                        <a:rPr lang="en-US" sz="1400" b="1" dirty="0">
                          <a:solidFill>
                            <a:srgbClr val="F7F6F2"/>
                          </a:solidFill>
                          <a:latin typeface="IBM Plex Sans" pitchFamily="34" charset="0"/>
                          <a:ea typeface="IBM Plex Sans" pitchFamily="34" charset="-122"/>
                          <a:cs typeface="IBM Plex Sans" pitchFamily="34" charset="-120"/>
                        </a:rPr>
                        <a:t>Qué NO hace</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161D2C"/>
                      </a:solidFill>
                      <a:prstDash val="solid"/>
                      <a:round/>
                      <a:headEnd type="none" w="med" len="med"/>
                      <a:tailEnd type="none" w="med" len="med"/>
                    </a:lnL>
                    <a:lnR w="12700" cap="flat" cmpd="sng" algn="ctr">
                      <a:solidFill>
                        <a:srgbClr val="161D2C"/>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61D2C"/>
                      </a:solidFill>
                      <a:prstDash val="solid"/>
                      <a:round/>
                      <a:headEnd type="none" w="med" len="med"/>
                      <a:tailEnd type="none" w="med" len="med"/>
                    </a:lnB>
                    <a:solidFill>
                      <a:srgbClr val="172033"/>
                    </a:solidFill>
                  </a:tcPr>
                </a:tc>
                <a:tc>
                  <a:txBody>
                    <a:bodyPr/>
                    <a:lstStyle/>
                    <a:p>
                      <a:pPr indent="0" marL="0">
                        <a:lnSpc>
                          <a:spcPts val="1960"/>
                        </a:lnSpc>
                        <a:buNone/>
                      </a:pPr>
                      <a:r>
                        <a:rPr lang="en-US" sz="1400" b="1" dirty="0">
                          <a:solidFill>
                            <a:srgbClr val="F7F6F2"/>
                          </a:solidFill>
                          <a:latin typeface="IBM Plex Sans" pitchFamily="34" charset="0"/>
                          <a:ea typeface="IBM Plex Sans" pitchFamily="34" charset="-122"/>
                          <a:cs typeface="IBM Plex Sans" pitchFamily="34" charset="-120"/>
                        </a:rPr>
                        <a:t>En JavaFX</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161D2C"/>
                      </a:solidFill>
                      <a:prstDash val="solid"/>
                      <a:round/>
                      <a:headEnd type="none" w="med" len="med"/>
                      <a:tailEnd type="none" w="med" len="med"/>
                    </a:lnL>
                    <a:lnR w="12700" cap="flat" cmpd="sng" algn="ctr">
                      <a:solidFill>
                        <a:srgbClr val="161D2C"/>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61D2C"/>
                      </a:solidFill>
                      <a:prstDash val="solid"/>
                      <a:round/>
                      <a:headEnd type="none" w="med" len="med"/>
                      <a:tailEnd type="none" w="med" len="med"/>
                    </a:lnB>
                    <a:solidFill>
                      <a:srgbClr val="172033"/>
                    </a:solidFill>
                  </a:tcPr>
                </a:tc>
              </a:tr>
              <a:tr h="693420">
                <a:tc>
                  <a:txBody>
                    <a:bodyPr/>
                    <a:lstStyle/>
                    <a:p>
                      <a:pPr indent="0" marL="0">
                        <a:lnSpc>
                          <a:spcPts val="1960"/>
                        </a:lnSpc>
                        <a:buNone/>
                      </a:pPr>
                      <a:r>
                        <a:rPr lang="en-US" sz="1400" dirty="0">
                          <a:solidFill>
                            <a:srgbClr val="23633E"/>
                          </a:solidFill>
                          <a:latin typeface="IBM Plex Sans" pitchFamily="34" charset="0"/>
                          <a:ea typeface="IBM Plex Sans" pitchFamily="34" charset="-122"/>
                          <a:cs typeface="IBM Plex Sans" pitchFamily="34" charset="-120"/>
                        </a:rPr>
                        <a:t>Modelo</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C5C4C1"/>
                      </a:solidFill>
                      <a:prstDash val="solid"/>
                      <a:round/>
                      <a:headEnd type="none" w="med" len="med"/>
                      <a:tailEnd type="none" w="med" len="med"/>
                    </a:lnL>
                    <a:lnR w="12700" cap="flat" cmpd="sng" algn="ctr">
                      <a:solidFill>
                        <a:srgbClr val="B8C1BB"/>
                      </a:solidFill>
                      <a:prstDash val="solid"/>
                      <a:round/>
                      <a:headEnd type="none" w="med" len="med"/>
                      <a:tailEnd type="none" w="med" len="med"/>
                    </a:lnR>
                    <a:lnT w="12700" cap="flat" cmpd="sng" algn="ctr">
                      <a:solidFill>
                        <a:srgbClr val="161D2C"/>
                      </a:solidFill>
                      <a:prstDash val="solid"/>
                      <a:round/>
                      <a:headEnd type="none" w="med" len="med"/>
                      <a:tailEnd type="none" w="med" len="med"/>
                    </a:lnT>
                    <a:lnB w="12700" cap="flat" cmpd="sng" algn="ctr">
                      <a:solidFill>
                        <a:srgbClr val="B8C1BB"/>
                      </a:solidFill>
                      <a:prstDash val="solid"/>
                      <a:round/>
                      <a:headEnd type="none" w="med" len="med"/>
                      <a:tailEnd type="none" w="med" len="med"/>
                    </a:lnB>
                    <a:solidFill>
                      <a:srgbClr val="E6F2EA"/>
                    </a:solidFill>
                  </a:tcPr>
                </a:tc>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Guarda los datos, aplica las reglas y avisa de los cambios</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B8C1BB"/>
                      </a:solidFill>
                      <a:prstDash val="solid"/>
                      <a:round/>
                      <a:headEnd type="none" w="med" len="med"/>
                      <a:tailEnd type="none" w="med" len="med"/>
                    </a:lnL>
                    <a:lnR w="12700" cap="flat" cmpd="sng" algn="ctr">
                      <a:solidFill>
                        <a:srgbClr val="B8C1BB"/>
                      </a:solidFill>
                      <a:prstDash val="solid"/>
                      <a:round/>
                      <a:headEnd type="none" w="med" len="med"/>
                      <a:tailEnd type="none" w="med" len="med"/>
                    </a:lnR>
                    <a:lnT w="12700" cap="flat" cmpd="sng" algn="ctr">
                      <a:solidFill>
                        <a:srgbClr val="161D2C"/>
                      </a:solidFill>
                      <a:prstDash val="solid"/>
                      <a:round/>
                      <a:headEnd type="none" w="med" len="med"/>
                      <a:tailEnd type="none" w="med" len="med"/>
                    </a:lnT>
                    <a:lnB w="12700" cap="flat" cmpd="sng" algn="ctr">
                      <a:solidFill>
                        <a:srgbClr val="B8C1BB"/>
                      </a:solidFill>
                      <a:prstDash val="solid"/>
                      <a:round/>
                      <a:headEnd type="none" w="med" len="med"/>
                      <a:tailEnd type="none" w="med" len="med"/>
                    </a:lnB>
                    <a:solidFill>
                      <a:srgbClr val="E6F2EA"/>
                    </a:solidFill>
                  </a:tcPr>
                </a:tc>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No conoce la vista. No importa javafx.scene</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B8C1BB"/>
                      </a:solidFill>
                      <a:prstDash val="solid"/>
                      <a:round/>
                      <a:headEnd type="none" w="med" len="med"/>
                      <a:tailEnd type="none" w="med" len="med"/>
                    </a:lnL>
                    <a:lnR w="12700" cap="flat" cmpd="sng" algn="ctr">
                      <a:solidFill>
                        <a:srgbClr val="B8C1BB"/>
                      </a:solidFill>
                      <a:prstDash val="solid"/>
                      <a:round/>
                      <a:headEnd type="none" w="med" len="med"/>
                      <a:tailEnd type="none" w="med" len="med"/>
                    </a:lnR>
                    <a:lnT w="12700" cap="flat" cmpd="sng" algn="ctr">
                      <a:solidFill>
                        <a:srgbClr val="161D2C"/>
                      </a:solidFill>
                      <a:prstDash val="solid"/>
                      <a:round/>
                      <a:headEnd type="none" w="med" len="med"/>
                      <a:tailEnd type="none" w="med" len="med"/>
                    </a:lnT>
                    <a:lnB w="12700" cap="flat" cmpd="sng" algn="ctr">
                      <a:solidFill>
                        <a:srgbClr val="B8C1BB"/>
                      </a:solidFill>
                      <a:prstDash val="solid"/>
                      <a:round/>
                      <a:headEnd type="none" w="med" len="med"/>
                      <a:tailEnd type="none" w="med" len="med"/>
                    </a:lnB>
                    <a:solidFill>
                      <a:srgbClr val="E6F2EA"/>
                    </a:solidFill>
                  </a:tcPr>
                </a:tc>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Clases normales, propiedades y ObservableList</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B8C1BB"/>
                      </a:solidFill>
                      <a:prstDash val="solid"/>
                      <a:round/>
                      <a:headEnd type="none" w="med" len="med"/>
                      <a:tailEnd type="none" w="med" len="med"/>
                    </a:lnL>
                    <a:lnR w="12700" cap="flat" cmpd="sng" algn="ctr">
                      <a:solidFill>
                        <a:srgbClr val="B8C1BB"/>
                      </a:solidFill>
                      <a:prstDash val="solid"/>
                      <a:round/>
                      <a:headEnd type="none" w="med" len="med"/>
                      <a:tailEnd type="none" w="med" len="med"/>
                    </a:lnR>
                    <a:lnT w="12700" cap="flat" cmpd="sng" algn="ctr">
                      <a:solidFill>
                        <a:srgbClr val="161D2C"/>
                      </a:solidFill>
                      <a:prstDash val="solid"/>
                      <a:round/>
                      <a:headEnd type="none" w="med" len="med"/>
                      <a:tailEnd type="none" w="med" len="med"/>
                    </a:lnT>
                    <a:lnB w="12700" cap="flat" cmpd="sng" algn="ctr">
                      <a:solidFill>
                        <a:srgbClr val="B8C1BB"/>
                      </a:solidFill>
                      <a:prstDash val="solid"/>
                      <a:round/>
                      <a:headEnd type="none" w="med" len="med"/>
                      <a:tailEnd type="none" w="med" len="med"/>
                    </a:lnB>
                    <a:solidFill>
                      <a:srgbClr val="E6F2EA"/>
                    </a:solidFill>
                  </a:tcPr>
                </a:tc>
              </a:tr>
              <a:tr h="693420">
                <a:tc>
                  <a:txBody>
                    <a:bodyPr/>
                    <a:lstStyle/>
                    <a:p>
                      <a:pPr indent="0" marL="0">
                        <a:lnSpc>
                          <a:spcPts val="1960"/>
                        </a:lnSpc>
                        <a:buNone/>
                      </a:pPr>
                      <a:r>
                        <a:rPr lang="en-US" sz="1400" dirty="0">
                          <a:solidFill>
                            <a:srgbClr val="1F4E91"/>
                          </a:solidFill>
                          <a:latin typeface="IBM Plex Sans" pitchFamily="34" charset="0"/>
                          <a:ea typeface="IBM Plex Sans" pitchFamily="34" charset="-122"/>
                          <a:cs typeface="IBM Plex Sans" pitchFamily="34" charset="-120"/>
                        </a:rPr>
                        <a:t>Vista</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C5C4C1"/>
                      </a:solidFill>
                      <a:prstDash val="solid"/>
                      <a:round/>
                      <a:headEnd type="none" w="med" len="med"/>
                      <a:tailEnd type="none" w="med" len="med"/>
                    </a:lnL>
                    <a:lnR w="12700" cap="flat" cmpd="sng" algn="ctr">
                      <a:solidFill>
                        <a:srgbClr val="B7BDC6"/>
                      </a:solidFill>
                      <a:prstDash val="solid"/>
                      <a:round/>
                      <a:headEnd type="none" w="med" len="med"/>
                      <a:tailEnd type="none" w="med" len="med"/>
                    </a:lnR>
                    <a:lnT w="12700" cap="flat" cmpd="sng" algn="ctr">
                      <a:solidFill>
                        <a:srgbClr val="B8C1BB"/>
                      </a:solidFill>
                      <a:prstDash val="solid"/>
                      <a:round/>
                      <a:headEnd type="none" w="med" len="med"/>
                      <a:tailEnd type="none" w="med" len="med"/>
                    </a:lnT>
                    <a:lnB w="12700" cap="flat" cmpd="sng" algn="ctr">
                      <a:solidFill>
                        <a:srgbClr val="B7BDC6"/>
                      </a:solidFill>
                      <a:prstDash val="solid"/>
                      <a:round/>
                      <a:headEnd type="none" w="med" len="med"/>
                      <a:tailEnd type="none" w="med" len="med"/>
                    </a:lnB>
                    <a:solidFill>
                      <a:srgbClr val="E5EDF8"/>
                    </a:solidFill>
                  </a:tcPr>
                </a:tc>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Pinta los datos y avisa de lo que hace el usuario</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B7BDC6"/>
                      </a:solidFill>
                      <a:prstDash val="solid"/>
                      <a:round/>
                      <a:headEnd type="none" w="med" len="med"/>
                      <a:tailEnd type="none" w="med" len="med"/>
                    </a:lnL>
                    <a:lnR w="12700" cap="flat" cmpd="sng" algn="ctr">
                      <a:solidFill>
                        <a:srgbClr val="B7BDC6"/>
                      </a:solidFill>
                      <a:prstDash val="solid"/>
                      <a:round/>
                      <a:headEnd type="none" w="med" len="med"/>
                      <a:tailEnd type="none" w="med" len="med"/>
                    </a:lnR>
                    <a:lnT w="12700" cap="flat" cmpd="sng" algn="ctr">
                      <a:solidFill>
                        <a:srgbClr val="B8C1BB"/>
                      </a:solidFill>
                      <a:prstDash val="solid"/>
                      <a:round/>
                      <a:headEnd type="none" w="med" len="med"/>
                      <a:tailEnd type="none" w="med" len="med"/>
                    </a:lnT>
                    <a:lnB w="12700" cap="flat" cmpd="sng" algn="ctr">
                      <a:solidFill>
                        <a:srgbClr val="B7BDC6"/>
                      </a:solidFill>
                      <a:prstDash val="solid"/>
                      <a:round/>
                      <a:headEnd type="none" w="med" len="med"/>
                      <a:tailEnd type="none" w="med" len="med"/>
                    </a:lnB>
                    <a:solidFill>
                      <a:srgbClr val="E5EDF8"/>
                    </a:solidFill>
                  </a:tcPr>
                </a:tc>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No calcula ni decide</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B7BDC6"/>
                      </a:solidFill>
                      <a:prstDash val="solid"/>
                      <a:round/>
                      <a:headEnd type="none" w="med" len="med"/>
                      <a:tailEnd type="none" w="med" len="med"/>
                    </a:lnL>
                    <a:lnR w="12700" cap="flat" cmpd="sng" algn="ctr">
                      <a:solidFill>
                        <a:srgbClr val="B7BDC6"/>
                      </a:solidFill>
                      <a:prstDash val="solid"/>
                      <a:round/>
                      <a:headEnd type="none" w="med" len="med"/>
                      <a:tailEnd type="none" w="med" len="med"/>
                    </a:lnR>
                    <a:lnT w="12700" cap="flat" cmpd="sng" algn="ctr">
                      <a:solidFill>
                        <a:srgbClr val="B8C1BB"/>
                      </a:solidFill>
                      <a:prstDash val="solid"/>
                      <a:round/>
                      <a:headEnd type="none" w="med" len="med"/>
                      <a:tailEnd type="none" w="med" len="med"/>
                    </a:lnT>
                    <a:lnB w="12700" cap="flat" cmpd="sng" algn="ctr">
                      <a:solidFill>
                        <a:srgbClr val="B7BDC6"/>
                      </a:solidFill>
                      <a:prstDash val="solid"/>
                      <a:round/>
                      <a:headEnd type="none" w="med" len="med"/>
                      <a:tailEnd type="none" w="med" len="med"/>
                    </a:lnB>
                    <a:solidFill>
                      <a:srgbClr val="E5EDF8"/>
                    </a:solidFill>
                  </a:tcPr>
                </a:tc>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BorderPane, Label, Button, TableView… o un FXML</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B7BDC6"/>
                      </a:solidFill>
                      <a:prstDash val="solid"/>
                      <a:round/>
                      <a:headEnd type="none" w="med" len="med"/>
                      <a:tailEnd type="none" w="med" len="med"/>
                    </a:lnL>
                    <a:lnR w="12700" cap="flat" cmpd="sng" algn="ctr">
                      <a:solidFill>
                        <a:srgbClr val="B7BDC6"/>
                      </a:solidFill>
                      <a:prstDash val="solid"/>
                      <a:round/>
                      <a:headEnd type="none" w="med" len="med"/>
                      <a:tailEnd type="none" w="med" len="med"/>
                    </a:lnR>
                    <a:lnT w="12700" cap="flat" cmpd="sng" algn="ctr">
                      <a:solidFill>
                        <a:srgbClr val="B8C1BB"/>
                      </a:solidFill>
                      <a:prstDash val="solid"/>
                      <a:round/>
                      <a:headEnd type="none" w="med" len="med"/>
                      <a:tailEnd type="none" w="med" len="med"/>
                    </a:lnT>
                    <a:lnB w="12700" cap="flat" cmpd="sng" algn="ctr">
                      <a:solidFill>
                        <a:srgbClr val="B7BDC6"/>
                      </a:solidFill>
                      <a:prstDash val="solid"/>
                      <a:round/>
                      <a:headEnd type="none" w="med" len="med"/>
                      <a:tailEnd type="none" w="med" len="med"/>
                    </a:lnB>
                    <a:solidFill>
                      <a:srgbClr val="E5EDF8"/>
                    </a:solidFill>
                  </a:tcPr>
                </a:tc>
              </a:tr>
              <a:tr h="693420">
                <a:tc>
                  <a:txBody>
                    <a:bodyPr/>
                    <a:lstStyle/>
                    <a:p>
                      <a:pPr indent="0" marL="0">
                        <a:lnSpc>
                          <a:spcPts val="1960"/>
                        </a:lnSpc>
                        <a:buNone/>
                      </a:pPr>
                      <a:r>
                        <a:rPr lang="en-US" sz="1400" dirty="0">
                          <a:solidFill>
                            <a:srgbClr val="8F4C12"/>
                          </a:solidFill>
                          <a:latin typeface="IBM Plex Sans" pitchFamily="34" charset="0"/>
                          <a:ea typeface="IBM Plex Sans" pitchFamily="34" charset="-122"/>
                          <a:cs typeface="IBM Plex Sans" pitchFamily="34" charset="-120"/>
                        </a:rPr>
                        <a:t>Controlador</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C5C4C1"/>
                      </a:solidFill>
                      <a:prstDash val="solid"/>
                      <a:round/>
                      <a:headEnd type="none" w="med" len="med"/>
                      <a:tailEnd type="none" w="med" len="med"/>
                    </a:lnL>
                    <a:lnR w="12700" cap="flat" cmpd="sng" algn="ctr">
                      <a:solidFill>
                        <a:srgbClr val="C7BEB2"/>
                      </a:solidFill>
                      <a:prstDash val="solid"/>
                      <a:round/>
                      <a:headEnd type="none" w="med" len="med"/>
                      <a:tailEnd type="none" w="med" len="med"/>
                    </a:lnR>
                    <a:lnT w="12700" cap="flat" cmpd="sng" algn="ctr">
                      <a:solidFill>
                        <a:srgbClr val="B7BDC6"/>
                      </a:solidFill>
                      <a:prstDash val="solid"/>
                      <a:round/>
                      <a:headEnd type="none" w="med" len="med"/>
                      <a:tailEnd type="none" w="med" len="med"/>
                    </a:lnT>
                    <a:lnB w="12700" cap="flat" cmpd="sng" algn="ctr">
                      <a:solidFill>
                        <a:srgbClr val="C7BEB2"/>
                      </a:solidFill>
                      <a:prstDash val="solid"/>
                      <a:round/>
                      <a:headEnd type="none" w="med" len="med"/>
                      <a:tailEnd type="none" w="med" len="med"/>
                    </a:lnB>
                    <a:solidFill>
                      <a:srgbClr val="FAEEDF"/>
                    </a:solidFill>
                  </a:tcPr>
                </a:tc>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Recibe las acciones, llama al modelo y actualiza la vista</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C7BEB2"/>
                      </a:solidFill>
                      <a:prstDash val="solid"/>
                      <a:round/>
                      <a:headEnd type="none" w="med" len="med"/>
                      <a:tailEnd type="none" w="med" len="med"/>
                    </a:lnL>
                    <a:lnR w="12700" cap="flat" cmpd="sng" algn="ctr">
                      <a:solidFill>
                        <a:srgbClr val="C7BEB2"/>
                      </a:solidFill>
                      <a:prstDash val="solid"/>
                      <a:round/>
                      <a:headEnd type="none" w="med" len="med"/>
                      <a:tailEnd type="none" w="med" len="med"/>
                    </a:lnR>
                    <a:lnT w="12700" cap="flat" cmpd="sng" algn="ctr">
                      <a:solidFill>
                        <a:srgbClr val="B7BDC6"/>
                      </a:solidFill>
                      <a:prstDash val="solid"/>
                      <a:round/>
                      <a:headEnd type="none" w="med" len="med"/>
                      <a:tailEnd type="none" w="med" len="med"/>
                    </a:lnT>
                    <a:lnB w="12700" cap="flat" cmpd="sng" algn="ctr">
                      <a:solidFill>
                        <a:srgbClr val="C7BEB2"/>
                      </a:solidFill>
                      <a:prstDash val="solid"/>
                      <a:round/>
                      <a:headEnd type="none" w="med" len="med"/>
                      <a:tailEnd type="none" w="med" len="med"/>
                    </a:lnB>
                    <a:solidFill>
                      <a:srgbClr val="FAEEDF"/>
                    </a:solidFill>
                  </a:tcPr>
                </a:tc>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No guarda datos ni dibuja</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C7BEB2"/>
                      </a:solidFill>
                      <a:prstDash val="solid"/>
                      <a:round/>
                      <a:headEnd type="none" w="med" len="med"/>
                      <a:tailEnd type="none" w="med" len="med"/>
                    </a:lnL>
                    <a:lnR w="12700" cap="flat" cmpd="sng" algn="ctr">
                      <a:solidFill>
                        <a:srgbClr val="C7BEB2"/>
                      </a:solidFill>
                      <a:prstDash val="solid"/>
                      <a:round/>
                      <a:headEnd type="none" w="med" len="med"/>
                      <a:tailEnd type="none" w="med" len="med"/>
                    </a:lnR>
                    <a:lnT w="12700" cap="flat" cmpd="sng" algn="ctr">
                      <a:solidFill>
                        <a:srgbClr val="B7BDC6"/>
                      </a:solidFill>
                      <a:prstDash val="solid"/>
                      <a:round/>
                      <a:headEnd type="none" w="med" len="med"/>
                      <a:tailEnd type="none" w="med" len="med"/>
                    </a:lnT>
                    <a:lnB w="12700" cap="flat" cmpd="sng" algn="ctr">
                      <a:solidFill>
                        <a:srgbClr val="C7BEB2"/>
                      </a:solidFill>
                      <a:prstDash val="solid"/>
                      <a:round/>
                      <a:headEnd type="none" w="med" len="med"/>
                      <a:tailEnd type="none" w="med" len="med"/>
                    </a:lnB>
                    <a:solidFill>
                      <a:srgbClr val="FAEEDF"/>
                    </a:solidFill>
                  </a:tcPr>
                </a:tc>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Clase con setOnAction o métodos @FXML</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C7BEB2"/>
                      </a:solidFill>
                      <a:prstDash val="solid"/>
                      <a:round/>
                      <a:headEnd type="none" w="med" len="med"/>
                      <a:tailEnd type="none" w="med" len="med"/>
                    </a:lnL>
                    <a:lnR w="12700" cap="flat" cmpd="sng" algn="ctr">
                      <a:solidFill>
                        <a:srgbClr val="C7BEB2"/>
                      </a:solidFill>
                      <a:prstDash val="solid"/>
                      <a:round/>
                      <a:headEnd type="none" w="med" len="med"/>
                      <a:tailEnd type="none" w="med" len="med"/>
                    </a:lnR>
                    <a:lnT w="12700" cap="flat" cmpd="sng" algn="ctr">
                      <a:solidFill>
                        <a:srgbClr val="B7BDC6"/>
                      </a:solidFill>
                      <a:prstDash val="solid"/>
                      <a:round/>
                      <a:headEnd type="none" w="med" len="med"/>
                      <a:tailEnd type="none" w="med" len="med"/>
                    </a:lnT>
                    <a:lnB w="12700" cap="flat" cmpd="sng" algn="ctr">
                      <a:solidFill>
                        <a:srgbClr val="C7BEB2"/>
                      </a:solidFill>
                      <a:prstDash val="solid"/>
                      <a:round/>
                      <a:headEnd type="none" w="med" len="med"/>
                      <a:tailEnd type="none" w="med" len="med"/>
                    </a:lnB>
                    <a:solidFill>
                      <a:srgbClr val="FAEEDF"/>
                    </a:solidFill>
                  </a:tcPr>
                </a:tc>
              </a:tr>
            </a:tbl>
          </a:graphicData>
        </a:graphic>
      </p:graphicFrame>
      <p:sp>
        <p:nvSpPr>
          <p:cNvPr id="5" name="Text 2"/>
          <p:cNvSpPr/>
          <p:nvPr/>
        </p:nvSpPr>
        <p:spPr>
          <a:xfrm>
            <a:off x="812800" y="4626611"/>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A5C"/>
                </a:solidFill>
                <a:latin typeface="IBM Plex Sans" pitchFamily="34" charset="0"/>
                <a:ea typeface="IBM Plex Sans" pitchFamily="34" charset="-122"/>
                <a:cs typeface="IBM Plex Sans" pitchFamily="34" charset="-120"/>
              </a:rPr>
              <a:t>La columna </a:t>
            </a:r>
            <a:r>
              <a:rPr lang="en-US" sz="1600" b="1" dirty="0">
                <a:solidFill>
                  <a:srgbClr val="3E4A5C"/>
                </a:solidFill>
                <a:latin typeface="IBM Plex Sans" pitchFamily="34" charset="0"/>
                <a:ea typeface="IBM Plex Sans" pitchFamily="34" charset="-122"/>
                <a:cs typeface="IBM Plex Sans" pitchFamily="34" charset="-120"/>
              </a:rPr>
              <a:t>«Qué NO hace»</a:t>
            </a:r>
            <a:r>
              <a:rPr lang="en-US" sz="1600" dirty="0">
                <a:solidFill>
                  <a:srgbClr val="3E4A5C"/>
                </a:solidFill>
                <a:latin typeface="IBM Plex Sans" pitchFamily="34" charset="0"/>
                <a:ea typeface="IBM Plex Sans" pitchFamily="34" charset="-122"/>
                <a:cs typeface="IBM Plex Sans" pitchFamily="34" charset="-120"/>
              </a:rPr>
              <a:t> es la más importante: es lo que mantiene el código separado.</a:t>
            </a:r>
            <a:endParaRPr lang="en-US" sz="1600" dirty="0"/>
          </a:p>
        </p:txBody>
      </p:sp>
      <p:sp>
        <p:nvSpPr>
          <p:cNvPr id="6" name="Text 3"/>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El patrón MVC en JavaFX · Desarrollo de Interfaces · 2º DAM</a:t>
            </a:r>
            <a:endParaRPr lang="en-US" sz="1200" dirty="0"/>
          </a:p>
        </p:txBody>
      </p:sp>
      <p:sp>
        <p:nvSpPr>
          <p:cNvPr id="7" name="Text 4"/>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5 / 22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6A80"/>
                </a:solidFill>
                <a:latin typeface="IBM Plex Sans" pitchFamily="34" charset="0"/>
                <a:ea typeface="IBM Plex Sans" pitchFamily="34" charset="-122"/>
                <a:cs typeface="IBM Plex Sans" pitchFamily="34" charset="-120"/>
              </a:rPr>
              <a:t>PARTE 1 · QUÉ ES EL MVC</a:t>
            </a:r>
            <a:endParaRPr lang="en-US" sz="1200" dirty="0"/>
          </a:p>
        </p:txBody>
      </p:sp>
      <p:sp>
        <p:nvSpPr>
          <p:cNvPr id="3" name="Text 1"/>
          <p:cNvSpPr/>
          <p:nvPr>
            <p:ph type="title"/>
          </p:nvPr>
        </p:nvSpPr>
        <p:spPr>
          <a:xfrm>
            <a:off x="812800" y="1229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33"/>
                </a:solidFill>
                <a:latin typeface="IBM Plex Sans" pitchFamily="34" charset="0"/>
                <a:ea typeface="IBM Plex Sans" pitchFamily="34" charset="-122"/>
                <a:cs typeface="IBM Plex Sans" pitchFamily="34" charset="-120"/>
              </a:rPr>
              <a:t>El flujo de una acción</a:t>
            </a:r>
            <a:endParaRPr lang="en-US" sz="3200" dirty="0"/>
          </a:p>
        </p:txBody>
      </p:sp>
      <p:sp>
        <p:nvSpPr>
          <p:cNvPr id="4" name="Shape 2"/>
          <p:cNvSpPr/>
          <p:nvPr/>
        </p:nvSpPr>
        <p:spPr>
          <a:xfrm>
            <a:off x="812800" y="1879600"/>
            <a:ext cx="2184400" cy="1508760"/>
          </a:xfrm>
          <a:prstGeom prst="roundRect">
            <a:avLst>
              <a:gd name="adj" fmla="val 6734"/>
            </a:avLst>
          </a:prstGeom>
          <a:solidFill>
            <a:srgbClr val="E5EDF8"/>
          </a:solidFill>
          <a:ln/>
        </p:spPr>
      </p:sp>
      <p:sp>
        <p:nvSpPr>
          <p:cNvPr id="5" name="Shape 3"/>
          <p:cNvSpPr/>
          <p:nvPr/>
        </p:nvSpPr>
        <p:spPr>
          <a:xfrm>
            <a:off x="812800" y="1879600"/>
            <a:ext cx="2184400" cy="1508760"/>
          </a:xfrm>
          <a:custGeom>
            <a:avLst/>
            <a:gdLst/>
            <a:ahLst/>
            <a:cxnLst/>
            <a:rect l="l" t="t" r="r" b="b"/>
            <a:pathLst>
              <a:path w="2184400" h="1508760">
                <a:moveTo>
                  <a:pt x="0" y="101600"/>
                </a:moveTo>
                <a:lnTo>
                  <a:pt x="0" y="101600"/>
                </a:lnTo>
                <a:arcTo hR="101600" wR="101600" stAng="10800000" swAng="5400000"/>
                <a:lnTo>
                  <a:pt x="2082800" y="0"/>
                </a:lnTo>
                <a:arcTo hR="101600" wR="101600" stAng="16200000" swAng="5400000"/>
                <a:lnTo>
                  <a:pt x="2184400" y="101600"/>
                </a:lnTo>
                <a:arcTo hR="50800" wR="101600" stAng="0" swAng="-5400000"/>
                <a:lnTo>
                  <a:pt x="101600" y="50800"/>
                </a:lnTo>
                <a:arcTo hR="50800" wR="101600" stAng="16200000" swAng="-5400000"/>
                <a:close/>
              </a:path>
            </a:pathLst>
          </a:custGeom>
          <a:solidFill>
            <a:srgbClr val="2A5EA8"/>
          </a:solidFill>
          <a:ln/>
        </p:spPr>
      </p:sp>
      <p:sp>
        <p:nvSpPr>
          <p:cNvPr id="6" name="Text 4"/>
          <p:cNvSpPr/>
          <p:nvPr/>
        </p:nvSpPr>
        <p:spPr>
          <a:xfrm>
            <a:off x="1016000" y="2133600"/>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2A5EA8"/>
          </a:solidFill>
          <a:ln/>
        </p:spPr>
        <p:txBody>
          <a:bodyPr wrap="square" lIns="0" tIns="0" rIns="0" bIns="0" rtlCol="0" anchor="t">
            <a:normAutofit/>
          </a:bodyPr>
          <a:lstStyle/>
          <a:p>
            <a:pPr algn="ctr" indent="0" marL="0">
              <a:lnSpc>
                <a:spcPts val="2800"/>
              </a:lnSpc>
              <a:buNone/>
            </a:pPr>
            <a:r>
              <a:rPr lang="en-US" sz="1600" b="1" dirty="0">
                <a:solidFill>
                  <a:srgbClr val="F7F6F2"/>
                </a:solidFill>
                <a:latin typeface="IBM Plex Sans" pitchFamily="34" charset="0"/>
                <a:ea typeface="IBM Plex Sans" pitchFamily="34" charset="-122"/>
                <a:cs typeface="IBM Plex Sans" pitchFamily="34" charset="-120"/>
              </a:rPr>
              <a:t>1</a:t>
            </a:r>
            <a:endParaRPr lang="en-US" sz="1600" dirty="0"/>
          </a:p>
        </p:txBody>
      </p:sp>
      <p:sp>
        <p:nvSpPr>
          <p:cNvPr id="7" name="Text 5"/>
          <p:cNvSpPr/>
          <p:nvPr/>
        </p:nvSpPr>
        <p:spPr>
          <a:xfrm>
            <a:off x="1016000" y="2616200"/>
            <a:ext cx="183134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033"/>
                </a:solidFill>
                <a:latin typeface="IBM Plex Sans" pitchFamily="34" charset="0"/>
                <a:ea typeface="IBM Plex Sans" pitchFamily="34" charset="-122"/>
                <a:cs typeface="IBM Plex Sans" pitchFamily="34" charset="-120"/>
              </a:rPr>
              <a:t>El usuario pulsa un botón de la </a:t>
            </a:r>
            <a:r>
              <a:rPr lang="en-US" sz="1600" b="1" dirty="0">
                <a:solidFill>
                  <a:srgbClr val="172033"/>
                </a:solidFill>
                <a:latin typeface="IBM Plex Sans" pitchFamily="34" charset="0"/>
                <a:ea typeface="IBM Plex Sans" pitchFamily="34" charset="-122"/>
                <a:cs typeface="IBM Plex Sans" pitchFamily="34" charset="-120"/>
              </a:rPr>
              <a:t>vista</a:t>
            </a:r>
            <a:endParaRPr lang="en-US" sz="1600" dirty="0"/>
          </a:p>
        </p:txBody>
      </p:sp>
      <p:pic>
        <p:nvPicPr>
          <p:cNvPr id="8" name="Image 0" descr="arrow-right">    </p:cNvPr>
          <p:cNvPicPr>
            <a:picLocks noChangeAspect="1"/>
          </p:cNvPicPr>
          <p:nvPr/>
        </p:nvPicPr>
        <p:blipFill>
          <a:blip r:embed="rId1"/>
          <a:srcRect l="0" r="0" t="0" b="0"/>
          <a:stretch/>
        </p:blipFill>
        <p:spPr>
          <a:xfrm>
            <a:off x="3149600" y="2545082"/>
            <a:ext cx="304800" cy="177800"/>
          </a:xfrm>
          <a:prstGeom prst="rect">
            <a:avLst/>
          </a:prstGeom>
        </p:spPr>
      </p:pic>
      <p:sp>
        <p:nvSpPr>
          <p:cNvPr id="9" name="Shape 6"/>
          <p:cNvSpPr/>
          <p:nvPr/>
        </p:nvSpPr>
        <p:spPr>
          <a:xfrm>
            <a:off x="3606800" y="1879600"/>
            <a:ext cx="2184400" cy="1508760"/>
          </a:xfrm>
          <a:prstGeom prst="roundRect">
            <a:avLst>
              <a:gd name="adj" fmla="val 6734"/>
            </a:avLst>
          </a:prstGeom>
          <a:solidFill>
            <a:srgbClr val="FAEEDF"/>
          </a:solidFill>
          <a:ln/>
        </p:spPr>
      </p:sp>
      <p:sp>
        <p:nvSpPr>
          <p:cNvPr id="10" name="Shape 7"/>
          <p:cNvSpPr/>
          <p:nvPr/>
        </p:nvSpPr>
        <p:spPr>
          <a:xfrm>
            <a:off x="3606800" y="1879600"/>
            <a:ext cx="2184400" cy="1508760"/>
          </a:xfrm>
          <a:custGeom>
            <a:avLst/>
            <a:gdLst/>
            <a:ahLst/>
            <a:cxnLst/>
            <a:rect l="l" t="t" r="r" b="b"/>
            <a:pathLst>
              <a:path w="2184400" h="1508760">
                <a:moveTo>
                  <a:pt x="0" y="101600"/>
                </a:moveTo>
                <a:lnTo>
                  <a:pt x="0" y="101600"/>
                </a:lnTo>
                <a:arcTo hR="101600" wR="101600" stAng="10800000" swAng="5400000"/>
                <a:lnTo>
                  <a:pt x="2082800" y="0"/>
                </a:lnTo>
                <a:arcTo hR="101600" wR="101600" stAng="16200000" swAng="5400000"/>
                <a:lnTo>
                  <a:pt x="2184400" y="101600"/>
                </a:lnTo>
                <a:arcTo hR="50800" wR="101600" stAng="0" swAng="-5400000"/>
                <a:lnTo>
                  <a:pt x="101600" y="50800"/>
                </a:lnTo>
                <a:arcTo hR="50800" wR="101600" stAng="16200000" swAng="-5400000"/>
                <a:close/>
              </a:path>
            </a:pathLst>
          </a:custGeom>
          <a:solidFill>
            <a:srgbClr val="B0601A"/>
          </a:solidFill>
          <a:ln/>
        </p:spPr>
      </p:sp>
      <p:sp>
        <p:nvSpPr>
          <p:cNvPr id="11" name="Text 8"/>
          <p:cNvSpPr/>
          <p:nvPr/>
        </p:nvSpPr>
        <p:spPr>
          <a:xfrm>
            <a:off x="3810000" y="2133600"/>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B0601A"/>
          </a:solidFill>
          <a:ln/>
        </p:spPr>
        <p:txBody>
          <a:bodyPr wrap="square" lIns="0" tIns="0" rIns="0" bIns="0" rtlCol="0" anchor="t">
            <a:normAutofit/>
          </a:bodyPr>
          <a:lstStyle/>
          <a:p>
            <a:pPr algn="ctr" indent="0" marL="0">
              <a:lnSpc>
                <a:spcPts val="2800"/>
              </a:lnSpc>
              <a:buNone/>
            </a:pPr>
            <a:r>
              <a:rPr lang="en-US" sz="1600" b="1" dirty="0">
                <a:solidFill>
                  <a:srgbClr val="F7F6F2"/>
                </a:solidFill>
                <a:latin typeface="IBM Plex Sans" pitchFamily="34" charset="0"/>
                <a:ea typeface="IBM Plex Sans" pitchFamily="34" charset="-122"/>
                <a:cs typeface="IBM Plex Sans" pitchFamily="34" charset="-120"/>
              </a:rPr>
              <a:t>2</a:t>
            </a:r>
            <a:endParaRPr lang="en-US" sz="1600" dirty="0"/>
          </a:p>
        </p:txBody>
      </p:sp>
      <p:sp>
        <p:nvSpPr>
          <p:cNvPr id="12" name="Text 9"/>
          <p:cNvSpPr/>
          <p:nvPr/>
        </p:nvSpPr>
        <p:spPr>
          <a:xfrm>
            <a:off x="3810000" y="2616200"/>
            <a:ext cx="183134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033"/>
                </a:solidFill>
                <a:latin typeface="IBM Plex Sans" pitchFamily="34" charset="0"/>
                <a:ea typeface="IBM Plex Sans" pitchFamily="34" charset="-122"/>
                <a:cs typeface="IBM Plex Sans" pitchFamily="34" charset="-120"/>
              </a:rPr>
              <a:t>El </a:t>
            </a:r>
            <a:r>
              <a:rPr lang="en-US" sz="1600" b="1" dirty="0">
                <a:solidFill>
                  <a:srgbClr val="172033"/>
                </a:solidFill>
                <a:latin typeface="IBM Plex Sans" pitchFamily="34" charset="0"/>
                <a:ea typeface="IBM Plex Sans" pitchFamily="34" charset="-122"/>
                <a:cs typeface="IBM Plex Sans" pitchFamily="34" charset="-120"/>
              </a:rPr>
              <a:t>controlador</a:t>
            </a:r>
            <a:r>
              <a:rPr lang="en-US" sz="1600" dirty="0">
                <a:solidFill>
                  <a:srgbClr val="172033"/>
                </a:solidFill>
                <a:latin typeface="IBM Plex Sans" pitchFamily="34" charset="0"/>
                <a:ea typeface="IBM Plex Sans" pitchFamily="34" charset="-122"/>
                <a:cs typeface="IBM Plex Sans" pitchFamily="34" charset="-120"/>
              </a:rPr>
              <a:t> recibe el evento</a:t>
            </a:r>
            <a:endParaRPr lang="en-US" sz="1600" dirty="0"/>
          </a:p>
        </p:txBody>
      </p:sp>
      <p:pic>
        <p:nvPicPr>
          <p:cNvPr id="13" name="Image 1" descr="arrow-right">    </p:cNvPr>
          <p:cNvPicPr>
            <a:picLocks noChangeAspect="1"/>
          </p:cNvPicPr>
          <p:nvPr/>
        </p:nvPicPr>
        <p:blipFill>
          <a:blip r:embed="rId2"/>
          <a:srcRect l="0" r="0" t="0" b="0"/>
          <a:stretch/>
        </p:blipFill>
        <p:spPr>
          <a:xfrm>
            <a:off x="5943600" y="2545082"/>
            <a:ext cx="304800" cy="177800"/>
          </a:xfrm>
          <a:prstGeom prst="rect">
            <a:avLst/>
          </a:prstGeom>
        </p:spPr>
      </p:pic>
      <p:sp>
        <p:nvSpPr>
          <p:cNvPr id="14" name="Shape 10"/>
          <p:cNvSpPr/>
          <p:nvPr/>
        </p:nvSpPr>
        <p:spPr>
          <a:xfrm>
            <a:off x="6400800" y="1879600"/>
            <a:ext cx="2184400" cy="1508760"/>
          </a:xfrm>
          <a:prstGeom prst="roundRect">
            <a:avLst>
              <a:gd name="adj" fmla="val 6734"/>
            </a:avLst>
          </a:prstGeom>
          <a:solidFill>
            <a:srgbClr val="E6F2EA"/>
          </a:solidFill>
          <a:ln/>
        </p:spPr>
      </p:sp>
      <p:sp>
        <p:nvSpPr>
          <p:cNvPr id="15" name="Shape 11"/>
          <p:cNvSpPr/>
          <p:nvPr/>
        </p:nvSpPr>
        <p:spPr>
          <a:xfrm>
            <a:off x="6400800" y="1879600"/>
            <a:ext cx="2184400" cy="1508760"/>
          </a:xfrm>
          <a:custGeom>
            <a:avLst/>
            <a:gdLst/>
            <a:ahLst/>
            <a:cxnLst/>
            <a:rect l="l" t="t" r="r" b="b"/>
            <a:pathLst>
              <a:path w="2184400" h="1508760">
                <a:moveTo>
                  <a:pt x="0" y="101600"/>
                </a:moveTo>
                <a:lnTo>
                  <a:pt x="0" y="101600"/>
                </a:lnTo>
                <a:arcTo hR="101600" wR="101600" stAng="10800000" swAng="5400000"/>
                <a:lnTo>
                  <a:pt x="2082800" y="0"/>
                </a:lnTo>
                <a:arcTo hR="101600" wR="101600" stAng="16200000" swAng="5400000"/>
                <a:lnTo>
                  <a:pt x="2184400" y="101600"/>
                </a:lnTo>
                <a:arcTo hR="50800" wR="101600" stAng="0" swAng="-5400000"/>
                <a:lnTo>
                  <a:pt x="101600" y="50800"/>
                </a:lnTo>
                <a:arcTo hR="50800" wR="101600" stAng="16200000" swAng="-5400000"/>
                <a:close/>
              </a:path>
            </a:pathLst>
          </a:custGeom>
          <a:solidFill>
            <a:srgbClr val="2F7D4F"/>
          </a:solidFill>
          <a:ln/>
        </p:spPr>
      </p:sp>
      <p:sp>
        <p:nvSpPr>
          <p:cNvPr id="16" name="Text 12"/>
          <p:cNvSpPr/>
          <p:nvPr/>
        </p:nvSpPr>
        <p:spPr>
          <a:xfrm>
            <a:off x="6604000" y="2133600"/>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2F7D4F"/>
          </a:solidFill>
          <a:ln/>
        </p:spPr>
        <p:txBody>
          <a:bodyPr wrap="square" lIns="0" tIns="0" rIns="0" bIns="0" rtlCol="0" anchor="t">
            <a:normAutofit/>
          </a:bodyPr>
          <a:lstStyle/>
          <a:p>
            <a:pPr algn="ctr" indent="0" marL="0">
              <a:lnSpc>
                <a:spcPts val="2800"/>
              </a:lnSpc>
              <a:buNone/>
            </a:pPr>
            <a:r>
              <a:rPr lang="en-US" sz="1600" b="1" dirty="0">
                <a:solidFill>
                  <a:srgbClr val="F7F6F2"/>
                </a:solidFill>
                <a:latin typeface="IBM Plex Sans" pitchFamily="34" charset="0"/>
                <a:ea typeface="IBM Plex Sans" pitchFamily="34" charset="-122"/>
                <a:cs typeface="IBM Plex Sans" pitchFamily="34" charset="-120"/>
              </a:rPr>
              <a:t>3</a:t>
            </a:r>
            <a:endParaRPr lang="en-US" sz="1600" dirty="0"/>
          </a:p>
        </p:txBody>
      </p:sp>
      <p:sp>
        <p:nvSpPr>
          <p:cNvPr id="17" name="Text 13"/>
          <p:cNvSpPr/>
          <p:nvPr/>
        </p:nvSpPr>
        <p:spPr>
          <a:xfrm>
            <a:off x="6604000" y="2616200"/>
            <a:ext cx="183134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033"/>
                </a:solidFill>
                <a:latin typeface="IBM Plex Sans" pitchFamily="34" charset="0"/>
                <a:ea typeface="IBM Plex Sans" pitchFamily="34" charset="-122"/>
                <a:cs typeface="IBM Plex Sans" pitchFamily="34" charset="-120"/>
              </a:rPr>
              <a:t>El </a:t>
            </a:r>
            <a:r>
              <a:rPr lang="en-US" sz="1600" b="1" dirty="0">
                <a:solidFill>
                  <a:srgbClr val="172033"/>
                </a:solidFill>
                <a:latin typeface="IBM Plex Sans" pitchFamily="34" charset="0"/>
                <a:ea typeface="IBM Plex Sans" pitchFamily="34" charset="-122"/>
                <a:cs typeface="IBM Plex Sans" pitchFamily="34" charset="-120"/>
              </a:rPr>
              <a:t>modelo</a:t>
            </a:r>
            <a:r>
              <a:rPr lang="en-US" sz="1600" dirty="0">
                <a:solidFill>
                  <a:srgbClr val="172033"/>
                </a:solidFill>
                <a:latin typeface="IBM Plex Sans" pitchFamily="34" charset="0"/>
                <a:ea typeface="IBM Plex Sans" pitchFamily="34" charset="-122"/>
                <a:cs typeface="IBM Plex Sans" pitchFamily="34" charset="-120"/>
              </a:rPr>
              <a:t> cambia sus datos</a:t>
            </a:r>
            <a:endParaRPr lang="en-US" sz="1600" dirty="0"/>
          </a:p>
        </p:txBody>
      </p:sp>
      <p:pic>
        <p:nvPicPr>
          <p:cNvPr id="18" name="Image 2" descr="arrow-right">    </p:cNvPr>
          <p:cNvPicPr>
            <a:picLocks noChangeAspect="1"/>
          </p:cNvPicPr>
          <p:nvPr/>
        </p:nvPicPr>
        <p:blipFill>
          <a:blip r:embed="rId3"/>
          <a:srcRect l="0" r="0" t="0" b="0"/>
          <a:stretch/>
        </p:blipFill>
        <p:spPr>
          <a:xfrm>
            <a:off x="8737600" y="2545082"/>
            <a:ext cx="304800" cy="177800"/>
          </a:xfrm>
          <a:prstGeom prst="rect">
            <a:avLst/>
          </a:prstGeom>
        </p:spPr>
      </p:pic>
      <p:sp>
        <p:nvSpPr>
          <p:cNvPr id="19" name="Shape 14"/>
          <p:cNvSpPr/>
          <p:nvPr/>
        </p:nvSpPr>
        <p:spPr>
          <a:xfrm>
            <a:off x="9194800" y="1879600"/>
            <a:ext cx="2184400" cy="1508760"/>
          </a:xfrm>
          <a:prstGeom prst="roundRect">
            <a:avLst>
              <a:gd name="adj" fmla="val 6734"/>
            </a:avLst>
          </a:prstGeom>
          <a:solidFill>
            <a:srgbClr val="E5EDF8"/>
          </a:solidFill>
          <a:ln/>
        </p:spPr>
      </p:sp>
      <p:sp>
        <p:nvSpPr>
          <p:cNvPr id="20" name="Shape 15"/>
          <p:cNvSpPr/>
          <p:nvPr/>
        </p:nvSpPr>
        <p:spPr>
          <a:xfrm>
            <a:off x="9194800" y="1879600"/>
            <a:ext cx="2184400" cy="1508760"/>
          </a:xfrm>
          <a:custGeom>
            <a:avLst/>
            <a:gdLst/>
            <a:ahLst/>
            <a:cxnLst/>
            <a:rect l="l" t="t" r="r" b="b"/>
            <a:pathLst>
              <a:path w="2184400" h="1508760">
                <a:moveTo>
                  <a:pt x="0" y="101600"/>
                </a:moveTo>
                <a:lnTo>
                  <a:pt x="0" y="101600"/>
                </a:lnTo>
                <a:arcTo hR="101600" wR="101600" stAng="10800000" swAng="5400000"/>
                <a:lnTo>
                  <a:pt x="2082800" y="0"/>
                </a:lnTo>
                <a:arcTo hR="101600" wR="101600" stAng="16200000" swAng="5400000"/>
                <a:lnTo>
                  <a:pt x="2184400" y="101600"/>
                </a:lnTo>
                <a:arcTo hR="50800" wR="101600" stAng="0" swAng="-5400000"/>
                <a:lnTo>
                  <a:pt x="101600" y="50800"/>
                </a:lnTo>
                <a:arcTo hR="50800" wR="101600" stAng="16200000" swAng="-5400000"/>
                <a:close/>
              </a:path>
            </a:pathLst>
          </a:custGeom>
          <a:solidFill>
            <a:srgbClr val="2A5EA8"/>
          </a:solidFill>
          <a:ln/>
        </p:spPr>
      </p:sp>
      <p:sp>
        <p:nvSpPr>
          <p:cNvPr id="21" name="Text 16"/>
          <p:cNvSpPr/>
          <p:nvPr/>
        </p:nvSpPr>
        <p:spPr>
          <a:xfrm>
            <a:off x="9398000" y="2133600"/>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2A5EA8"/>
          </a:solidFill>
          <a:ln/>
        </p:spPr>
        <p:txBody>
          <a:bodyPr wrap="square" lIns="0" tIns="0" rIns="0" bIns="0" rtlCol="0" anchor="t">
            <a:normAutofit/>
          </a:bodyPr>
          <a:lstStyle/>
          <a:p>
            <a:pPr algn="ctr" indent="0" marL="0">
              <a:lnSpc>
                <a:spcPts val="2800"/>
              </a:lnSpc>
              <a:buNone/>
            </a:pPr>
            <a:r>
              <a:rPr lang="en-US" sz="1600" b="1" dirty="0">
                <a:solidFill>
                  <a:srgbClr val="F7F6F2"/>
                </a:solidFill>
                <a:latin typeface="IBM Plex Sans" pitchFamily="34" charset="0"/>
                <a:ea typeface="IBM Plex Sans" pitchFamily="34" charset="-122"/>
                <a:cs typeface="IBM Plex Sans" pitchFamily="34" charset="-120"/>
              </a:rPr>
              <a:t>4</a:t>
            </a:r>
            <a:endParaRPr lang="en-US" sz="1600" dirty="0"/>
          </a:p>
        </p:txBody>
      </p:sp>
      <p:sp>
        <p:nvSpPr>
          <p:cNvPr id="22" name="Text 17"/>
          <p:cNvSpPr/>
          <p:nvPr/>
        </p:nvSpPr>
        <p:spPr>
          <a:xfrm>
            <a:off x="9398000" y="2616200"/>
            <a:ext cx="183134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033"/>
                </a:solidFill>
                <a:latin typeface="IBM Plex Sans" pitchFamily="34" charset="0"/>
                <a:ea typeface="IBM Plex Sans" pitchFamily="34" charset="-122"/>
                <a:cs typeface="IBM Plex Sans" pitchFamily="34" charset="-120"/>
              </a:rPr>
              <a:t>La </a:t>
            </a:r>
            <a:r>
              <a:rPr lang="en-US" sz="1600" b="1" dirty="0">
                <a:solidFill>
                  <a:srgbClr val="172033"/>
                </a:solidFill>
                <a:latin typeface="IBM Plex Sans" pitchFamily="34" charset="0"/>
                <a:ea typeface="IBM Plex Sans" pitchFamily="34" charset="-122"/>
                <a:cs typeface="IBM Plex Sans" pitchFamily="34" charset="-120"/>
              </a:rPr>
              <a:t>vista</a:t>
            </a:r>
            <a:r>
              <a:rPr lang="en-US" sz="1600" dirty="0">
                <a:solidFill>
                  <a:srgbClr val="172033"/>
                </a:solidFill>
                <a:latin typeface="IBM Plex Sans" pitchFamily="34" charset="0"/>
                <a:ea typeface="IBM Plex Sans" pitchFamily="34" charset="-122"/>
                <a:cs typeface="IBM Plex Sans" pitchFamily="34" charset="-120"/>
              </a:rPr>
              <a:t> muestra el nuevo estado</a:t>
            </a:r>
            <a:endParaRPr lang="en-US" sz="1600" dirty="0"/>
          </a:p>
        </p:txBody>
      </p:sp>
      <p:sp>
        <p:nvSpPr>
          <p:cNvPr id="23" name="Shape 18"/>
          <p:cNvSpPr/>
          <p:nvPr/>
        </p:nvSpPr>
        <p:spPr>
          <a:xfrm>
            <a:off x="812800" y="3591561"/>
            <a:ext cx="10566400" cy="1016000"/>
          </a:xfrm>
          <a:prstGeom prst="roundRect">
            <a:avLst>
              <a:gd name="adj" fmla="val 10000"/>
            </a:avLst>
          </a:prstGeom>
          <a:solidFill>
            <a:srgbClr val="172033"/>
          </a:solidFill>
          <a:ln/>
        </p:spPr>
      </p:sp>
      <p:sp>
        <p:nvSpPr>
          <p:cNvPr id="24" name="Text 19"/>
          <p:cNvSpPr/>
          <p:nvPr/>
        </p:nvSpPr>
        <p:spPr>
          <a:xfrm>
            <a:off x="1066800" y="3794761"/>
            <a:ext cx="1036015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7F6F2"/>
                </a:solidFill>
                <a:latin typeface="IBM Plex Sans" pitchFamily="34" charset="0"/>
                <a:ea typeface="IBM Plex Sans" pitchFamily="34" charset="-122"/>
                <a:cs typeface="IBM Plex Sans" pitchFamily="34" charset="-120"/>
              </a:rPr>
              <a:t>Quién conoce a quién:</a:t>
            </a:r>
            <a:r>
              <a:rPr lang="en-US" sz="1600" dirty="0">
                <a:solidFill>
                  <a:srgbClr val="F7F6F2"/>
                </a:solidFill>
                <a:latin typeface="IBM Plex Sans" pitchFamily="34" charset="0"/>
                <a:ea typeface="IBM Plex Sans" pitchFamily="34" charset="-122"/>
                <a:cs typeface="IBM Plex Sans" pitchFamily="34" charset="-120"/>
              </a:rPr>
              <a:t> el controlador conoce al modelo y a la vista. El modelo no conoce a nadie.</a:t>
            </a:r>
            <a:endParaRPr lang="en-US" sz="1600" dirty="0"/>
          </a:p>
        </p:txBody>
      </p:sp>
      <p:sp>
        <p:nvSpPr>
          <p:cNvPr id="25" name="Text 20"/>
          <p:cNvSpPr/>
          <p:nvPr/>
        </p:nvSpPr>
        <p:spPr>
          <a:xfrm>
            <a:off x="1066800" y="4155439"/>
            <a:ext cx="1036015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8D6"/>
                </a:solidFill>
                <a:latin typeface="IBM Plex Sans" pitchFamily="34" charset="0"/>
                <a:ea typeface="IBM Plex Sans" pitchFamily="34" charset="-122"/>
                <a:cs typeface="IBM Plex Sans" pitchFamily="34" charset="-120"/>
              </a:rPr>
              <a:t>La vista aparece al principio y al final, pero nunca habla directamente con el modelo.</a:t>
            </a:r>
            <a:endParaRPr lang="en-US" sz="1400" dirty="0"/>
          </a:p>
        </p:txBody>
      </p:sp>
      <p:sp>
        <p:nvSpPr>
          <p:cNvPr id="26" name="Text 21"/>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El patrón MVC en JavaFX · Desarrollo de Interfaces · 2º DAM</a:t>
            </a:r>
            <a:endParaRPr lang="en-US" sz="1200" dirty="0"/>
          </a:p>
        </p:txBody>
      </p:sp>
      <p:sp>
        <p:nvSpPr>
          <p:cNvPr id="27" name="Text 22"/>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6 / 22</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6A80"/>
                </a:solidFill>
                <a:latin typeface="IBM Plex Sans" pitchFamily="34" charset="0"/>
                <a:ea typeface="IBM Plex Sans" pitchFamily="34" charset="-122"/>
                <a:cs typeface="IBM Plex Sans" pitchFamily="34" charset="-120"/>
              </a:rPr>
              <a:t>PARTE 1 · QUÉ ES EL MVC</a:t>
            </a:r>
            <a:endParaRPr lang="en-US" sz="1200" dirty="0"/>
          </a:p>
        </p:txBody>
      </p:sp>
      <p:sp>
        <p:nvSpPr>
          <p:cNvPr id="3" name="Text 1"/>
          <p:cNvSpPr/>
          <p:nvPr>
            <p:ph type="title"/>
          </p:nvPr>
        </p:nvSpPr>
        <p:spPr>
          <a:xfrm>
            <a:off x="812800" y="1229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33"/>
                </a:solidFill>
                <a:latin typeface="IBM Plex Sans" pitchFamily="34" charset="0"/>
                <a:ea typeface="IBM Plex Sans" pitchFamily="34" charset="-122"/>
                <a:cs typeface="IBM Plex Sans" pitchFamily="34" charset="-120"/>
              </a:rPr>
              <a:t>Cómo se entera la vista: dos variantes</a:t>
            </a:r>
            <a:endParaRPr lang="en-US" sz="3200" dirty="0"/>
          </a:p>
        </p:txBody>
      </p:sp>
      <p:sp>
        <p:nvSpPr>
          <p:cNvPr id="4" name="Shape 2"/>
          <p:cNvSpPr/>
          <p:nvPr/>
        </p:nvSpPr>
        <p:spPr>
          <a:xfrm>
            <a:off x="819150" y="1885950"/>
            <a:ext cx="5118100" cy="2771140"/>
          </a:xfrm>
          <a:prstGeom prst="roundRect">
            <a:avLst>
              <a:gd name="adj" fmla="val 3437"/>
            </a:avLst>
          </a:prstGeom>
          <a:solidFill>
            <a:srgbClr val="FFFFFF"/>
          </a:solidFill>
          <a:ln w="12700">
            <a:solidFill>
              <a:srgbClr val="D5DBE4"/>
            </a:solidFill>
            <a:prstDash val="solid"/>
          </a:ln>
        </p:spPr>
      </p:sp>
      <p:sp>
        <p:nvSpPr>
          <p:cNvPr id="5" name="Text 3"/>
          <p:cNvSpPr/>
          <p:nvPr/>
        </p:nvSpPr>
        <p:spPr>
          <a:xfrm>
            <a:off x="1076960" y="2143761"/>
            <a:ext cx="474055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8F4C12"/>
                </a:solidFill>
                <a:latin typeface="IBM Plex Sans" pitchFamily="34" charset="0"/>
                <a:ea typeface="IBM Plex Sans" pitchFamily="34" charset="-122"/>
                <a:cs typeface="IBM Plex Sans" pitchFamily="34" charset="-120"/>
              </a:rPr>
              <a:t>A · El controlador refresca</a:t>
            </a:r>
            <a:endParaRPr lang="en-US" sz="2000" dirty="0"/>
          </a:p>
        </p:txBody>
      </p:sp>
      <p:sp>
        <p:nvSpPr>
          <p:cNvPr id="6" name="Text 4"/>
          <p:cNvSpPr/>
          <p:nvPr/>
        </p:nvSpPr>
        <p:spPr>
          <a:xfrm>
            <a:off x="1076960" y="2600961"/>
            <a:ext cx="474055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Después de cambiar el modelo, el controlador le pide el valor y llama a vista.mostrar(...).</a:t>
            </a:r>
            <a:endParaRPr lang="en-US" sz="1400" dirty="0"/>
          </a:p>
        </p:txBody>
      </p:sp>
      <p:sp>
        <p:nvSpPr>
          <p:cNvPr id="7" name="Text 5"/>
          <p:cNvSpPr/>
          <p:nvPr/>
        </p:nvSpPr>
        <p:spPr>
          <a:xfrm>
            <a:off x="1076960" y="3251200"/>
            <a:ext cx="4602480" cy="746760"/>
          </a:xfrm>
          <a:prstGeom prst="roundRect">
            <a:avLst>
              <a:gd name="adj" fmla="val 10204"/>
            </a:avLst>
          </a:prstGeom>
          <a:solidFill>
            <a:srgbClr val="1C2333"/>
          </a:solidFill>
          <a:ln/>
        </p:spPr>
        <p:txBody>
          <a:bodyPr wrap="none" lIns="155482" tIns="130082" rIns="28075" bIns="104682" rtlCol="0" anchor="t">
            <a:normAutofit/>
          </a:bodyPr>
          <a:lstStyle/>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modelo.incrementar();</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vista.mostrar(modelo.getValor());</a:t>
            </a:r>
            <a:endParaRPr lang="en-US" sz="1200" dirty="0"/>
          </a:p>
        </p:txBody>
      </p:sp>
      <p:sp>
        <p:nvSpPr>
          <p:cNvPr id="8" name="Text 6"/>
          <p:cNvSpPr/>
          <p:nvPr/>
        </p:nvSpPr>
        <p:spPr>
          <a:xfrm>
            <a:off x="1076960" y="4150361"/>
            <a:ext cx="474055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33"/>
                </a:solidFill>
                <a:latin typeface="IBM Plex Sans" pitchFamily="34" charset="0"/>
                <a:ea typeface="IBM Plex Sans" pitchFamily="34" charset="-122"/>
                <a:cs typeface="IBM Plex Sans" pitchFamily="34" charset="-120"/>
              </a:rPr>
              <a:t>Más simple.</a:t>
            </a:r>
            <a:r>
              <a:rPr lang="en-US" sz="1400" dirty="0">
                <a:solidFill>
                  <a:srgbClr val="172033"/>
                </a:solidFill>
                <a:latin typeface="IBM Plex Sans" pitchFamily="34" charset="0"/>
                <a:ea typeface="IBM Plex Sans" pitchFamily="34" charset="-122"/>
                <a:cs typeface="IBM Plex Sans" pitchFamily="34" charset="-120"/>
              </a:rPr>
              <a:t> La usa el contador.</a:t>
            </a:r>
            <a:endParaRPr lang="en-US" sz="1400" dirty="0"/>
          </a:p>
        </p:txBody>
      </p:sp>
      <p:sp>
        <p:nvSpPr>
          <p:cNvPr id="9" name="Shape 7"/>
          <p:cNvSpPr/>
          <p:nvPr/>
        </p:nvSpPr>
        <p:spPr>
          <a:xfrm>
            <a:off x="6254750" y="1885950"/>
            <a:ext cx="5118100" cy="2771140"/>
          </a:xfrm>
          <a:prstGeom prst="roundRect">
            <a:avLst>
              <a:gd name="adj" fmla="val 3437"/>
            </a:avLst>
          </a:prstGeom>
          <a:solidFill>
            <a:srgbClr val="FFFFFF"/>
          </a:solidFill>
          <a:ln w="12700">
            <a:solidFill>
              <a:srgbClr val="D5DBE4"/>
            </a:solidFill>
            <a:prstDash val="solid"/>
          </a:ln>
        </p:spPr>
      </p:sp>
      <p:sp>
        <p:nvSpPr>
          <p:cNvPr id="10" name="Text 8"/>
          <p:cNvSpPr/>
          <p:nvPr/>
        </p:nvSpPr>
        <p:spPr>
          <a:xfrm>
            <a:off x="6512560" y="2143761"/>
            <a:ext cx="474055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3633E"/>
                </a:solidFill>
                <a:latin typeface="IBM Plex Sans" pitchFamily="34" charset="0"/>
                <a:ea typeface="IBM Plex Sans" pitchFamily="34" charset="-122"/>
                <a:cs typeface="IBM Plex Sans" pitchFamily="34" charset="-120"/>
              </a:rPr>
              <a:t>B · El modelo avisa (Observer)</a:t>
            </a:r>
            <a:endParaRPr lang="en-US" sz="2000" dirty="0"/>
          </a:p>
        </p:txBody>
      </p:sp>
      <p:sp>
        <p:nvSpPr>
          <p:cNvPr id="11" name="Text 9"/>
          <p:cNvSpPr/>
          <p:nvPr/>
        </p:nvSpPr>
        <p:spPr>
          <a:xfrm>
            <a:off x="6512560" y="2600961"/>
            <a:ext cx="474055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El modelo usa propiedades y listas observables. La vista se enlaza con bind() y se actualiza sola.</a:t>
            </a:r>
            <a:endParaRPr lang="en-US" sz="1400" dirty="0"/>
          </a:p>
        </p:txBody>
      </p:sp>
      <p:sp>
        <p:nvSpPr>
          <p:cNvPr id="12" name="Text 10"/>
          <p:cNvSpPr/>
          <p:nvPr/>
        </p:nvSpPr>
        <p:spPr>
          <a:xfrm>
            <a:off x="6512560" y="3251200"/>
            <a:ext cx="4602480" cy="746760"/>
          </a:xfrm>
          <a:prstGeom prst="roundRect">
            <a:avLst>
              <a:gd name="adj" fmla="val 10204"/>
            </a:avLst>
          </a:prstGeom>
          <a:solidFill>
            <a:srgbClr val="1C2333"/>
          </a:solidFill>
          <a:ln/>
        </p:spPr>
        <p:txBody>
          <a:bodyPr wrap="none" lIns="155482" tIns="130082" rIns="28075" bIns="104682" rtlCol="0" anchor="t">
            <a:normAutofit/>
          </a:bodyPr>
          <a:lstStyle/>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lblTotal.textProperty().bind(</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total.asString("Total: %.2f €"));</a:t>
            </a:r>
            <a:endParaRPr lang="en-US" sz="1200" dirty="0"/>
          </a:p>
        </p:txBody>
      </p:sp>
      <p:sp>
        <p:nvSpPr>
          <p:cNvPr id="13" name="Text 11"/>
          <p:cNvSpPr/>
          <p:nvPr/>
        </p:nvSpPr>
        <p:spPr>
          <a:xfrm>
            <a:off x="6512560" y="4150361"/>
            <a:ext cx="485394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33"/>
                </a:solidFill>
                <a:latin typeface="IBM Plex Sans" pitchFamily="34" charset="0"/>
                <a:ea typeface="IBM Plex Sans" pitchFamily="34" charset="-122"/>
                <a:cs typeface="IBM Plex Sans" pitchFamily="34" charset="-120"/>
              </a:rPr>
              <a:t>Varias vistas sincronizadas.</a:t>
            </a:r>
            <a:r>
              <a:rPr lang="en-US" sz="1400" dirty="0">
                <a:solidFill>
                  <a:srgbClr val="172033"/>
                </a:solidFill>
                <a:latin typeface="IBM Plex Sans" pitchFamily="34" charset="0"/>
                <a:ea typeface="IBM Plex Sans" pitchFamily="34" charset="-122"/>
                <a:cs typeface="IBM Plex Sans" pitchFamily="34" charset="-120"/>
              </a:rPr>
              <a:t> La usa la lista de la compra.</a:t>
            </a:r>
            <a:endParaRPr lang="en-US" sz="1400" dirty="0"/>
          </a:p>
        </p:txBody>
      </p:sp>
      <p:sp>
        <p:nvSpPr>
          <p:cNvPr id="14" name="Text 12"/>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El patrón MVC en JavaFX · Desarrollo de Interfaces · 2º DAM</a:t>
            </a:r>
            <a:endParaRPr lang="en-US" sz="1200" dirty="0"/>
          </a:p>
        </p:txBody>
      </p:sp>
      <p:sp>
        <p:nvSpPr>
          <p:cNvPr id="15" name="Text 13"/>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7 / 22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6A80"/>
                </a:solidFill>
                <a:latin typeface="IBM Plex Sans" pitchFamily="34" charset="0"/>
                <a:ea typeface="IBM Plex Sans" pitchFamily="34" charset="-122"/>
                <a:cs typeface="IBM Plex Sans" pitchFamily="34" charset="-120"/>
              </a:rPr>
              <a:t>PARTE 1 · QUÉ ES EL MVC</a:t>
            </a:r>
            <a:endParaRPr lang="en-US" sz="1200" dirty="0"/>
          </a:p>
        </p:txBody>
      </p:sp>
      <p:sp>
        <p:nvSpPr>
          <p:cNvPr id="3" name="Text 1"/>
          <p:cNvSpPr/>
          <p:nvPr>
            <p:ph type="title"/>
          </p:nvPr>
        </p:nvSpPr>
        <p:spPr>
          <a:xfrm>
            <a:off x="812800" y="1229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33"/>
                </a:solidFill>
                <a:latin typeface="IBM Plex Sans" pitchFamily="34" charset="0"/>
                <a:ea typeface="IBM Plex Sans" pitchFamily="34" charset="-122"/>
                <a:cs typeface="IBM Plex Sans" pitchFamily="34" charset="-120"/>
              </a:rPr>
              <a:t>Ventajas e inconvenientes</a:t>
            </a:r>
            <a:endParaRPr lang="en-US" sz="3200" dirty="0"/>
          </a:p>
        </p:txBody>
      </p:sp>
      <p:sp>
        <p:nvSpPr>
          <p:cNvPr id="4" name="Shape 2"/>
          <p:cNvSpPr/>
          <p:nvPr/>
        </p:nvSpPr>
        <p:spPr>
          <a:xfrm>
            <a:off x="819150" y="1885950"/>
            <a:ext cx="5118100" cy="2280920"/>
          </a:xfrm>
          <a:prstGeom prst="roundRect">
            <a:avLst>
              <a:gd name="adj" fmla="val 4176"/>
            </a:avLst>
          </a:prstGeom>
          <a:solidFill>
            <a:srgbClr val="FFFFFF"/>
          </a:solidFill>
          <a:ln w="12700">
            <a:solidFill>
              <a:srgbClr val="BCDCC8"/>
            </a:solidFill>
            <a:prstDash val="solid"/>
          </a:ln>
        </p:spPr>
      </p:sp>
      <p:sp>
        <p:nvSpPr>
          <p:cNvPr id="5" name="Text 3"/>
          <p:cNvSpPr/>
          <p:nvPr/>
        </p:nvSpPr>
        <p:spPr>
          <a:xfrm>
            <a:off x="1076960" y="2143761"/>
            <a:ext cx="474055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3633E"/>
                </a:solidFill>
                <a:latin typeface="IBM Plex Sans" pitchFamily="34" charset="0"/>
                <a:ea typeface="IBM Plex Sans" pitchFamily="34" charset="-122"/>
                <a:cs typeface="IBM Plex Sans" pitchFamily="34" charset="-120"/>
              </a:rPr>
              <a:t>Ventajas</a:t>
            </a:r>
            <a:endParaRPr lang="en-US" sz="2000" dirty="0"/>
          </a:p>
        </p:txBody>
      </p:sp>
      <p:sp>
        <p:nvSpPr>
          <p:cNvPr id="6" name="Text 4"/>
          <p:cNvSpPr/>
          <p:nvPr/>
        </p:nvSpPr>
        <p:spPr>
          <a:xfrm>
            <a:off x="1155192" y="2575561"/>
            <a:ext cx="4654702" cy="13589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172033"/>
                </a:solidFill>
                <a:latin typeface="IBM Plex Sans" pitchFamily="34" charset="0"/>
                <a:ea typeface="IBM Plex Sans" pitchFamily="34" charset="-122"/>
                <a:cs typeface="IBM Plex Sans" pitchFamily="34" charset="-120"/>
              </a:rPr>
              <a:t>Cambiar la interfaz sin tocar la lógica</a:t>
            </a:r>
            <a:endParaRPr lang="en-US" sz="1400" dirty="0"/>
          </a:p>
          <a:p>
            <a:pPr algn="l" marL="175768" indent="-175768">
              <a:lnSpc>
                <a:spcPts val="2100"/>
              </a:lnSpc>
              <a:buSzPct val="100000"/>
              <a:buChar char="•"/>
            </a:pPr>
            <a:r>
              <a:rPr lang="en-US" sz="1400" dirty="0">
                <a:solidFill>
                  <a:srgbClr val="172033"/>
                </a:solidFill>
                <a:latin typeface="IBM Plex Sans" pitchFamily="34" charset="0"/>
                <a:ea typeface="IBM Plex Sans" pitchFamily="34" charset="-122"/>
                <a:cs typeface="IBM Plex Sans" pitchFamily="34" charset="-120"/>
              </a:rPr>
              <a:t>Probar el modelo con JUnit, sin ventanas</a:t>
            </a:r>
            <a:endParaRPr lang="en-US" sz="1400" dirty="0"/>
          </a:p>
          <a:p>
            <a:pPr algn="l" marL="175768" indent="-175768">
              <a:lnSpc>
                <a:spcPts val="2100"/>
              </a:lnSpc>
              <a:buSzPct val="100000"/>
              <a:buChar char="•"/>
            </a:pPr>
            <a:r>
              <a:rPr lang="en-US" sz="1400" dirty="0">
                <a:solidFill>
                  <a:srgbClr val="172033"/>
                </a:solidFill>
                <a:latin typeface="IBM Plex Sans" pitchFamily="34" charset="0"/>
                <a:ea typeface="IBM Plex Sans" pitchFamily="34" charset="-122"/>
                <a:cs typeface="IBM Plex Sans" pitchFamily="34" charset="-120"/>
              </a:rPr>
              <a:t>Reutilizar el modelo, con o sin FXML</a:t>
            </a:r>
            <a:endParaRPr lang="en-US" sz="1400" dirty="0"/>
          </a:p>
          <a:p>
            <a:pPr algn="l" marL="175768" indent="-175768">
              <a:lnSpc>
                <a:spcPts val="2100"/>
              </a:lnSpc>
              <a:buSzPct val="100000"/>
              <a:buChar char="•"/>
            </a:pPr>
            <a:r>
              <a:rPr lang="en-US" sz="1400" dirty="0">
                <a:solidFill>
                  <a:srgbClr val="172033"/>
                </a:solidFill>
                <a:latin typeface="IBM Plex Sans" pitchFamily="34" charset="0"/>
                <a:ea typeface="IBM Plex Sans" pitchFamily="34" charset="-122"/>
                <a:cs typeface="IBM Plex Sans" pitchFamily="34" charset="-120"/>
              </a:rPr>
              <a:t>Trabajar en equipo por capas</a:t>
            </a:r>
            <a:endParaRPr lang="en-US" sz="1400" dirty="0"/>
          </a:p>
          <a:p>
            <a:pPr algn="l" marL="175768" indent="-175768">
              <a:lnSpc>
                <a:spcPts val="2100"/>
              </a:lnSpc>
              <a:buSzPct val="100000"/>
              <a:buChar char="•"/>
            </a:pPr>
            <a:r>
              <a:rPr lang="en-US" sz="1400" dirty="0">
                <a:solidFill>
                  <a:srgbClr val="172033"/>
                </a:solidFill>
                <a:latin typeface="IBM Plex Sans" pitchFamily="34" charset="0"/>
                <a:ea typeface="IBM Plex Sans" pitchFamily="34" charset="-122"/>
                <a:cs typeface="IBM Plex Sans" pitchFamily="34" charset="-120"/>
              </a:rPr>
              <a:t>Saber dónde buscar cada fallo</a:t>
            </a:r>
            <a:endParaRPr lang="en-US" sz="1400" dirty="0"/>
          </a:p>
        </p:txBody>
      </p:sp>
      <p:sp>
        <p:nvSpPr>
          <p:cNvPr id="7" name="Shape 5"/>
          <p:cNvSpPr/>
          <p:nvPr/>
        </p:nvSpPr>
        <p:spPr>
          <a:xfrm>
            <a:off x="6254750" y="1885950"/>
            <a:ext cx="5118100" cy="2280920"/>
          </a:xfrm>
          <a:prstGeom prst="roundRect">
            <a:avLst>
              <a:gd name="adj" fmla="val 4176"/>
            </a:avLst>
          </a:prstGeom>
          <a:solidFill>
            <a:srgbClr val="FFFFFF"/>
          </a:solidFill>
          <a:ln w="12700">
            <a:solidFill>
              <a:srgbClr val="EFC9C6"/>
            </a:solidFill>
            <a:prstDash val="solid"/>
          </a:ln>
        </p:spPr>
      </p:sp>
      <p:sp>
        <p:nvSpPr>
          <p:cNvPr id="8" name="Text 6"/>
          <p:cNvSpPr/>
          <p:nvPr/>
        </p:nvSpPr>
        <p:spPr>
          <a:xfrm>
            <a:off x="6512560" y="2143761"/>
            <a:ext cx="474055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8322D"/>
                </a:solidFill>
                <a:latin typeface="IBM Plex Sans" pitchFamily="34" charset="0"/>
                <a:ea typeface="IBM Plex Sans" pitchFamily="34" charset="-122"/>
                <a:cs typeface="IBM Plex Sans" pitchFamily="34" charset="-120"/>
              </a:rPr>
              <a:t>Inconvenientes</a:t>
            </a:r>
            <a:endParaRPr lang="en-US" sz="2000" dirty="0"/>
          </a:p>
        </p:txBody>
      </p:sp>
      <p:sp>
        <p:nvSpPr>
          <p:cNvPr id="9" name="Text 7"/>
          <p:cNvSpPr/>
          <p:nvPr/>
        </p:nvSpPr>
        <p:spPr>
          <a:xfrm>
            <a:off x="6590792" y="2575561"/>
            <a:ext cx="4654702" cy="8255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172033"/>
                </a:solidFill>
                <a:latin typeface="IBM Plex Sans" pitchFamily="34" charset="0"/>
                <a:ea typeface="IBM Plex Sans" pitchFamily="34" charset="-122"/>
                <a:cs typeface="IBM Plex Sans" pitchFamily="34" charset="-120"/>
              </a:rPr>
              <a:t>Más clases, incluso en apps pequeñas</a:t>
            </a:r>
            <a:endParaRPr lang="en-US" sz="1400" dirty="0"/>
          </a:p>
          <a:p>
            <a:pPr algn="l" marL="175768" indent="-175768">
              <a:lnSpc>
                <a:spcPts val="2100"/>
              </a:lnSpc>
              <a:buSzPct val="100000"/>
              <a:buChar char="•"/>
            </a:pPr>
            <a:r>
              <a:rPr lang="en-US" sz="1400" dirty="0">
                <a:solidFill>
                  <a:srgbClr val="172033"/>
                </a:solidFill>
                <a:latin typeface="IBM Plex Sans" pitchFamily="34" charset="0"/>
                <a:ea typeface="IBM Plex Sans" pitchFamily="34" charset="-122"/>
                <a:cs typeface="IBM Plex Sans" pitchFamily="34" charset="-120"/>
              </a:rPr>
              <a:t>Cuesta un poco al principio</a:t>
            </a:r>
            <a:endParaRPr lang="en-US" sz="1400" dirty="0"/>
          </a:p>
          <a:p>
            <a:pPr algn="l" marL="175768" indent="-175768">
              <a:lnSpc>
                <a:spcPts val="2100"/>
              </a:lnSpc>
              <a:buSzPct val="100000"/>
              <a:buChar char="•"/>
            </a:pPr>
            <a:r>
              <a:rPr lang="en-US" sz="1400" dirty="0">
                <a:solidFill>
                  <a:srgbClr val="172033"/>
                </a:solidFill>
                <a:latin typeface="IBM Plex Sans" pitchFamily="34" charset="0"/>
                <a:ea typeface="IBM Plex Sans" pitchFamily="34" charset="-122"/>
                <a:cs typeface="IBM Plex Sans" pitchFamily="34" charset="-120"/>
              </a:rPr>
              <a:t>Riesgo de controladores enormes</a:t>
            </a:r>
            <a:endParaRPr lang="en-US" sz="1400" dirty="0"/>
          </a:p>
        </p:txBody>
      </p:sp>
      <p:sp>
        <p:nvSpPr>
          <p:cNvPr id="10" name="Text 8"/>
          <p:cNvSpPr/>
          <p:nvPr/>
        </p:nvSpPr>
        <p:spPr>
          <a:xfrm>
            <a:off x="812800" y="4376421"/>
            <a:ext cx="10566400" cy="690880"/>
          </a:xfrm>
          <a:prstGeom prst="roundRect">
            <a:avLst>
              <a:gd name="adj" fmla="val 14706"/>
            </a:avLst>
          </a:prstGeom>
          <a:solidFill>
            <a:srgbClr val="172033"/>
          </a:solidFill>
          <a:ln/>
        </p:spPr>
        <p:txBody>
          <a:bodyPr wrap="square" lIns="224242" tIns="173442" rIns="0" bIns="148042" rtlCol="0" anchor="t">
            <a:normAutofit/>
          </a:bodyPr>
          <a:lstStyle/>
          <a:p>
            <a:pPr algn="l" indent="0" marL="0">
              <a:lnSpc>
                <a:spcPts val="2240"/>
              </a:lnSpc>
              <a:buNone/>
            </a:pPr>
            <a:r>
              <a:rPr lang="en-US" sz="1600" b="1" dirty="0">
                <a:solidFill>
                  <a:srgbClr val="F7F6F2"/>
                </a:solidFill>
                <a:latin typeface="IBM Plex Sans" pitchFamily="34" charset="0"/>
                <a:ea typeface="IBM Plex Sans" pitchFamily="34" charset="-122"/>
                <a:cs typeface="IBM Plex Sans" pitchFamily="34" charset="-120"/>
              </a:rPr>
              <a:t>Analogía:</a:t>
            </a:r>
            <a:r>
              <a:rPr lang="en-US" sz="1600" dirty="0">
                <a:solidFill>
                  <a:srgbClr val="F7F6F2"/>
                </a:solidFill>
                <a:latin typeface="IBM Plex Sans" pitchFamily="34" charset="0"/>
                <a:ea typeface="IBM Plex Sans" pitchFamily="34" charset="-122"/>
                <a:cs typeface="IBM Plex Sans" pitchFamily="34" charset="-120"/>
              </a:rPr>
              <a:t> la cocina es el modelo, la sala y la carta son la vista, y el camarero es el controlador.</a:t>
            </a:r>
            <a:endParaRPr lang="en-US" sz="1600" dirty="0"/>
          </a:p>
        </p:txBody>
      </p:sp>
      <p:sp>
        <p:nvSpPr>
          <p:cNvPr id="11" name="Text 9"/>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El patrón MVC en JavaFX · Desarrollo de Interfaces · 2º DAM</a:t>
            </a:r>
            <a:endParaRPr lang="en-US" sz="1200" dirty="0"/>
          </a:p>
        </p:txBody>
      </p:sp>
      <p:sp>
        <p:nvSpPr>
          <p:cNvPr id="12" name="Text 10"/>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8 / 22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6A80"/>
                </a:solidFill>
                <a:latin typeface="IBM Plex Sans" pitchFamily="34" charset="0"/>
                <a:ea typeface="IBM Plex Sans" pitchFamily="34" charset="-122"/>
                <a:cs typeface="IBM Plex Sans" pitchFamily="34" charset="-120"/>
              </a:rPr>
              <a:t>PARTE 1 · QUÉ ES EL MVC</a:t>
            </a:r>
            <a:endParaRPr lang="en-US" sz="1200" dirty="0"/>
          </a:p>
        </p:txBody>
      </p:sp>
      <p:sp>
        <p:nvSpPr>
          <p:cNvPr id="3" name="Text 1"/>
          <p:cNvSpPr/>
          <p:nvPr>
            <p:ph type="title"/>
          </p:nvPr>
        </p:nvSpPr>
        <p:spPr>
          <a:xfrm>
            <a:off x="812800" y="1229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33"/>
                </a:solidFill>
                <a:latin typeface="IBM Plex Sans" pitchFamily="34" charset="0"/>
                <a:ea typeface="IBM Plex Sans" pitchFamily="34" charset="-122"/>
                <a:cs typeface="IBM Plex Sans" pitchFamily="34" charset="-120"/>
              </a:rPr>
              <a:t>MVC en tecnologías reales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89760"/>
          <a:ext cx="10556240" cy="2506980"/>
        </p:xfrm>
        <a:graphic>
          <a:graphicData uri="http://schemas.openxmlformats.org/drawingml/2006/table">
            <a:tbl>
              <a:tblPr/>
              <a:tblGrid>
                <a:gridCol w="2322373"/>
                <a:gridCol w="2744622"/>
                <a:gridCol w="2744622"/>
                <a:gridCol w="2744622"/>
              </a:tblGrid>
              <a:tr h="453390">
                <a:tc>
                  <a:txBody>
                    <a:bodyPr/>
                    <a:lstStyle/>
                    <a:p>
                      <a:pPr indent="0" marL="0">
                        <a:lnSpc>
                          <a:spcPts val="1960"/>
                        </a:lnSpc>
                        <a:buNone/>
                      </a:pPr>
                      <a:r>
                        <a:rPr lang="en-US" sz="1400" b="1" dirty="0">
                          <a:solidFill>
                            <a:srgbClr val="F7F6F2"/>
                          </a:solidFill>
                          <a:latin typeface="IBM Plex Sans" pitchFamily="34" charset="0"/>
                          <a:ea typeface="IBM Plex Sans" pitchFamily="34" charset="-122"/>
                          <a:cs typeface="IBM Plex Sans" pitchFamily="34" charset="-120"/>
                        </a:rPr>
                        <a:t>Tecnología</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C5C4C1"/>
                      </a:solidFill>
                      <a:prstDash val="solid"/>
                      <a:round/>
                      <a:headEnd type="none" w="med" len="med"/>
                      <a:tailEnd type="none" w="med" len="med"/>
                    </a:lnL>
                    <a:lnR w="12700" cap="flat" cmpd="sng" algn="ctr">
                      <a:solidFill>
                        <a:srgbClr val="161D2C"/>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61D2C"/>
                      </a:solidFill>
                      <a:prstDash val="solid"/>
                      <a:round/>
                      <a:headEnd type="none" w="med" len="med"/>
                      <a:tailEnd type="none" w="med" len="med"/>
                    </a:lnB>
                    <a:solidFill>
                      <a:srgbClr val="172033"/>
                    </a:solidFill>
                  </a:tcPr>
                </a:tc>
                <a:tc>
                  <a:txBody>
                    <a:bodyPr/>
                    <a:lstStyle/>
                    <a:p>
                      <a:pPr indent="0" marL="0">
                        <a:lnSpc>
                          <a:spcPts val="1960"/>
                        </a:lnSpc>
                        <a:buNone/>
                      </a:pPr>
                      <a:r>
                        <a:rPr lang="en-US" sz="1400" b="1" dirty="0">
                          <a:solidFill>
                            <a:srgbClr val="F7F6F2"/>
                          </a:solidFill>
                          <a:latin typeface="IBM Plex Sans" pitchFamily="34" charset="0"/>
                          <a:ea typeface="IBM Plex Sans" pitchFamily="34" charset="-122"/>
                          <a:cs typeface="IBM Plex Sans" pitchFamily="34" charset="-120"/>
                        </a:rPr>
                        <a:t>Modelo</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161D2C"/>
                      </a:solidFill>
                      <a:prstDash val="solid"/>
                      <a:round/>
                      <a:headEnd type="none" w="med" len="med"/>
                      <a:tailEnd type="none" w="med" len="med"/>
                    </a:lnL>
                    <a:lnR w="12700" cap="flat" cmpd="sng" algn="ctr">
                      <a:solidFill>
                        <a:srgbClr val="161D2C"/>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61D2C"/>
                      </a:solidFill>
                      <a:prstDash val="solid"/>
                      <a:round/>
                      <a:headEnd type="none" w="med" len="med"/>
                      <a:tailEnd type="none" w="med" len="med"/>
                    </a:lnB>
                    <a:solidFill>
                      <a:srgbClr val="172033"/>
                    </a:solidFill>
                  </a:tcPr>
                </a:tc>
                <a:tc>
                  <a:txBody>
                    <a:bodyPr/>
                    <a:lstStyle/>
                    <a:p>
                      <a:pPr indent="0" marL="0">
                        <a:lnSpc>
                          <a:spcPts val="1960"/>
                        </a:lnSpc>
                        <a:buNone/>
                      </a:pPr>
                      <a:r>
                        <a:rPr lang="en-US" sz="1400" b="1" dirty="0">
                          <a:solidFill>
                            <a:srgbClr val="F7F6F2"/>
                          </a:solidFill>
                          <a:latin typeface="IBM Plex Sans" pitchFamily="34" charset="0"/>
                          <a:ea typeface="IBM Plex Sans" pitchFamily="34" charset="-122"/>
                          <a:cs typeface="IBM Plex Sans" pitchFamily="34" charset="-120"/>
                        </a:rPr>
                        <a:t>Vista</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161D2C"/>
                      </a:solidFill>
                      <a:prstDash val="solid"/>
                      <a:round/>
                      <a:headEnd type="none" w="med" len="med"/>
                      <a:tailEnd type="none" w="med" len="med"/>
                    </a:lnL>
                    <a:lnR w="12700" cap="flat" cmpd="sng" algn="ctr">
                      <a:solidFill>
                        <a:srgbClr val="161D2C"/>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61D2C"/>
                      </a:solidFill>
                      <a:prstDash val="solid"/>
                      <a:round/>
                      <a:headEnd type="none" w="med" len="med"/>
                      <a:tailEnd type="none" w="med" len="med"/>
                    </a:lnB>
                    <a:solidFill>
                      <a:srgbClr val="172033"/>
                    </a:solidFill>
                  </a:tcPr>
                </a:tc>
                <a:tc>
                  <a:txBody>
                    <a:bodyPr/>
                    <a:lstStyle/>
                    <a:p>
                      <a:pPr indent="0" marL="0">
                        <a:lnSpc>
                          <a:spcPts val="1960"/>
                        </a:lnSpc>
                        <a:buNone/>
                      </a:pPr>
                      <a:r>
                        <a:rPr lang="en-US" sz="1400" b="1" dirty="0">
                          <a:solidFill>
                            <a:srgbClr val="F7F6F2"/>
                          </a:solidFill>
                          <a:latin typeface="IBM Plex Sans" pitchFamily="34" charset="0"/>
                          <a:ea typeface="IBM Plex Sans" pitchFamily="34" charset="-122"/>
                          <a:cs typeface="IBM Plex Sans" pitchFamily="34" charset="-120"/>
                        </a:rPr>
                        <a:t>Controlador</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161D2C"/>
                      </a:solidFill>
                      <a:prstDash val="solid"/>
                      <a:round/>
                      <a:headEnd type="none" w="med" len="med"/>
                      <a:tailEnd type="none" w="med" len="med"/>
                    </a:lnL>
                    <a:lnR w="12700" cap="flat" cmpd="sng" algn="ctr">
                      <a:solidFill>
                        <a:srgbClr val="161D2C"/>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61D2C"/>
                      </a:solidFill>
                      <a:prstDash val="solid"/>
                      <a:round/>
                      <a:headEnd type="none" w="med" len="med"/>
                      <a:tailEnd type="none" w="med" len="med"/>
                    </a:lnB>
                    <a:solidFill>
                      <a:srgbClr val="172033"/>
                    </a:solidFill>
                  </a:tcPr>
                </a:tc>
              </a:tr>
              <a:tr h="693420">
                <a:tc>
                  <a:txBody>
                    <a:bodyPr/>
                    <a:lstStyle/>
                    <a:p>
                      <a:pPr indent="0" marL="0">
                        <a:lnSpc>
                          <a:spcPts val="1960"/>
                        </a:lnSpc>
                        <a:buNone/>
                      </a:pPr>
                      <a:r>
                        <a:rPr lang="en-US" sz="1400" dirty="0">
                          <a:solidFill>
                            <a:srgbClr val="1F4E91"/>
                          </a:solidFill>
                          <a:latin typeface="IBM Plex Sans" pitchFamily="34" charset="0"/>
                          <a:ea typeface="IBM Plex Sans" pitchFamily="34" charset="-122"/>
                          <a:cs typeface="IBM Plex Sans" pitchFamily="34" charset="-120"/>
                        </a:rPr>
                        <a:t>JavaFX (este curso)</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C5C4C1"/>
                      </a:solidFill>
                      <a:prstDash val="solid"/>
                      <a:round/>
                      <a:headEnd type="none" w="med" len="med"/>
                      <a:tailEnd type="none" w="med" len="med"/>
                    </a:lnL>
                    <a:lnR w="12700" cap="flat" cmpd="sng" algn="ctr">
                      <a:solidFill>
                        <a:srgbClr val="B7BDC6"/>
                      </a:solidFill>
                      <a:prstDash val="solid"/>
                      <a:round/>
                      <a:headEnd type="none" w="med" len="med"/>
                      <a:tailEnd type="none" w="med" len="med"/>
                    </a:lnR>
                    <a:lnT w="12700" cap="flat" cmpd="sng" algn="ctr">
                      <a:solidFill>
                        <a:srgbClr val="161D2C"/>
                      </a:solidFill>
                      <a:prstDash val="solid"/>
                      <a:round/>
                      <a:headEnd type="none" w="med" len="med"/>
                      <a:tailEnd type="none" w="med" len="med"/>
                    </a:lnT>
                    <a:lnB w="12700" cap="flat" cmpd="sng" algn="ctr">
                      <a:solidFill>
                        <a:srgbClr val="B7BDC6"/>
                      </a:solidFill>
                      <a:prstDash val="solid"/>
                      <a:round/>
                      <a:headEnd type="none" w="med" len="med"/>
                      <a:tailEnd type="none" w="med" len="med"/>
                    </a:lnB>
                    <a:solidFill>
                      <a:srgbClr val="E5EDF8"/>
                    </a:solidFill>
                  </a:tcPr>
                </a:tc>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Clases con propiedades y ObservableList</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B7BDC6"/>
                      </a:solidFill>
                      <a:prstDash val="solid"/>
                      <a:round/>
                      <a:headEnd type="none" w="med" len="med"/>
                      <a:tailEnd type="none" w="med" len="med"/>
                    </a:lnL>
                    <a:lnR w="12700" cap="flat" cmpd="sng" algn="ctr">
                      <a:solidFill>
                        <a:srgbClr val="B7BDC6"/>
                      </a:solidFill>
                      <a:prstDash val="solid"/>
                      <a:round/>
                      <a:headEnd type="none" w="med" len="med"/>
                      <a:tailEnd type="none" w="med" len="med"/>
                    </a:lnR>
                    <a:lnT w="12700" cap="flat" cmpd="sng" algn="ctr">
                      <a:solidFill>
                        <a:srgbClr val="161D2C"/>
                      </a:solidFill>
                      <a:prstDash val="solid"/>
                      <a:round/>
                      <a:headEnd type="none" w="med" len="med"/>
                      <a:tailEnd type="none" w="med" len="med"/>
                    </a:lnT>
                    <a:lnB w="12700" cap="flat" cmpd="sng" algn="ctr">
                      <a:solidFill>
                        <a:srgbClr val="B7BDC6"/>
                      </a:solidFill>
                      <a:prstDash val="solid"/>
                      <a:round/>
                      <a:headEnd type="none" w="med" len="med"/>
                      <a:tailEnd type="none" w="med" len="med"/>
                    </a:lnB>
                    <a:solidFill>
                      <a:srgbClr val="E5EDF8"/>
                    </a:solidFill>
                  </a:tcPr>
                </a:tc>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Panel en código o fichero FXML</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B7BDC6"/>
                      </a:solidFill>
                      <a:prstDash val="solid"/>
                      <a:round/>
                      <a:headEnd type="none" w="med" len="med"/>
                      <a:tailEnd type="none" w="med" len="med"/>
                    </a:lnL>
                    <a:lnR w="12700" cap="flat" cmpd="sng" algn="ctr">
                      <a:solidFill>
                        <a:srgbClr val="B7BDC6"/>
                      </a:solidFill>
                      <a:prstDash val="solid"/>
                      <a:round/>
                      <a:headEnd type="none" w="med" len="med"/>
                      <a:tailEnd type="none" w="med" len="med"/>
                    </a:lnR>
                    <a:lnT w="12700" cap="flat" cmpd="sng" algn="ctr">
                      <a:solidFill>
                        <a:srgbClr val="161D2C"/>
                      </a:solidFill>
                      <a:prstDash val="solid"/>
                      <a:round/>
                      <a:headEnd type="none" w="med" len="med"/>
                      <a:tailEnd type="none" w="med" len="med"/>
                    </a:lnT>
                    <a:lnB w="12700" cap="flat" cmpd="sng" algn="ctr">
                      <a:solidFill>
                        <a:srgbClr val="B7BDC6"/>
                      </a:solidFill>
                      <a:prstDash val="solid"/>
                      <a:round/>
                      <a:headEnd type="none" w="med" len="med"/>
                      <a:tailEnd type="none" w="med" len="med"/>
                    </a:lnB>
                    <a:solidFill>
                      <a:srgbClr val="E5EDF8"/>
                    </a:solidFill>
                  </a:tcPr>
                </a:tc>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Clase con setOnAction o @FXML</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B7BDC6"/>
                      </a:solidFill>
                      <a:prstDash val="solid"/>
                      <a:round/>
                      <a:headEnd type="none" w="med" len="med"/>
                      <a:tailEnd type="none" w="med" len="med"/>
                    </a:lnL>
                    <a:lnR w="12700" cap="flat" cmpd="sng" algn="ctr">
                      <a:solidFill>
                        <a:srgbClr val="B7BDC6"/>
                      </a:solidFill>
                      <a:prstDash val="solid"/>
                      <a:round/>
                      <a:headEnd type="none" w="med" len="med"/>
                      <a:tailEnd type="none" w="med" len="med"/>
                    </a:lnR>
                    <a:lnT w="12700" cap="flat" cmpd="sng" algn="ctr">
                      <a:solidFill>
                        <a:srgbClr val="161D2C"/>
                      </a:solidFill>
                      <a:prstDash val="solid"/>
                      <a:round/>
                      <a:headEnd type="none" w="med" len="med"/>
                      <a:tailEnd type="none" w="med" len="med"/>
                    </a:lnT>
                    <a:lnB w="12700" cap="flat" cmpd="sng" algn="ctr">
                      <a:solidFill>
                        <a:srgbClr val="B7BDC6"/>
                      </a:solidFill>
                      <a:prstDash val="solid"/>
                      <a:round/>
                      <a:headEnd type="none" w="med" len="med"/>
                      <a:tailEnd type="none" w="med" len="med"/>
                    </a:lnB>
                    <a:solidFill>
                      <a:srgbClr val="E5EDF8"/>
                    </a:solidFill>
                  </a:tcPr>
                </a:tc>
              </a:tr>
              <a:tr h="453390">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Swing</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7BD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Clases Java, TableModel</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7BD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JFrame, JTable</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7BD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ActionListener</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7BD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53390">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Spring MVC (web)</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C5C4C1"/>
                      </a:solidFill>
                      <a:prstDash val="solid"/>
                      <a:round/>
                      <a:headEnd type="none" w="med" len="med"/>
                      <a:tailEnd type="none" w="med" len="med"/>
                    </a:lnL>
                    <a:lnR w="12700" cap="flat" cmpd="sng" algn="ctr">
                      <a:solidFill>
                        <a:srgbClr val="C0C1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1C4"/>
                      </a:solidFill>
                      <a:prstDash val="solid"/>
                      <a:round/>
                      <a:headEnd type="none" w="med" len="med"/>
                      <a:tailEnd type="none" w="med" len="med"/>
                    </a:lnB>
                    <a:solidFill>
                      <a:srgbClr val="F0F2F6"/>
                    </a:solidFill>
                  </a:tcPr>
                </a:tc>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Entidades y servicios</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C0C1C4"/>
                      </a:solidFill>
                      <a:prstDash val="solid"/>
                      <a:round/>
                      <a:headEnd type="none" w="med" len="med"/>
                      <a:tailEnd type="none" w="med" len="med"/>
                    </a:lnL>
                    <a:lnR w="12700" cap="flat" cmpd="sng" algn="ctr">
                      <a:solidFill>
                        <a:srgbClr val="C0C1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1C4"/>
                      </a:solidFill>
                      <a:prstDash val="solid"/>
                      <a:round/>
                      <a:headEnd type="none" w="med" len="med"/>
                      <a:tailEnd type="none" w="med" len="med"/>
                    </a:lnB>
                    <a:solidFill>
                      <a:srgbClr val="F0F2F6"/>
                    </a:solidFill>
                  </a:tcPr>
                </a:tc>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Plantillas HTML</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C0C1C4"/>
                      </a:solidFill>
                      <a:prstDash val="solid"/>
                      <a:round/>
                      <a:headEnd type="none" w="med" len="med"/>
                      <a:tailEnd type="none" w="med" len="med"/>
                    </a:lnL>
                    <a:lnR w="12700" cap="flat" cmpd="sng" algn="ctr">
                      <a:solidFill>
                        <a:srgbClr val="C0C1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1C4"/>
                      </a:solidFill>
                      <a:prstDash val="solid"/>
                      <a:round/>
                      <a:headEnd type="none" w="med" len="med"/>
                      <a:tailEnd type="none" w="med" len="med"/>
                    </a:lnB>
                    <a:solidFill>
                      <a:srgbClr val="F0F2F6"/>
                    </a:solidFill>
                  </a:tcPr>
                </a:tc>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Clase @Controller</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C0C1C4"/>
                      </a:solidFill>
                      <a:prstDash val="solid"/>
                      <a:round/>
                      <a:headEnd type="none" w="med" len="med"/>
                      <a:tailEnd type="none" w="med" len="med"/>
                    </a:lnL>
                    <a:lnR w="12700" cap="flat" cmpd="sng" algn="ctr">
                      <a:solidFill>
                        <a:srgbClr val="C0C1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1C4"/>
                      </a:solidFill>
                      <a:prstDash val="solid"/>
                      <a:round/>
                      <a:headEnd type="none" w="med" len="med"/>
                      <a:tailEnd type="none" w="med" len="med"/>
                    </a:lnB>
                    <a:solidFill>
                      <a:srgbClr val="F0F2F6"/>
                    </a:solidFill>
                  </a:tcPr>
                </a:tc>
              </a:tr>
              <a:tr h="453390">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Android (MVVM)</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1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Datos y repositorios</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1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Layout XML</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1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ViewModel</a:t>
                      </a:r>
                      <a:endParaRPr lang="en-US" sz="1400" dirty="0">
                        <a:latin typeface="IBM Plex Sans" charset="0"/>
                        <a:ea typeface="IBM Plex Sans" charset="0"/>
                        <a:cs typeface="IBM Plex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1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5" name="Text 2"/>
          <p:cNvSpPr/>
          <p:nvPr/>
        </p:nvSpPr>
        <p:spPr>
          <a:xfrm>
            <a:off x="812800" y="4599942"/>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A5C"/>
                </a:solidFill>
                <a:latin typeface="IBM Plex Sans" pitchFamily="34" charset="0"/>
                <a:ea typeface="IBM Plex Sans" pitchFamily="34" charset="-122"/>
                <a:cs typeface="IBM Plex Sans" pitchFamily="34" charset="-120"/>
              </a:rPr>
              <a:t>La idea es la misma en todas: cambian los nombres de las piezas, no el reparto de responsabilidades.</a:t>
            </a:r>
            <a:endParaRPr lang="en-US" sz="1600" dirty="0"/>
          </a:p>
        </p:txBody>
      </p:sp>
      <p:sp>
        <p:nvSpPr>
          <p:cNvPr id="6" name="Text 3"/>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El patrón MVC en JavaFX · Desarrollo de Interfaces · 2º DAM</a:t>
            </a:r>
            <a:endParaRPr lang="en-US" sz="1200" dirty="0"/>
          </a:p>
        </p:txBody>
      </p:sp>
      <p:sp>
        <p:nvSpPr>
          <p:cNvPr id="7" name="Text 4"/>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9 / 22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6A80"/>
                </a:solidFill>
                <a:latin typeface="IBM Plex Sans" pitchFamily="34" charset="0"/>
                <a:ea typeface="IBM Plex Sans" pitchFamily="34" charset="-122"/>
                <a:cs typeface="IBM Plex Sans" pitchFamily="34" charset="-120"/>
              </a:rPr>
              <a:t>PARTE 1 · ANTES DE LOS EJEMPLOS</a:t>
            </a:r>
            <a:endParaRPr lang="en-US" sz="1200" dirty="0"/>
          </a:p>
        </p:txBody>
      </p:sp>
      <p:sp>
        <p:nvSpPr>
          <p:cNvPr id="3" name="Text 1"/>
          <p:cNvSpPr/>
          <p:nvPr>
            <p:ph type="title"/>
          </p:nvPr>
        </p:nvSpPr>
        <p:spPr>
          <a:xfrm>
            <a:off x="812800" y="1229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33"/>
                </a:solidFill>
                <a:latin typeface="IBM Plex Sans" pitchFamily="34" charset="0"/>
                <a:ea typeface="IBM Plex Sans" pitchFamily="34" charset="-122"/>
                <a:cs typeface="IBM Plex Sans" pitchFamily="34" charset="-120"/>
              </a:rPr>
              <a:t>Una aplicación JavaFX por dentro</a:t>
            </a:r>
            <a:endParaRPr lang="en-US" sz="3200" dirty="0"/>
          </a:p>
        </p:txBody>
      </p:sp>
      <p:sp>
        <p:nvSpPr>
          <p:cNvPr id="4" name="Shape 2"/>
          <p:cNvSpPr/>
          <p:nvPr/>
        </p:nvSpPr>
        <p:spPr>
          <a:xfrm>
            <a:off x="822325" y="1889125"/>
            <a:ext cx="4425950" cy="2330450"/>
          </a:xfrm>
          <a:prstGeom prst="roundRect">
            <a:avLst>
              <a:gd name="adj" fmla="val 3951"/>
            </a:avLst>
          </a:prstGeom>
          <a:solidFill>
            <a:srgbClr val="FFFFFF"/>
          </a:solidFill>
          <a:ln w="19050">
            <a:solidFill>
              <a:srgbClr val="172033"/>
            </a:solidFill>
            <a:prstDash val="solid"/>
          </a:ln>
        </p:spPr>
      </p:sp>
      <p:sp>
        <p:nvSpPr>
          <p:cNvPr id="5" name="Text 3"/>
          <p:cNvSpPr/>
          <p:nvPr/>
        </p:nvSpPr>
        <p:spPr>
          <a:xfrm>
            <a:off x="980440" y="2047242"/>
            <a:ext cx="423301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33"/>
                </a:solidFill>
                <a:latin typeface="IBM Plex Sans" pitchFamily="34" charset="0"/>
                <a:ea typeface="IBM Plex Sans" pitchFamily="34" charset="-122"/>
                <a:cs typeface="IBM Plex Sans" pitchFamily="34" charset="-120"/>
              </a:rPr>
              <a:t>Stage · la ventana</a:t>
            </a:r>
            <a:endParaRPr lang="en-US" sz="1400" dirty="0"/>
          </a:p>
        </p:txBody>
      </p:sp>
      <p:sp>
        <p:nvSpPr>
          <p:cNvPr id="6" name="Shape 4"/>
          <p:cNvSpPr/>
          <p:nvPr/>
        </p:nvSpPr>
        <p:spPr>
          <a:xfrm>
            <a:off x="989965" y="2407289"/>
            <a:ext cx="4090670" cy="1644650"/>
          </a:xfrm>
          <a:prstGeom prst="roundRect">
            <a:avLst>
              <a:gd name="adj" fmla="val 4054"/>
            </a:avLst>
          </a:prstGeom>
          <a:noFill/>
          <a:ln w="19050">
            <a:solidFill>
              <a:srgbClr val="5E6A80"/>
            </a:solidFill>
            <a:prstDash val="dash"/>
          </a:ln>
        </p:spPr>
      </p:sp>
      <p:sp>
        <p:nvSpPr>
          <p:cNvPr id="7" name="Text 5"/>
          <p:cNvSpPr/>
          <p:nvPr/>
        </p:nvSpPr>
        <p:spPr>
          <a:xfrm>
            <a:off x="1148080" y="2565400"/>
            <a:ext cx="388767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E4A5C"/>
                </a:solidFill>
                <a:latin typeface="IBM Plex Sans" pitchFamily="34" charset="0"/>
                <a:ea typeface="IBM Plex Sans" pitchFamily="34" charset="-122"/>
                <a:cs typeface="IBM Plex Sans" pitchFamily="34" charset="-120"/>
              </a:rPr>
              <a:t>Scene · el contenido</a:t>
            </a:r>
            <a:endParaRPr lang="en-US" sz="1400" dirty="0"/>
          </a:p>
        </p:txBody>
      </p:sp>
      <p:sp>
        <p:nvSpPr>
          <p:cNvPr id="8" name="Shape 6"/>
          <p:cNvSpPr/>
          <p:nvPr/>
        </p:nvSpPr>
        <p:spPr>
          <a:xfrm>
            <a:off x="1157605" y="2925446"/>
            <a:ext cx="3755390" cy="958850"/>
          </a:xfrm>
          <a:prstGeom prst="roundRect">
            <a:avLst>
              <a:gd name="adj" fmla="val 6954"/>
            </a:avLst>
          </a:prstGeom>
          <a:solidFill>
            <a:srgbClr val="E5EDF8"/>
          </a:solidFill>
          <a:ln w="19050">
            <a:solidFill>
              <a:srgbClr val="2A5EA8"/>
            </a:solidFill>
            <a:prstDash val="solid"/>
          </a:ln>
        </p:spPr>
      </p:sp>
      <p:sp>
        <p:nvSpPr>
          <p:cNvPr id="9" name="Text 7"/>
          <p:cNvSpPr/>
          <p:nvPr/>
        </p:nvSpPr>
        <p:spPr>
          <a:xfrm>
            <a:off x="1315720" y="3083564"/>
            <a:ext cx="3542335"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F4E91"/>
                </a:solidFill>
                <a:latin typeface="IBM Plex Sans" pitchFamily="34" charset="0"/>
                <a:ea typeface="IBM Plex Sans" pitchFamily="34" charset="-122"/>
                <a:cs typeface="IBM Plex Sans" pitchFamily="34" charset="-120"/>
              </a:rPr>
              <a:t>Nodo raíz = la vista (BorderPane)</a:t>
            </a:r>
            <a:endParaRPr lang="en-US" sz="1400" dirty="0"/>
          </a:p>
        </p:txBody>
      </p:sp>
      <p:sp>
        <p:nvSpPr>
          <p:cNvPr id="10" name="Text 8"/>
          <p:cNvSpPr/>
          <p:nvPr/>
        </p:nvSpPr>
        <p:spPr>
          <a:xfrm>
            <a:off x="1322070" y="3422650"/>
            <a:ext cx="581978" cy="297180"/>
          </a:xfrm>
          <a:prstGeom prst="roundRect">
            <a:avLst>
              <a:gd name="adj" fmla="val 14957"/>
            </a:avLst>
          </a:prstGeom>
          <a:solidFill>
            <a:srgbClr val="FFFFFF"/>
          </a:solidFill>
          <a:ln w="12700">
            <a:solidFill>
              <a:srgbClr val="2A5EA8"/>
            </a:solidFill>
            <a:prstDash val="solid"/>
          </a:ln>
        </p:spPr>
        <p:txBody>
          <a:bodyPr wrap="none" lIns="0" tIns="0" rIns="0" bIns="0" rtlCol="0" anchor="ctr">
            <a:normAutofit/>
          </a:bodyPr>
          <a:lstStyle/>
          <a:p>
            <a:pPr algn="ctr" indent="0" marL="0">
              <a:lnSpc>
                <a:spcPts val="1680"/>
              </a:lnSpc>
              <a:buNone/>
            </a:pPr>
            <a:r>
              <a:rPr lang="en-US" sz="1200" dirty="0">
                <a:solidFill>
                  <a:srgbClr val="1F4E91"/>
                </a:solidFill>
                <a:latin typeface="IBM Plex Sans" pitchFamily="34" charset="0"/>
                <a:ea typeface="IBM Plex Sans" pitchFamily="34" charset="-122"/>
                <a:cs typeface="IBM Plex Sans" pitchFamily="34" charset="-120"/>
              </a:rPr>
              <a:t>Label</a:t>
            </a:r>
            <a:endParaRPr lang="en-US" sz="1200" dirty="0"/>
          </a:p>
        </p:txBody>
      </p:sp>
      <p:sp>
        <p:nvSpPr>
          <p:cNvPr id="11" name="Text 9"/>
          <p:cNvSpPr/>
          <p:nvPr/>
        </p:nvSpPr>
        <p:spPr>
          <a:xfrm>
            <a:off x="1992948" y="3422650"/>
            <a:ext cx="673814" cy="297180"/>
          </a:xfrm>
          <a:prstGeom prst="roundRect">
            <a:avLst>
              <a:gd name="adj" fmla="val 14957"/>
            </a:avLst>
          </a:prstGeom>
          <a:solidFill>
            <a:srgbClr val="FFFFFF"/>
          </a:solidFill>
          <a:ln w="12700">
            <a:solidFill>
              <a:srgbClr val="2A5EA8"/>
            </a:solidFill>
            <a:prstDash val="solid"/>
          </a:ln>
        </p:spPr>
        <p:txBody>
          <a:bodyPr wrap="none" lIns="0" tIns="0" rIns="0" bIns="0" rtlCol="0" anchor="ctr">
            <a:normAutofit/>
          </a:bodyPr>
          <a:lstStyle/>
          <a:p>
            <a:pPr algn="ctr" indent="0" marL="0">
              <a:lnSpc>
                <a:spcPts val="1680"/>
              </a:lnSpc>
              <a:buNone/>
            </a:pPr>
            <a:r>
              <a:rPr lang="en-US" sz="1200" dirty="0">
                <a:solidFill>
                  <a:srgbClr val="1F4E91"/>
                </a:solidFill>
                <a:latin typeface="IBM Plex Sans" pitchFamily="34" charset="0"/>
                <a:ea typeface="IBM Plex Sans" pitchFamily="34" charset="-122"/>
                <a:cs typeface="IBM Plex Sans" pitchFamily="34" charset="-120"/>
              </a:rPr>
              <a:t>Button</a:t>
            </a:r>
            <a:endParaRPr lang="en-US" sz="1200" dirty="0"/>
          </a:p>
        </p:txBody>
      </p:sp>
      <p:sp>
        <p:nvSpPr>
          <p:cNvPr id="12" name="Text 10"/>
          <p:cNvSpPr/>
          <p:nvPr/>
        </p:nvSpPr>
        <p:spPr>
          <a:xfrm>
            <a:off x="2755662" y="3422650"/>
            <a:ext cx="837565" cy="297180"/>
          </a:xfrm>
          <a:prstGeom prst="roundRect">
            <a:avLst>
              <a:gd name="adj" fmla="val 14957"/>
            </a:avLst>
          </a:prstGeom>
          <a:solidFill>
            <a:srgbClr val="FFFFFF"/>
          </a:solidFill>
          <a:ln w="12700">
            <a:solidFill>
              <a:srgbClr val="2A5EA8"/>
            </a:solidFill>
            <a:prstDash val="solid"/>
          </a:ln>
        </p:spPr>
        <p:txBody>
          <a:bodyPr wrap="none" lIns="0" tIns="0" rIns="0" bIns="0" rtlCol="0" anchor="ctr">
            <a:normAutofit/>
          </a:bodyPr>
          <a:lstStyle/>
          <a:p>
            <a:pPr algn="ctr" indent="0" marL="0">
              <a:lnSpc>
                <a:spcPts val="1680"/>
              </a:lnSpc>
              <a:buNone/>
            </a:pPr>
            <a:r>
              <a:rPr lang="en-US" sz="1200" dirty="0">
                <a:solidFill>
                  <a:srgbClr val="1F4E91"/>
                </a:solidFill>
                <a:latin typeface="IBM Plex Sans" pitchFamily="34" charset="0"/>
                <a:ea typeface="IBM Plex Sans" pitchFamily="34" charset="-122"/>
                <a:cs typeface="IBM Plex Sans" pitchFamily="34" charset="-120"/>
              </a:rPr>
              <a:t>TextField</a:t>
            </a:r>
            <a:endParaRPr lang="en-US" sz="1200" dirty="0"/>
          </a:p>
        </p:txBody>
      </p:sp>
      <p:sp>
        <p:nvSpPr>
          <p:cNvPr id="13" name="Text 11"/>
          <p:cNvSpPr/>
          <p:nvPr/>
        </p:nvSpPr>
        <p:spPr>
          <a:xfrm>
            <a:off x="812800" y="4381500"/>
            <a:ext cx="4445000" cy="701040"/>
          </a:xfrm>
          <a:prstGeom prst="roundRect">
            <a:avLst>
              <a:gd name="adj" fmla="val 7246"/>
            </a:avLst>
          </a:prstGeom>
          <a:solidFill>
            <a:srgbClr val="FBF0D9"/>
          </a:solidFill>
          <a:ln/>
        </p:spPr>
        <p:txBody>
          <a:bodyPr wrap="square" lIns="173081" tIns="86721" rIns="14382" bIns="61321" rtlCol="0" anchor="t">
            <a:normAutofit/>
          </a:bodyPr>
          <a:lstStyle/>
          <a:p>
            <a:pPr algn="l"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Ejecuta siempre </a:t>
            </a:r>
            <a:r>
              <a:rPr lang="en-US" sz="1400" b="1" dirty="0">
                <a:solidFill>
                  <a:srgbClr val="172033"/>
                </a:solidFill>
                <a:latin typeface="IBM Plex Sans" pitchFamily="34" charset="0"/>
                <a:ea typeface="IBM Plex Sans" pitchFamily="34" charset="-122"/>
                <a:cs typeface="IBM Plex Sans" pitchFamily="34" charset="-120"/>
              </a:rPr>
              <a:t>Main</a:t>
            </a:r>
            <a:r>
              <a:rPr lang="en-US" sz="1400" dirty="0">
                <a:solidFill>
                  <a:srgbClr val="172033"/>
                </a:solidFill>
                <a:latin typeface="IBM Plex Sans" pitchFamily="34" charset="0"/>
                <a:ea typeface="IBM Plex Sans" pitchFamily="34" charset="-122"/>
                <a:cs typeface="IBM Plex Sans" pitchFamily="34" charset="-120"/>
              </a:rPr>
              <a:t>. Si ejecutas App desde el IDE: «JavaFX runtime components are missing».</a:t>
            </a:r>
            <a:endParaRPr lang="en-US" sz="1400" dirty="0"/>
          </a:p>
        </p:txBody>
      </p:sp>
      <p:sp>
        <p:nvSpPr>
          <p:cNvPr id="14" name="Shape 12"/>
          <p:cNvSpPr/>
          <p:nvPr/>
        </p:nvSpPr>
        <p:spPr>
          <a:xfrm>
            <a:off x="812800" y="4381500"/>
            <a:ext cx="4445000" cy="701040"/>
          </a:xfrm>
          <a:custGeom>
            <a:avLst/>
            <a:gdLst/>
            <a:ahLst/>
            <a:cxnLst/>
            <a:rect l="l" t="t" r="r" b="b"/>
            <a:pathLst>
              <a:path w="4445000" h="701040">
                <a:moveTo>
                  <a:pt x="50800" y="701040"/>
                </a:moveTo>
                <a:lnTo>
                  <a:pt x="50800" y="701040"/>
                </a:lnTo>
                <a:arcTo hR="50800" wR="50800" stAng="5400000" swAng="5400000"/>
                <a:lnTo>
                  <a:pt x="0" y="50800"/>
                </a:lnTo>
                <a:arcTo hR="50800" wR="50800" stAng="10800000" swAng="5400000"/>
                <a:lnTo>
                  <a:pt x="50800" y="0"/>
                </a:lnTo>
                <a:arcTo hR="50800" wR="12700" stAng="16200000" swAng="-5400000"/>
                <a:lnTo>
                  <a:pt x="38100" y="650240"/>
                </a:lnTo>
                <a:arcTo hR="50800" wR="12700" stAng="10800000" swAng="-5400000"/>
                <a:close/>
              </a:path>
            </a:pathLst>
          </a:custGeom>
          <a:solidFill>
            <a:srgbClr val="B0601A"/>
          </a:solidFill>
          <a:ln/>
        </p:spPr>
      </p:sp>
      <p:sp>
        <p:nvSpPr>
          <p:cNvPr id="15" name="Text 13"/>
          <p:cNvSpPr/>
          <p:nvPr/>
        </p:nvSpPr>
        <p:spPr>
          <a:xfrm>
            <a:off x="5562600" y="1879600"/>
            <a:ext cx="5816600" cy="3500120"/>
          </a:xfrm>
          <a:prstGeom prst="roundRect">
            <a:avLst>
              <a:gd name="adj" fmla="val 2903"/>
            </a:avLst>
          </a:prstGeom>
          <a:solidFill>
            <a:srgbClr val="1C2333"/>
          </a:solidFill>
          <a:ln/>
        </p:spPr>
        <p:txBody>
          <a:bodyPr wrap="none" lIns="198842" tIns="173442" rIns="38060" bIns="148042" rtlCol="0" anchor="t">
            <a:normAutofit/>
          </a:bodyPr>
          <a:lstStyle/>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public class Main {</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public static void main(String[] args) {</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Application.launch(App.class, args);</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public class App extends Application {</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@Override</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public void start(Stage ventana) {</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a:t>
            </a:r>
            <a:r>
              <a:rPr lang="en-US" sz="1200" dirty="0">
                <a:solidFill>
                  <a:srgbClr val="8C97AB"/>
                </a:solidFill>
                <a:latin typeface="JetBrains Mono" pitchFamily="49" charset="0"/>
                <a:ea typeface="JetBrains Mono" pitchFamily="49" charset="-122"/>
                <a:cs typeface="JetBrains Mono" pitchFamily="49" charset="-120"/>
              </a:rPr>
              <a:t>// crear modelo, vista y controlador</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ventana.setScene(new Scene(vista));</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ventana.show();</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a:t>
            </a:r>
            <a:endParaRPr lang="en-US" sz="1200" dirty="0"/>
          </a:p>
        </p:txBody>
      </p:sp>
      <p:sp>
        <p:nvSpPr>
          <p:cNvPr id="16" name="Text 14"/>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El patrón MVC en JavaFX · Desarrollo de Interfaces · 2º DAM</a:t>
            </a:r>
            <a:endParaRPr lang="en-US" sz="1200" dirty="0"/>
          </a:p>
        </p:txBody>
      </p:sp>
      <p:sp>
        <p:nvSpPr>
          <p:cNvPr id="17" name="Text 15"/>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10 / 22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2033"/>
        </a:solidFill>
      </p:bgPr>
    </p:bg>
    <p:spTree>
      <p:nvGrpSpPr>
        <p:cNvPr id="1" name=""/>
        <p:cNvGrpSpPr/>
        <p:nvPr/>
      </p:nvGrpSpPr>
      <p:grpSpPr>
        <a:xfrm>
          <a:off x="0" y="0"/>
          <a:ext cx="0" cy="0"/>
          <a:chOff x="0" y="0"/>
          <a:chExt cx="0" cy="0"/>
        </a:xfrm>
      </p:grpSpPr>
      <p:sp>
        <p:nvSpPr>
          <p:cNvPr id="2" name="Text 0"/>
          <p:cNvSpPr/>
          <p:nvPr/>
        </p:nvSpPr>
        <p:spPr>
          <a:xfrm>
            <a:off x="812800" y="2134871"/>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9AA6BA"/>
                </a:solidFill>
                <a:latin typeface="IBM Plex Sans" pitchFamily="34" charset="0"/>
                <a:ea typeface="IBM Plex Sans" pitchFamily="34" charset="-122"/>
                <a:cs typeface="IBM Plex Sans" pitchFamily="34" charset="-120"/>
              </a:rPr>
              <a:t>PARTE 2</a:t>
            </a:r>
            <a:endParaRPr lang="en-US" sz="1400" dirty="0"/>
          </a:p>
        </p:txBody>
      </p:sp>
      <p:sp>
        <p:nvSpPr>
          <p:cNvPr id="3" name="Text 1"/>
          <p:cNvSpPr/>
          <p:nvPr>
            <p:ph type="title"/>
          </p:nvPr>
        </p:nvSpPr>
        <p:spPr>
          <a:xfrm>
            <a:off x="812800" y="2637792"/>
            <a:ext cx="10883392" cy="718820"/>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7F6F2"/>
                </a:solidFill>
                <a:latin typeface="IBM Plex Sans" pitchFamily="34" charset="0"/>
                <a:ea typeface="IBM Plex Sans" pitchFamily="34" charset="-122"/>
                <a:cs typeface="IBM Plex Sans" pitchFamily="34" charset="-120"/>
              </a:rPr>
              <a:t>Ejemplos resueltos</a:t>
            </a:r>
            <a:endParaRPr lang="en-US" sz="5200" dirty="0"/>
          </a:p>
        </p:txBody>
      </p:sp>
      <p:sp>
        <p:nvSpPr>
          <p:cNvPr id="4" name="Text 2"/>
          <p:cNvSpPr/>
          <p:nvPr/>
        </p:nvSpPr>
        <p:spPr>
          <a:xfrm>
            <a:off x="812800" y="3585214"/>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C8D6"/>
                </a:solidFill>
                <a:latin typeface="IBM Plex Sans" pitchFamily="34" charset="0"/>
                <a:ea typeface="IBM Plex Sans" pitchFamily="34" charset="-122"/>
                <a:cs typeface="IBM Plex Sans" pitchFamily="34" charset="-120"/>
              </a:rPr>
              <a:t>Cinco ejemplos del proyecto mvc-javafx, de menos a más</a:t>
            </a:r>
            <a:endParaRPr lang="en-US" sz="1600" dirty="0"/>
          </a:p>
        </p:txBody>
      </p:sp>
      <p:sp>
        <p:nvSpPr>
          <p:cNvPr id="5" name="Text 3"/>
          <p:cNvSpPr/>
          <p:nvPr/>
        </p:nvSpPr>
        <p:spPr>
          <a:xfrm>
            <a:off x="819150" y="4130042"/>
            <a:ext cx="1348105" cy="383540"/>
          </a:xfrm>
          <a:prstGeom prst="roundRect">
            <a:avLst>
              <a:gd name="adj" fmla="val 50000"/>
            </a:avLst>
          </a:prstGeom>
          <a:noFill/>
          <a:ln w="12700">
            <a:solidFill>
              <a:srgbClr val="4A5878"/>
            </a:solidFill>
            <a:prstDash val="solid"/>
          </a:ln>
        </p:spPr>
        <p:txBody>
          <a:bodyPr wrap="none" lIns="0" tIns="0" rIns="0" bIns="0" rtlCol="0" anchor="ctr">
            <a:normAutofit/>
          </a:bodyPr>
          <a:lstStyle/>
          <a:p>
            <a:pPr algn="ctr" indent="0" marL="0">
              <a:lnSpc>
                <a:spcPts val="1960"/>
              </a:lnSpc>
              <a:buNone/>
            </a:pPr>
            <a:r>
              <a:rPr lang="en-US" sz="1400" dirty="0">
                <a:solidFill>
                  <a:srgbClr val="F7F6F2"/>
                </a:solidFill>
                <a:latin typeface="IBM Plex Sans" pitchFamily="34" charset="0"/>
                <a:ea typeface="IBM Plex Sans" pitchFamily="34" charset="-122"/>
                <a:cs typeface="IBM Plex Sans" pitchFamily="34" charset="-120"/>
              </a:rPr>
              <a:t>1 · Contador</a:t>
            </a:r>
            <a:endParaRPr lang="en-US" sz="1400" dirty="0"/>
          </a:p>
        </p:txBody>
      </p:sp>
      <p:sp>
        <p:nvSpPr>
          <p:cNvPr id="6" name="Text 4"/>
          <p:cNvSpPr/>
          <p:nvPr/>
        </p:nvSpPr>
        <p:spPr>
          <a:xfrm>
            <a:off x="2281555" y="4130042"/>
            <a:ext cx="2265918" cy="383540"/>
          </a:xfrm>
          <a:prstGeom prst="roundRect">
            <a:avLst>
              <a:gd name="adj" fmla="val 50000"/>
            </a:avLst>
          </a:prstGeom>
          <a:noFill/>
          <a:ln w="12700">
            <a:solidFill>
              <a:srgbClr val="4A5878"/>
            </a:solidFill>
            <a:prstDash val="solid"/>
          </a:ln>
        </p:spPr>
        <p:txBody>
          <a:bodyPr wrap="none" lIns="0" tIns="0" rIns="0" bIns="0" rtlCol="0" anchor="ctr">
            <a:normAutofit/>
          </a:bodyPr>
          <a:lstStyle/>
          <a:p>
            <a:pPr algn="ctr" indent="0" marL="0">
              <a:lnSpc>
                <a:spcPts val="1960"/>
              </a:lnSpc>
              <a:buNone/>
            </a:pPr>
            <a:r>
              <a:rPr lang="en-US" sz="1400" dirty="0">
                <a:solidFill>
                  <a:srgbClr val="F7F6F2"/>
                </a:solidFill>
                <a:latin typeface="IBM Plex Sans" pitchFamily="34" charset="0"/>
                <a:ea typeface="IBM Plex Sans" pitchFamily="34" charset="-122"/>
                <a:cs typeface="IBM Plex Sans" pitchFamily="34" charset="-120"/>
              </a:rPr>
              <a:t>1b · Contador con FXML</a:t>
            </a:r>
            <a:endParaRPr lang="en-US" sz="1400" dirty="0"/>
          </a:p>
        </p:txBody>
      </p:sp>
      <p:sp>
        <p:nvSpPr>
          <p:cNvPr id="7" name="Text 5"/>
          <p:cNvSpPr/>
          <p:nvPr/>
        </p:nvSpPr>
        <p:spPr>
          <a:xfrm>
            <a:off x="4661773" y="4130042"/>
            <a:ext cx="1037987" cy="383540"/>
          </a:xfrm>
          <a:prstGeom prst="roundRect">
            <a:avLst>
              <a:gd name="adj" fmla="val 50000"/>
            </a:avLst>
          </a:prstGeom>
          <a:noFill/>
          <a:ln w="12700">
            <a:solidFill>
              <a:srgbClr val="4A5878"/>
            </a:solidFill>
            <a:prstDash val="solid"/>
          </a:ln>
        </p:spPr>
        <p:txBody>
          <a:bodyPr wrap="none" lIns="0" tIns="0" rIns="0" bIns="0" rtlCol="0" anchor="ctr">
            <a:normAutofit/>
          </a:bodyPr>
          <a:lstStyle/>
          <a:p>
            <a:pPr algn="ctr" indent="0" marL="0">
              <a:lnSpc>
                <a:spcPts val="1960"/>
              </a:lnSpc>
              <a:buNone/>
            </a:pPr>
            <a:r>
              <a:rPr lang="en-US" sz="1400" dirty="0">
                <a:solidFill>
                  <a:srgbClr val="F7F6F2"/>
                </a:solidFill>
                <a:latin typeface="IBM Plex Sans" pitchFamily="34" charset="0"/>
                <a:ea typeface="IBM Plex Sans" pitchFamily="34" charset="-122"/>
                <a:cs typeface="IBM Plex Sans" pitchFamily="34" charset="-120"/>
              </a:rPr>
              <a:t>2 · Login</a:t>
            </a:r>
            <a:endParaRPr lang="en-US" sz="1400" dirty="0"/>
          </a:p>
        </p:txBody>
      </p:sp>
      <p:sp>
        <p:nvSpPr>
          <p:cNvPr id="8" name="Text 6"/>
          <p:cNvSpPr/>
          <p:nvPr/>
        </p:nvSpPr>
        <p:spPr>
          <a:xfrm>
            <a:off x="5814060" y="4130042"/>
            <a:ext cx="2063750" cy="383540"/>
          </a:xfrm>
          <a:prstGeom prst="roundRect">
            <a:avLst>
              <a:gd name="adj" fmla="val 50000"/>
            </a:avLst>
          </a:prstGeom>
          <a:noFill/>
          <a:ln w="12700">
            <a:solidFill>
              <a:srgbClr val="4A5878"/>
            </a:solidFill>
            <a:prstDash val="solid"/>
          </a:ln>
        </p:spPr>
        <p:txBody>
          <a:bodyPr wrap="none" lIns="0" tIns="0" rIns="0" bIns="0" rtlCol="0" anchor="ctr">
            <a:normAutofit/>
          </a:bodyPr>
          <a:lstStyle/>
          <a:p>
            <a:pPr algn="ctr" indent="0" marL="0">
              <a:lnSpc>
                <a:spcPts val="1960"/>
              </a:lnSpc>
              <a:buNone/>
            </a:pPr>
            <a:r>
              <a:rPr lang="en-US" sz="1400" dirty="0">
                <a:solidFill>
                  <a:srgbClr val="F7F6F2"/>
                </a:solidFill>
                <a:latin typeface="IBM Plex Sans" pitchFamily="34" charset="0"/>
                <a:ea typeface="IBM Plex Sans" pitchFamily="34" charset="-122"/>
                <a:cs typeface="IBM Plex Sans" pitchFamily="34" charset="-120"/>
              </a:rPr>
              <a:t>3 · Lista de la compra</a:t>
            </a:r>
            <a:endParaRPr lang="en-US" sz="1400" dirty="0"/>
          </a:p>
        </p:txBody>
      </p:sp>
      <p:sp>
        <p:nvSpPr>
          <p:cNvPr id="9" name="Text 7"/>
          <p:cNvSpPr/>
          <p:nvPr/>
        </p:nvSpPr>
        <p:spPr>
          <a:xfrm>
            <a:off x="7992110" y="4130042"/>
            <a:ext cx="1425813" cy="383540"/>
          </a:xfrm>
          <a:prstGeom prst="roundRect">
            <a:avLst>
              <a:gd name="adj" fmla="val 50000"/>
            </a:avLst>
          </a:prstGeom>
          <a:noFill/>
          <a:ln w="12700">
            <a:solidFill>
              <a:srgbClr val="4A5878"/>
            </a:solidFill>
            <a:prstDash val="solid"/>
          </a:ln>
        </p:spPr>
        <p:txBody>
          <a:bodyPr wrap="none" lIns="0" tIns="0" rIns="0" bIns="0" rtlCol="0" anchor="ctr">
            <a:normAutofit/>
          </a:bodyPr>
          <a:lstStyle/>
          <a:p>
            <a:pPr algn="ctr" indent="0" marL="0">
              <a:lnSpc>
                <a:spcPts val="1960"/>
              </a:lnSpc>
              <a:buNone/>
            </a:pPr>
            <a:r>
              <a:rPr lang="en-US" sz="1400" dirty="0">
                <a:solidFill>
                  <a:srgbClr val="F7F6F2"/>
                </a:solidFill>
                <a:latin typeface="IBM Plex Sans" pitchFamily="34" charset="0"/>
                <a:ea typeface="IBM Plex Sans" pitchFamily="34" charset="-122"/>
                <a:cs typeface="IBM Plex Sans" pitchFamily="34" charset="-120"/>
              </a:rPr>
              <a:t>4 · TableView</a:t>
            </a:r>
            <a:endParaRPr lang="en-US" sz="1400" dirty="0"/>
          </a:p>
        </p:txBody>
      </p:sp>
      <p:sp>
        <p:nvSpPr>
          <p:cNvPr id="10" name="Text 8"/>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6BA"/>
                </a:solidFill>
                <a:latin typeface="IBM Plex Sans" pitchFamily="34" charset="0"/>
                <a:ea typeface="IBM Plex Sans" pitchFamily="34" charset="-122"/>
                <a:cs typeface="IBM Plex Sans" pitchFamily="34" charset="-120"/>
              </a:rPr>
              <a:t>El patrón MVC en JavaFX · Desarrollo de Interfaces · 2º DAM</a:t>
            </a:r>
            <a:endParaRPr lang="en-US" sz="1200" dirty="0"/>
          </a:p>
        </p:txBody>
      </p:sp>
      <p:sp>
        <p:nvSpPr>
          <p:cNvPr id="11" name="Text 9"/>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6BA"/>
                </a:solidFill>
                <a:latin typeface="IBM Plex Sans" pitchFamily="34" charset="0"/>
                <a:ea typeface="IBM Plex Sans" pitchFamily="34" charset="-122"/>
                <a:cs typeface="IBM Plex Sans" pitchFamily="34" charset="-120"/>
              </a:rPr>
              <a:t>11 / 22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6A80"/>
                </a:solidFill>
                <a:latin typeface="IBM Plex Sans" pitchFamily="34" charset="0"/>
                <a:ea typeface="IBM Plex Sans" pitchFamily="34" charset="-122"/>
                <a:cs typeface="IBM Plex Sans" pitchFamily="34" charset="-120"/>
              </a:rPr>
              <a:t>PARTE 2 · EJEMPLOS · EJEMPLO 1</a:t>
            </a:r>
            <a:endParaRPr lang="en-US" sz="1200" dirty="0"/>
          </a:p>
        </p:txBody>
      </p:sp>
      <p:sp>
        <p:nvSpPr>
          <p:cNvPr id="3" name="Text 1"/>
          <p:cNvSpPr/>
          <p:nvPr>
            <p:ph type="title"/>
          </p:nvPr>
        </p:nvSpPr>
        <p:spPr>
          <a:xfrm>
            <a:off x="812800" y="1229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33"/>
                </a:solidFill>
                <a:latin typeface="IBM Plex Sans" pitchFamily="34" charset="0"/>
                <a:ea typeface="IBM Plex Sans" pitchFamily="34" charset="-122"/>
                <a:cs typeface="IBM Plex Sans" pitchFamily="34" charset="-120"/>
              </a:rPr>
              <a:t>Contador: modelo y vista</a:t>
            </a:r>
            <a:endParaRPr lang="en-US" sz="3200" dirty="0"/>
          </a:p>
        </p:txBody>
      </p:sp>
      <p:sp>
        <p:nvSpPr>
          <p:cNvPr id="4" name="Text 2"/>
          <p:cNvSpPr/>
          <p:nvPr/>
        </p:nvSpPr>
        <p:spPr>
          <a:xfrm>
            <a:off x="812800" y="1879600"/>
            <a:ext cx="457835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7D4F"/>
                </a:solidFill>
                <a:latin typeface="IBM Plex Sans" pitchFamily="34" charset="0"/>
                <a:ea typeface="IBM Plex Sans" pitchFamily="34" charset="-122"/>
                <a:cs typeface="IBM Plex Sans" pitchFamily="34" charset="-120"/>
              </a:rPr>
              <a:t>MODELO · Contador.java</a:t>
            </a:r>
            <a:endParaRPr lang="en-US" sz="1200" dirty="0"/>
          </a:p>
        </p:txBody>
      </p:sp>
      <p:sp>
        <p:nvSpPr>
          <p:cNvPr id="5" name="Text 3"/>
          <p:cNvSpPr/>
          <p:nvPr/>
        </p:nvSpPr>
        <p:spPr>
          <a:xfrm>
            <a:off x="812800" y="2169164"/>
            <a:ext cx="4445000" cy="1988820"/>
          </a:xfrm>
          <a:prstGeom prst="roundRect">
            <a:avLst>
              <a:gd name="adj" fmla="val 5109"/>
            </a:avLst>
          </a:prstGeom>
          <a:solidFill>
            <a:srgbClr val="1C2333"/>
          </a:solidFill>
          <a:ln/>
        </p:spPr>
        <p:txBody>
          <a:bodyPr wrap="none" lIns="198842" tIns="209002" rIns="79208" bIns="148042" rtlCol="0" anchor="t">
            <a:normAutofit/>
          </a:bodyPr>
          <a:lstStyle/>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public class Contador {</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private int valor;</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public void incrementar() { valor++; }</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public void reiniciar() { valor = 0; }</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public int getValor() { return valor; }</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a:t>
            </a:r>
            <a:endParaRPr lang="en-US" sz="1200" dirty="0"/>
          </a:p>
        </p:txBody>
      </p:sp>
      <p:sp>
        <p:nvSpPr>
          <p:cNvPr id="6" name="Shape 4"/>
          <p:cNvSpPr/>
          <p:nvPr/>
        </p:nvSpPr>
        <p:spPr>
          <a:xfrm>
            <a:off x="812800" y="2169164"/>
            <a:ext cx="4445000" cy="1988820"/>
          </a:xfrm>
          <a:custGeom>
            <a:avLst/>
            <a:gdLst/>
            <a:ahLst/>
            <a:cxnLst/>
            <a:rect l="l" t="t" r="r" b="b"/>
            <a:pathLst>
              <a:path w="4445000" h="1988820">
                <a:moveTo>
                  <a:pt x="0" y="101600"/>
                </a:moveTo>
                <a:lnTo>
                  <a:pt x="0" y="101600"/>
                </a:lnTo>
                <a:arcTo hR="101600" wR="101600" stAng="10800000" swAng="5400000"/>
                <a:lnTo>
                  <a:pt x="4343400" y="0"/>
                </a:lnTo>
                <a:arcTo hR="101600" wR="101600" stAng="16200000" swAng="5400000"/>
                <a:lnTo>
                  <a:pt x="4445000" y="101600"/>
                </a:lnTo>
                <a:arcTo hR="63500" wR="101600" stAng="0" swAng="-5400000"/>
                <a:lnTo>
                  <a:pt x="101600" y="38100"/>
                </a:lnTo>
                <a:arcTo hR="63500" wR="101600" stAng="16200000" swAng="-5400000"/>
                <a:close/>
              </a:path>
            </a:pathLst>
          </a:custGeom>
          <a:solidFill>
            <a:srgbClr val="4FAE78"/>
          </a:solidFill>
          <a:ln/>
        </p:spPr>
      </p:sp>
      <p:sp>
        <p:nvSpPr>
          <p:cNvPr id="7" name="Text 5"/>
          <p:cNvSpPr/>
          <p:nvPr/>
        </p:nvSpPr>
        <p:spPr>
          <a:xfrm>
            <a:off x="5562600" y="1879600"/>
            <a:ext cx="599109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5EA8"/>
                </a:solidFill>
                <a:latin typeface="IBM Plex Sans" pitchFamily="34" charset="0"/>
                <a:ea typeface="IBM Plex Sans" pitchFamily="34" charset="-122"/>
                <a:cs typeface="IBM Plex Sans" pitchFamily="34" charset="-120"/>
              </a:rPr>
              <a:t>VISTA · VistaContador.java</a:t>
            </a:r>
            <a:endParaRPr lang="en-US" sz="1200" dirty="0"/>
          </a:p>
        </p:txBody>
      </p:sp>
      <p:sp>
        <p:nvSpPr>
          <p:cNvPr id="8" name="Text 6"/>
          <p:cNvSpPr/>
          <p:nvPr/>
        </p:nvSpPr>
        <p:spPr>
          <a:xfrm>
            <a:off x="5562600" y="2169164"/>
            <a:ext cx="5816600" cy="2872740"/>
          </a:xfrm>
          <a:prstGeom prst="roundRect">
            <a:avLst>
              <a:gd name="adj" fmla="val 3537"/>
            </a:avLst>
          </a:prstGeom>
          <a:solidFill>
            <a:srgbClr val="1C2333"/>
          </a:solidFill>
          <a:ln/>
        </p:spPr>
        <p:txBody>
          <a:bodyPr wrap="none" lIns="198842" tIns="209002" rIns="38060" bIns="148042" rtlCol="0" anchor="t">
            <a:normAutofit/>
          </a:bodyPr>
          <a:lstStyle/>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public class VistaContador extends BorderPane {</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private final Label lblValor = new Label("0");</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private final Button btnIncrementar = new Button("+");</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private final Button btnReset = new Button("Reset");</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public void mostrar(int valor) {</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lblValor.setText(String.valueOf(valor));</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public void alPulsarIncrementar(Runnable accion) {</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btnIncrementar.setOnAction(e -&gt; accion.run());</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a:t>
            </a:r>
            <a:endParaRPr lang="en-US" sz="1200" dirty="0"/>
          </a:p>
        </p:txBody>
      </p:sp>
      <p:sp>
        <p:nvSpPr>
          <p:cNvPr id="9" name="Shape 7"/>
          <p:cNvSpPr/>
          <p:nvPr/>
        </p:nvSpPr>
        <p:spPr>
          <a:xfrm>
            <a:off x="5562600" y="2169164"/>
            <a:ext cx="5816600" cy="2872740"/>
          </a:xfrm>
          <a:custGeom>
            <a:avLst/>
            <a:gdLst/>
            <a:ahLst/>
            <a:cxnLst/>
            <a:rect l="l" t="t" r="r" b="b"/>
            <a:pathLst>
              <a:path w="5816600" h="2872740">
                <a:moveTo>
                  <a:pt x="0" y="101600"/>
                </a:moveTo>
                <a:lnTo>
                  <a:pt x="0" y="101600"/>
                </a:lnTo>
                <a:arcTo hR="101600" wR="101600" stAng="10800000" swAng="5400000"/>
                <a:lnTo>
                  <a:pt x="5715000" y="0"/>
                </a:lnTo>
                <a:arcTo hR="101600" wR="101600" stAng="16200000" swAng="5400000"/>
                <a:lnTo>
                  <a:pt x="5816600" y="101600"/>
                </a:lnTo>
                <a:arcTo hR="63500" wR="101600" stAng="0" swAng="-5400000"/>
                <a:lnTo>
                  <a:pt x="101600" y="38100"/>
                </a:lnTo>
                <a:arcTo hR="63500" wR="101600" stAng="16200000" swAng="-5400000"/>
                <a:close/>
              </a:path>
            </a:pathLst>
          </a:custGeom>
          <a:solidFill>
            <a:srgbClr val="5B8FDB"/>
          </a:solidFill>
          <a:ln/>
        </p:spPr>
      </p:sp>
      <p:sp>
        <p:nvSpPr>
          <p:cNvPr id="10" name="Text 8"/>
          <p:cNvSpPr/>
          <p:nvPr/>
        </p:nvSpPr>
        <p:spPr>
          <a:xfrm>
            <a:off x="812800" y="52451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El modelo no importa nada de JavaFX. La vista no tiene ni un if ni un cálculo.</a:t>
            </a:r>
            <a:endParaRPr lang="en-US" sz="1400" dirty="0"/>
          </a:p>
        </p:txBody>
      </p:sp>
      <p:sp>
        <p:nvSpPr>
          <p:cNvPr id="11" name="Text 9"/>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El patrón MVC en JavaFX · Desarrollo de Interfaces · 2º DAM</a:t>
            </a:r>
            <a:endParaRPr lang="en-US" sz="1200" dirty="0"/>
          </a:p>
        </p:txBody>
      </p:sp>
      <p:sp>
        <p:nvSpPr>
          <p:cNvPr id="12" name="Text 10"/>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12 / 22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6A80"/>
                </a:solidFill>
                <a:latin typeface="IBM Plex Sans" pitchFamily="34" charset="0"/>
                <a:ea typeface="IBM Plex Sans" pitchFamily="34" charset="-122"/>
                <a:cs typeface="IBM Plex Sans" pitchFamily="34" charset="-120"/>
              </a:rPr>
              <a:t>PARTE 2 · EJEMPLOS · EJEMPLO 1</a:t>
            </a:r>
            <a:endParaRPr lang="en-US" sz="1200" dirty="0"/>
          </a:p>
        </p:txBody>
      </p:sp>
      <p:sp>
        <p:nvSpPr>
          <p:cNvPr id="3" name="Text 1"/>
          <p:cNvSpPr/>
          <p:nvPr>
            <p:ph type="title"/>
          </p:nvPr>
        </p:nvSpPr>
        <p:spPr>
          <a:xfrm>
            <a:off x="812800" y="1229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33"/>
                </a:solidFill>
                <a:latin typeface="IBM Plex Sans" pitchFamily="34" charset="0"/>
                <a:ea typeface="IBM Plex Sans" pitchFamily="34" charset="-122"/>
                <a:cs typeface="IBM Plex Sans" pitchFamily="34" charset="-120"/>
              </a:rPr>
              <a:t>Contador: controlador y arranque</a:t>
            </a:r>
            <a:endParaRPr lang="en-US" sz="3200" dirty="0"/>
          </a:p>
        </p:txBody>
      </p:sp>
      <p:sp>
        <p:nvSpPr>
          <p:cNvPr id="4" name="Text 2"/>
          <p:cNvSpPr/>
          <p:nvPr/>
        </p:nvSpPr>
        <p:spPr>
          <a:xfrm>
            <a:off x="812800" y="1879600"/>
            <a:ext cx="5270500" cy="3855720"/>
          </a:xfrm>
          <a:prstGeom prst="roundRect">
            <a:avLst>
              <a:gd name="adj" fmla="val 2635"/>
            </a:avLst>
          </a:prstGeom>
          <a:solidFill>
            <a:srgbClr val="1C2333"/>
          </a:solidFill>
          <a:ln/>
        </p:spPr>
        <p:txBody>
          <a:bodyPr wrap="none" lIns="173442" tIns="209002" rIns="27519" bIns="148042" rtlCol="0" anchor="t">
            <a:normAutofit/>
          </a:bodyPr>
          <a:lstStyle/>
          <a:p>
            <a:pPr algn="l" indent="0" marL="0">
              <a:lnSpc>
                <a:spcPts val="1680"/>
              </a:lnSpc>
              <a:buNone/>
            </a:pPr>
            <a:r>
              <a:rPr lang="en-US" sz="1200" dirty="0">
                <a:solidFill>
                  <a:srgbClr val="E6E9F0"/>
                </a:solidFill>
                <a:latin typeface="JetBrains Mono" pitchFamily="49" charset="0"/>
                <a:ea typeface="JetBrains Mono" pitchFamily="49" charset="-122"/>
                <a:cs typeface="JetBrains Mono" pitchFamily="49" charset="-120"/>
              </a:rPr>
              <a:t>public class ControladorContador {</a:t>
            </a:r>
            <a:endParaRPr lang="en-US" sz="1200" dirty="0"/>
          </a:p>
          <a:p>
            <a:pPr algn="l" indent="0" marL="0">
              <a:lnSpc>
                <a:spcPts val="1680"/>
              </a:lnSpc>
              <a:buNone/>
            </a:pPr>
            <a:r>
              <a:rPr lang="en-US" sz="1200" dirty="0">
                <a:solidFill>
                  <a:srgbClr val="E6E9F0"/>
                </a:solidFill>
                <a:latin typeface="JetBrains Mono" pitchFamily="49" charset="0"/>
                <a:ea typeface="JetBrains Mono" pitchFamily="49" charset="-122"/>
                <a:cs typeface="JetBrains Mono" pitchFamily="49" charset="-120"/>
              </a:rPr>
              <a:t>    public ControladorContador(Contador modelo,</a:t>
            </a:r>
            <a:endParaRPr lang="en-US" sz="1200" dirty="0"/>
          </a:p>
          <a:p>
            <a:pPr algn="l" indent="0" marL="0">
              <a:lnSpc>
                <a:spcPts val="1680"/>
              </a:lnSpc>
              <a:buNone/>
            </a:pPr>
            <a:r>
              <a:rPr lang="en-US" sz="1200" dirty="0">
                <a:solidFill>
                  <a:srgbClr val="E6E9F0"/>
                </a:solidFill>
                <a:latin typeface="JetBrains Mono" pitchFamily="49" charset="0"/>
                <a:ea typeface="JetBrains Mono" pitchFamily="49" charset="-122"/>
                <a:cs typeface="JetBrains Mono" pitchFamily="49" charset="-120"/>
              </a:rPr>
              <a:t>                           VistaContador vista) {</a:t>
            </a:r>
            <a:endParaRPr lang="en-US" sz="1200" dirty="0"/>
          </a:p>
          <a:p>
            <a:pPr algn="l" indent="0" marL="0">
              <a:lnSpc>
                <a:spcPts val="1680"/>
              </a:lnSpc>
              <a:buNone/>
            </a:pPr>
            <a:r>
              <a:rPr lang="en-US" sz="1200" dirty="0">
                <a:solidFill>
                  <a:srgbClr val="E6E9F0"/>
                </a:solidFill>
                <a:latin typeface="JetBrains Mono" pitchFamily="49" charset="0"/>
                <a:ea typeface="JetBrains Mono" pitchFamily="49" charset="-122"/>
                <a:cs typeface="JetBrains Mono" pitchFamily="49" charset="-120"/>
              </a:rPr>
              <a:t>        this.modelo = modelo; this.vista = vista;</a:t>
            </a:r>
            <a:endParaRPr lang="en-US" sz="1200" dirty="0"/>
          </a:p>
          <a:p>
            <a:pPr algn="l" indent="0" marL="0">
              <a:lnSpc>
                <a:spcPts val="1680"/>
              </a:lnSpc>
              <a:buNone/>
            </a:pPr>
            <a:r>
              <a:rPr lang="en-US" sz="1200" dirty="0">
                <a:solidFill>
                  <a:srgbClr val="E6E9F0"/>
                </a:solidFill>
                <a:latin typeface="JetBrains Mono" pitchFamily="49" charset="0"/>
                <a:ea typeface="JetBrains Mono" pitchFamily="49" charset="-122"/>
                <a:cs typeface="JetBrains Mono" pitchFamily="49" charset="-120"/>
              </a:rPr>
              <a:t>        vista.alPulsarIncrementar(() -&gt; incrementar());</a:t>
            </a:r>
            <a:endParaRPr lang="en-US" sz="1200" dirty="0"/>
          </a:p>
          <a:p>
            <a:pPr algn="l" indent="0" marL="0">
              <a:lnSpc>
                <a:spcPts val="1680"/>
              </a:lnSpc>
              <a:buNone/>
            </a:pPr>
            <a:r>
              <a:rPr lang="en-US" sz="1200" dirty="0">
                <a:solidFill>
                  <a:srgbClr val="E6E9F0"/>
                </a:solidFill>
                <a:latin typeface="JetBrains Mono" pitchFamily="49" charset="0"/>
                <a:ea typeface="JetBrains Mono" pitchFamily="49" charset="-122"/>
                <a:cs typeface="JetBrains Mono" pitchFamily="49" charset="-120"/>
              </a:rPr>
              <a:t>        vista.alPulsarReset(() -&gt; reiniciar());</a:t>
            </a:r>
            <a:endParaRPr lang="en-US" sz="1200" dirty="0"/>
          </a:p>
          <a:p>
            <a:pPr algn="l" indent="0" marL="0">
              <a:lnSpc>
                <a:spcPts val="1680"/>
              </a:lnSpc>
              <a:buNone/>
            </a:pPr>
            <a:r>
              <a:rPr lang="en-US" sz="1200" dirty="0">
                <a:solidFill>
                  <a:srgbClr val="E6E9F0"/>
                </a:solidFill>
                <a:latin typeface="JetBrains Mono" pitchFamily="49" charset="0"/>
                <a:ea typeface="JetBrains Mono" pitchFamily="49" charset="-122"/>
                <a:cs typeface="JetBrains Mono" pitchFamily="49" charset="-120"/>
              </a:rPr>
              <a:t>        refrescarVista();      </a:t>
            </a:r>
            <a:r>
              <a:rPr lang="en-US" sz="1200" dirty="0">
                <a:solidFill>
                  <a:srgbClr val="8C97AB"/>
                </a:solidFill>
                <a:latin typeface="JetBrains Mono" pitchFamily="49" charset="0"/>
                <a:ea typeface="JetBrains Mono" pitchFamily="49" charset="-122"/>
                <a:cs typeface="JetBrains Mono" pitchFamily="49" charset="-120"/>
              </a:rPr>
              <a:t>// estado inicial</a:t>
            </a:r>
            <a:endParaRPr lang="en-US" sz="1200" dirty="0"/>
          </a:p>
          <a:p>
            <a:pPr algn="l" indent="0" marL="0">
              <a:lnSpc>
                <a:spcPts val="1680"/>
              </a:lnSpc>
              <a:buNone/>
            </a:pPr>
            <a:r>
              <a:rPr lang="en-US" sz="1200" dirty="0">
                <a:solidFill>
                  <a:srgbClr val="E6E9F0"/>
                </a:solidFill>
                <a:latin typeface="JetBrains Mono" pitchFamily="49" charset="0"/>
                <a:ea typeface="JetBrains Mono" pitchFamily="49" charset="-122"/>
                <a:cs typeface="JetBrains Mono" pitchFamily="49" charset="-120"/>
              </a:rPr>
              <a:t>    }</a:t>
            </a:r>
            <a:endParaRPr lang="en-US" sz="1200" dirty="0"/>
          </a:p>
          <a:p>
            <a:pPr algn="l" indent="0" marL="0">
              <a:lnSpc>
                <a:spcPts val="1680"/>
              </a:lnSpc>
              <a:buNone/>
            </a:pPr>
            <a:r>
              <a:rPr lang="en-US" sz="1200" dirty="0">
                <a:solidFill>
                  <a:srgbClr val="E6E9F0"/>
                </a:solidFill>
                <a:latin typeface="JetBrains Mono" pitchFamily="49" charset="0"/>
                <a:ea typeface="JetBrains Mono" pitchFamily="49" charset="-122"/>
                <a:cs typeface="JetBrains Mono" pitchFamily="49" charset="-120"/>
              </a:rPr>
              <a:t>    private void incrementar() {</a:t>
            </a:r>
            <a:endParaRPr lang="en-US" sz="1200" dirty="0"/>
          </a:p>
          <a:p>
            <a:pPr algn="l" indent="0" marL="0">
              <a:lnSpc>
                <a:spcPts val="1680"/>
              </a:lnSpc>
              <a:buNone/>
            </a:pPr>
            <a:r>
              <a:rPr lang="en-US" sz="1200" dirty="0">
                <a:solidFill>
                  <a:srgbClr val="E6E9F0"/>
                </a:solidFill>
                <a:latin typeface="JetBrains Mono" pitchFamily="49" charset="0"/>
                <a:ea typeface="JetBrains Mono" pitchFamily="49" charset="-122"/>
                <a:cs typeface="JetBrains Mono" pitchFamily="49" charset="-120"/>
              </a:rPr>
              <a:t>        modelo.incrementar();  </a:t>
            </a:r>
            <a:r>
              <a:rPr lang="en-US" sz="1200" dirty="0">
                <a:solidFill>
                  <a:srgbClr val="8FD3A8"/>
                </a:solidFill>
                <a:latin typeface="JetBrains Mono" pitchFamily="49" charset="0"/>
                <a:ea typeface="JetBrains Mono" pitchFamily="49" charset="-122"/>
                <a:cs typeface="JetBrains Mono" pitchFamily="49" charset="-120"/>
              </a:rPr>
              <a:t>// 1) cambiar el modelo</a:t>
            </a:r>
            <a:endParaRPr lang="en-US" sz="1200" dirty="0"/>
          </a:p>
          <a:p>
            <a:pPr algn="l" indent="0" marL="0">
              <a:lnSpc>
                <a:spcPts val="1680"/>
              </a:lnSpc>
              <a:buNone/>
            </a:pPr>
            <a:r>
              <a:rPr lang="en-US" sz="1200" dirty="0">
                <a:solidFill>
                  <a:srgbClr val="E6E9F0"/>
                </a:solidFill>
                <a:latin typeface="JetBrains Mono" pitchFamily="49" charset="0"/>
                <a:ea typeface="JetBrains Mono" pitchFamily="49" charset="-122"/>
                <a:cs typeface="JetBrains Mono" pitchFamily="49" charset="-120"/>
              </a:rPr>
              <a:t>        refrescarVista();      </a:t>
            </a:r>
            <a:r>
              <a:rPr lang="en-US" sz="1200" dirty="0">
                <a:solidFill>
                  <a:srgbClr val="8FB4F0"/>
                </a:solidFill>
                <a:latin typeface="JetBrains Mono" pitchFamily="49" charset="0"/>
                <a:ea typeface="JetBrains Mono" pitchFamily="49" charset="-122"/>
                <a:cs typeface="JetBrains Mono" pitchFamily="49" charset="-120"/>
              </a:rPr>
              <a:t>// 2) actualizar la vista</a:t>
            </a:r>
            <a:endParaRPr lang="en-US" sz="1200" dirty="0"/>
          </a:p>
          <a:p>
            <a:pPr algn="l" indent="0" marL="0">
              <a:lnSpc>
                <a:spcPts val="1680"/>
              </a:lnSpc>
              <a:buNone/>
            </a:pPr>
            <a:r>
              <a:rPr lang="en-US" sz="1200" dirty="0">
                <a:solidFill>
                  <a:srgbClr val="E6E9F0"/>
                </a:solidFill>
                <a:latin typeface="JetBrains Mono" pitchFamily="49" charset="0"/>
                <a:ea typeface="JetBrains Mono" pitchFamily="49" charset="-122"/>
                <a:cs typeface="JetBrains Mono" pitchFamily="49" charset="-120"/>
              </a:rPr>
              <a:t>    }</a:t>
            </a:r>
            <a:endParaRPr lang="en-US" sz="1200" dirty="0"/>
          </a:p>
          <a:p>
            <a:pPr algn="l" indent="0" marL="0">
              <a:lnSpc>
                <a:spcPts val="1680"/>
              </a:lnSpc>
              <a:buNone/>
            </a:pPr>
            <a:r>
              <a:rPr lang="en-US" sz="1200" dirty="0">
                <a:solidFill>
                  <a:srgbClr val="E6E9F0"/>
                </a:solidFill>
                <a:latin typeface="JetBrains Mono" pitchFamily="49" charset="0"/>
                <a:ea typeface="JetBrains Mono" pitchFamily="49" charset="-122"/>
                <a:cs typeface="JetBrains Mono" pitchFamily="49" charset="-120"/>
              </a:rPr>
              <a:t>    private void refrescarVista() {</a:t>
            </a:r>
            <a:endParaRPr lang="en-US" sz="1200" dirty="0"/>
          </a:p>
          <a:p>
            <a:pPr algn="l" indent="0" marL="0">
              <a:lnSpc>
                <a:spcPts val="1680"/>
              </a:lnSpc>
              <a:buNone/>
            </a:pPr>
            <a:r>
              <a:rPr lang="en-US" sz="1200" dirty="0">
                <a:solidFill>
                  <a:srgbClr val="E6E9F0"/>
                </a:solidFill>
                <a:latin typeface="JetBrains Mono" pitchFamily="49" charset="0"/>
                <a:ea typeface="JetBrains Mono" pitchFamily="49" charset="-122"/>
                <a:cs typeface="JetBrains Mono" pitchFamily="49" charset="-120"/>
              </a:rPr>
              <a:t>        vista.mostrar(modelo.getValor());</a:t>
            </a:r>
            <a:endParaRPr lang="en-US" sz="1200" dirty="0"/>
          </a:p>
          <a:p>
            <a:pPr algn="l" indent="0" marL="0">
              <a:lnSpc>
                <a:spcPts val="1680"/>
              </a:lnSpc>
              <a:buNone/>
            </a:pPr>
            <a:r>
              <a:rPr lang="en-US" sz="1200" dirty="0">
                <a:solidFill>
                  <a:srgbClr val="E6E9F0"/>
                </a:solidFill>
                <a:latin typeface="JetBrains Mono" pitchFamily="49" charset="0"/>
                <a:ea typeface="JetBrains Mono" pitchFamily="49" charset="-122"/>
                <a:cs typeface="JetBrains Mono" pitchFamily="49" charset="-120"/>
              </a:rPr>
              <a:t>    }</a:t>
            </a:r>
            <a:endParaRPr lang="en-US" sz="1200" dirty="0"/>
          </a:p>
          <a:p>
            <a:pPr algn="l" indent="0" marL="0">
              <a:lnSpc>
                <a:spcPts val="1680"/>
              </a:lnSpc>
              <a:buNone/>
            </a:pPr>
            <a:r>
              <a:rPr lang="en-US" sz="1200" dirty="0">
                <a:solidFill>
                  <a:srgbClr val="E6E9F0"/>
                </a:solidFill>
                <a:latin typeface="JetBrains Mono" pitchFamily="49" charset="0"/>
                <a:ea typeface="JetBrains Mono" pitchFamily="49" charset="-122"/>
                <a:cs typeface="JetBrains Mono" pitchFamily="49" charset="-120"/>
              </a:rPr>
              <a:t>}</a:t>
            </a:r>
            <a:endParaRPr lang="en-US" sz="1200" dirty="0"/>
          </a:p>
        </p:txBody>
      </p:sp>
      <p:sp>
        <p:nvSpPr>
          <p:cNvPr id="5" name="Shape 3"/>
          <p:cNvSpPr/>
          <p:nvPr/>
        </p:nvSpPr>
        <p:spPr>
          <a:xfrm>
            <a:off x="812800" y="1879600"/>
            <a:ext cx="5270500" cy="3855720"/>
          </a:xfrm>
          <a:custGeom>
            <a:avLst/>
            <a:gdLst/>
            <a:ahLst/>
            <a:cxnLst/>
            <a:rect l="l" t="t" r="r" b="b"/>
            <a:pathLst>
              <a:path w="5270500" h="3855720">
                <a:moveTo>
                  <a:pt x="0" y="101600"/>
                </a:moveTo>
                <a:lnTo>
                  <a:pt x="0" y="101600"/>
                </a:lnTo>
                <a:arcTo hR="101600" wR="101600" stAng="10800000" swAng="5400000"/>
                <a:lnTo>
                  <a:pt x="5168900" y="0"/>
                </a:lnTo>
                <a:arcTo hR="101600" wR="101600" stAng="16200000" swAng="5400000"/>
                <a:lnTo>
                  <a:pt x="5270500" y="101600"/>
                </a:lnTo>
                <a:arcTo hR="63500" wR="101600" stAng="0" swAng="-5400000"/>
                <a:lnTo>
                  <a:pt x="101600" y="38100"/>
                </a:lnTo>
                <a:arcTo hR="63500" wR="101600" stAng="16200000" swAng="-5400000"/>
                <a:close/>
              </a:path>
            </a:pathLst>
          </a:custGeom>
          <a:solidFill>
            <a:srgbClr val="E08A3C"/>
          </a:solidFill>
          <a:ln/>
        </p:spPr>
      </p:sp>
      <p:sp>
        <p:nvSpPr>
          <p:cNvPr id="6" name="Text 4"/>
          <p:cNvSpPr/>
          <p:nvPr/>
        </p:nvSpPr>
        <p:spPr>
          <a:xfrm>
            <a:off x="6388100" y="1879600"/>
            <a:ext cx="514083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A80"/>
                </a:solidFill>
                <a:latin typeface="IBM Plex Sans" pitchFamily="34" charset="0"/>
                <a:ea typeface="IBM Plex Sans" pitchFamily="34" charset="-122"/>
                <a:cs typeface="IBM Plex Sans" pitchFamily="34" charset="-120"/>
              </a:rPr>
              <a:t>APP · start()</a:t>
            </a:r>
            <a:endParaRPr lang="en-US" sz="1200" dirty="0"/>
          </a:p>
        </p:txBody>
      </p:sp>
      <p:sp>
        <p:nvSpPr>
          <p:cNvPr id="7" name="Text 5"/>
          <p:cNvSpPr/>
          <p:nvPr/>
        </p:nvSpPr>
        <p:spPr>
          <a:xfrm>
            <a:off x="6388100" y="2245364"/>
            <a:ext cx="4991100" cy="1239520"/>
          </a:xfrm>
          <a:prstGeom prst="roundRect">
            <a:avLst>
              <a:gd name="adj" fmla="val 8197"/>
            </a:avLst>
          </a:prstGeom>
          <a:solidFill>
            <a:srgbClr val="1C2333"/>
          </a:solidFill>
          <a:ln/>
        </p:spPr>
        <p:txBody>
          <a:bodyPr wrap="none" lIns="173442" tIns="148042" rIns="35901" bIns="122642" rtlCol="0" anchor="t">
            <a:normAutofit/>
          </a:bodyPr>
          <a:lstStyle/>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Contador modelo = new Contador();</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VistaContador vista = new VistaContador();</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new ControladorContador(modelo, vista);</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ventana.setScene(new Scene(vista));</a:t>
            </a:r>
            <a:endParaRPr lang="en-US" sz="1200" dirty="0"/>
          </a:p>
        </p:txBody>
      </p:sp>
      <p:sp>
        <p:nvSpPr>
          <p:cNvPr id="8" name="Text 6"/>
          <p:cNvSpPr/>
          <p:nvPr/>
        </p:nvSpPr>
        <p:spPr>
          <a:xfrm>
            <a:off x="6388100" y="3637279"/>
            <a:ext cx="4991100" cy="853440"/>
          </a:xfrm>
          <a:prstGeom prst="roundRect">
            <a:avLst>
              <a:gd name="adj" fmla="val 11905"/>
            </a:avLst>
          </a:prstGeom>
          <a:solidFill>
            <a:srgbClr val="172033"/>
          </a:solidFill>
          <a:ln/>
        </p:spPr>
        <p:txBody>
          <a:bodyPr wrap="square" lIns="173442" tIns="148042" rIns="35901" bIns="122642" rtlCol="0" anchor="t">
            <a:normAutofit/>
          </a:bodyPr>
          <a:lstStyle/>
          <a:p>
            <a:pPr algn="l" indent="0" marL="0">
              <a:lnSpc>
                <a:spcPts val="1960"/>
              </a:lnSpc>
              <a:buNone/>
            </a:pPr>
            <a:r>
              <a:rPr lang="en-US" sz="1400" b="1" dirty="0">
                <a:solidFill>
                  <a:srgbClr val="F7F6F2"/>
                </a:solidFill>
                <a:latin typeface="IBM Plex Sans" pitchFamily="34" charset="0"/>
                <a:ea typeface="IBM Plex Sans" pitchFamily="34" charset="-122"/>
                <a:cs typeface="IBM Plex Sans" pitchFamily="34" charset="-120"/>
              </a:rPr>
              <a:t>Variante A:</a:t>
            </a:r>
            <a:r>
              <a:rPr lang="en-US" sz="1400" dirty="0">
                <a:solidFill>
                  <a:srgbClr val="F7F6F2"/>
                </a:solidFill>
                <a:latin typeface="IBM Plex Sans" pitchFamily="34" charset="0"/>
                <a:ea typeface="IBM Plex Sans" pitchFamily="34" charset="-122"/>
                <a:cs typeface="IBM Plex Sans" pitchFamily="34" charset="-120"/>
              </a:rPr>
              <a:t> el controlador cambia el modelo y luego refresca la vista.</a:t>
            </a:r>
            <a:endParaRPr lang="en-US" sz="1400" dirty="0"/>
          </a:p>
        </p:txBody>
      </p:sp>
      <p:sp>
        <p:nvSpPr>
          <p:cNvPr id="9" name="Text 7"/>
          <p:cNvSpPr/>
          <p:nvPr/>
        </p:nvSpPr>
        <p:spPr>
          <a:xfrm>
            <a:off x="6388100" y="4643121"/>
            <a:ext cx="514083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App solo crea las tres piezas y las conecta: no tiene lógica.</a:t>
            </a:r>
            <a:endParaRPr lang="en-US" sz="1400" dirty="0"/>
          </a:p>
        </p:txBody>
      </p:sp>
      <p:sp>
        <p:nvSpPr>
          <p:cNvPr id="10" name="Text 8"/>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El patrón MVC en JavaFX · Desarrollo de Interfaces · 2º DAM</a:t>
            </a:r>
            <a:endParaRPr lang="en-US" sz="1200" dirty="0"/>
          </a:p>
        </p:txBody>
      </p:sp>
      <p:sp>
        <p:nvSpPr>
          <p:cNvPr id="11" name="Text 9"/>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13 / 22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6A80"/>
                </a:solidFill>
                <a:latin typeface="IBM Plex Sans" pitchFamily="34" charset="0"/>
                <a:ea typeface="IBM Plex Sans" pitchFamily="34" charset="-122"/>
                <a:cs typeface="IBM Plex Sans" pitchFamily="34" charset="-120"/>
              </a:rPr>
              <a:t>PARTE 2 · EJEMPLOS · EJEMPLO 1B</a:t>
            </a:r>
            <a:endParaRPr lang="en-US" sz="1200" dirty="0"/>
          </a:p>
        </p:txBody>
      </p:sp>
      <p:sp>
        <p:nvSpPr>
          <p:cNvPr id="3" name="Text 1"/>
          <p:cNvSpPr/>
          <p:nvPr>
            <p:ph type="title"/>
          </p:nvPr>
        </p:nvSpPr>
        <p:spPr>
          <a:xfrm>
            <a:off x="812800" y="1229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33"/>
                </a:solidFill>
                <a:latin typeface="IBM Plex Sans" pitchFamily="34" charset="0"/>
                <a:ea typeface="IBM Plex Sans" pitchFamily="34" charset="-122"/>
                <a:cs typeface="IBM Plex Sans" pitchFamily="34" charset="-120"/>
              </a:rPr>
              <a:t>El mismo contador con FXML</a:t>
            </a:r>
            <a:endParaRPr lang="en-US" sz="3200" dirty="0"/>
          </a:p>
        </p:txBody>
      </p:sp>
      <p:sp>
        <p:nvSpPr>
          <p:cNvPr id="4" name="Text 2"/>
          <p:cNvSpPr/>
          <p:nvPr/>
        </p:nvSpPr>
        <p:spPr>
          <a:xfrm>
            <a:off x="812800" y="1879600"/>
            <a:ext cx="52324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5EA8"/>
                </a:solidFill>
                <a:latin typeface="IBM Plex Sans" pitchFamily="34" charset="0"/>
                <a:ea typeface="IBM Plex Sans" pitchFamily="34" charset="-122"/>
                <a:cs typeface="IBM Plex Sans" pitchFamily="34" charset="-120"/>
              </a:rPr>
              <a:t>VISTA · VistaContador.fxml</a:t>
            </a:r>
            <a:endParaRPr lang="en-US" sz="1200" dirty="0"/>
          </a:p>
        </p:txBody>
      </p:sp>
      <p:sp>
        <p:nvSpPr>
          <p:cNvPr id="5" name="Text 3"/>
          <p:cNvSpPr/>
          <p:nvPr/>
        </p:nvSpPr>
        <p:spPr>
          <a:xfrm>
            <a:off x="812800" y="2169164"/>
            <a:ext cx="5080000" cy="2872740"/>
          </a:xfrm>
          <a:prstGeom prst="roundRect">
            <a:avLst>
              <a:gd name="adj" fmla="val 3537"/>
            </a:avLst>
          </a:prstGeom>
          <a:solidFill>
            <a:srgbClr val="1C2333"/>
          </a:solidFill>
          <a:ln/>
        </p:spPr>
        <p:txBody>
          <a:bodyPr wrap="none" lIns="173442" tIns="209002" rIns="33234" bIns="148042" rtlCol="0" anchor="t">
            <a:normAutofit/>
          </a:bodyPr>
          <a:lstStyle/>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&lt;BorderPane </a:t>
            </a:r>
            <a:r>
              <a:rPr lang="en-US" sz="1200" dirty="0">
                <a:solidFill>
                  <a:srgbClr val="F2B880"/>
                </a:solidFill>
                <a:latin typeface="JetBrains Mono" pitchFamily="49" charset="0"/>
                <a:ea typeface="JetBrains Mono" pitchFamily="49" charset="-122"/>
                <a:cs typeface="JetBrains Mono" pitchFamily="49" charset="-120"/>
              </a:rPr>
              <a:t>fx:controller</a:t>
            </a:r>
            <a:r>
              <a:rPr lang="en-US" sz="1200" dirty="0">
                <a:solidFill>
                  <a:srgbClr val="E6E9F0"/>
                </a:solidFill>
                <a:latin typeface="JetBrains Mono" pitchFamily="49" charset="0"/>
                <a:ea typeface="JetBrains Mono" pitchFamily="49" charset="-122"/>
                <a:cs typeface="JetBrains Mono" pitchFamily="49" charset="-120"/>
              </a:rPr>
              <a:t>="…ControladorContador"&gt;</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&lt;center&gt;</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&lt;Label </a:t>
            </a:r>
            <a:r>
              <a:rPr lang="en-US" sz="1200" dirty="0">
                <a:solidFill>
                  <a:srgbClr val="F2B880"/>
                </a:solidFill>
                <a:latin typeface="JetBrains Mono" pitchFamily="49" charset="0"/>
                <a:ea typeface="JetBrains Mono" pitchFamily="49" charset="-122"/>
                <a:cs typeface="JetBrains Mono" pitchFamily="49" charset="-120"/>
              </a:rPr>
              <a:t>fx:id</a:t>
            </a:r>
            <a:r>
              <a:rPr lang="en-US" sz="1200" dirty="0">
                <a:solidFill>
                  <a:srgbClr val="E6E9F0"/>
                </a:solidFill>
                <a:latin typeface="JetBrains Mono" pitchFamily="49" charset="0"/>
                <a:ea typeface="JetBrains Mono" pitchFamily="49" charset="-122"/>
                <a:cs typeface="JetBrains Mono" pitchFamily="49" charset="-120"/>
              </a:rPr>
              <a:t>="lblValor" text="0"/&gt;</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&lt;/center&gt;</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&lt;bottom&gt;</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&lt;HBox alignment="CENTER" spacing="10"&gt;</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&lt;Button text="+" </a:t>
            </a:r>
            <a:r>
              <a:rPr lang="en-US" sz="1200" dirty="0">
                <a:solidFill>
                  <a:srgbClr val="F2B880"/>
                </a:solidFill>
                <a:latin typeface="JetBrains Mono" pitchFamily="49" charset="0"/>
                <a:ea typeface="JetBrains Mono" pitchFamily="49" charset="-122"/>
                <a:cs typeface="JetBrains Mono" pitchFamily="49" charset="-120"/>
              </a:rPr>
              <a:t>onAction</a:t>
            </a:r>
            <a:r>
              <a:rPr lang="en-US" sz="1200" dirty="0">
                <a:solidFill>
                  <a:srgbClr val="E6E9F0"/>
                </a:solidFill>
                <a:latin typeface="JetBrains Mono" pitchFamily="49" charset="0"/>
                <a:ea typeface="JetBrains Mono" pitchFamily="49" charset="-122"/>
                <a:cs typeface="JetBrains Mono" pitchFamily="49" charset="-120"/>
              </a:rPr>
              <a:t>="#incrementar"/&gt;</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&lt;Button text="Reset" </a:t>
            </a:r>
            <a:r>
              <a:rPr lang="en-US" sz="1200" dirty="0">
                <a:solidFill>
                  <a:srgbClr val="F2B880"/>
                </a:solidFill>
                <a:latin typeface="JetBrains Mono" pitchFamily="49" charset="0"/>
                <a:ea typeface="JetBrains Mono" pitchFamily="49" charset="-122"/>
                <a:cs typeface="JetBrains Mono" pitchFamily="49" charset="-120"/>
              </a:rPr>
              <a:t>onAction</a:t>
            </a:r>
            <a:r>
              <a:rPr lang="en-US" sz="1200" dirty="0">
                <a:solidFill>
                  <a:srgbClr val="E6E9F0"/>
                </a:solidFill>
                <a:latin typeface="JetBrains Mono" pitchFamily="49" charset="0"/>
                <a:ea typeface="JetBrains Mono" pitchFamily="49" charset="-122"/>
                <a:cs typeface="JetBrains Mono" pitchFamily="49" charset="-120"/>
              </a:rPr>
              <a:t>="#reiniciar"/&gt;</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&lt;/HBox&gt;</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&lt;/bottom&gt;</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&lt;/BorderPane&gt;</a:t>
            </a:r>
            <a:endParaRPr lang="en-US" sz="1200" dirty="0"/>
          </a:p>
        </p:txBody>
      </p:sp>
      <p:sp>
        <p:nvSpPr>
          <p:cNvPr id="6" name="Shape 4"/>
          <p:cNvSpPr/>
          <p:nvPr/>
        </p:nvSpPr>
        <p:spPr>
          <a:xfrm>
            <a:off x="812800" y="2169164"/>
            <a:ext cx="5080000" cy="2872740"/>
          </a:xfrm>
          <a:custGeom>
            <a:avLst/>
            <a:gdLst/>
            <a:ahLst/>
            <a:cxnLst/>
            <a:rect l="l" t="t" r="r" b="b"/>
            <a:pathLst>
              <a:path w="5080000" h="2872740">
                <a:moveTo>
                  <a:pt x="0" y="101600"/>
                </a:moveTo>
                <a:lnTo>
                  <a:pt x="0" y="101600"/>
                </a:lnTo>
                <a:arcTo hR="101600" wR="101600" stAng="10800000" swAng="5400000"/>
                <a:lnTo>
                  <a:pt x="4978400" y="0"/>
                </a:lnTo>
                <a:arcTo hR="101600" wR="101600" stAng="16200000" swAng="5400000"/>
                <a:lnTo>
                  <a:pt x="5080000" y="101600"/>
                </a:lnTo>
                <a:arcTo hR="63500" wR="101600" stAng="0" swAng="-5400000"/>
                <a:lnTo>
                  <a:pt x="101600" y="38100"/>
                </a:lnTo>
                <a:arcTo hR="63500" wR="101600" stAng="16200000" swAng="-5400000"/>
                <a:close/>
              </a:path>
            </a:pathLst>
          </a:custGeom>
          <a:solidFill>
            <a:srgbClr val="5B8FDB"/>
          </a:solidFill>
          <a:ln/>
        </p:spPr>
      </p:sp>
      <p:sp>
        <p:nvSpPr>
          <p:cNvPr id="7" name="Text 5"/>
          <p:cNvSpPr/>
          <p:nvPr/>
        </p:nvSpPr>
        <p:spPr>
          <a:xfrm>
            <a:off x="6197600" y="1879600"/>
            <a:ext cx="533704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601A"/>
                </a:solidFill>
                <a:latin typeface="IBM Plex Sans" pitchFamily="34" charset="0"/>
                <a:ea typeface="IBM Plex Sans" pitchFamily="34" charset="-122"/>
                <a:cs typeface="IBM Plex Sans" pitchFamily="34" charset="-120"/>
              </a:rPr>
              <a:t>CONTROLADOR · @FXML</a:t>
            </a:r>
            <a:endParaRPr lang="en-US" sz="1200" dirty="0"/>
          </a:p>
        </p:txBody>
      </p:sp>
      <p:sp>
        <p:nvSpPr>
          <p:cNvPr id="8" name="Text 6"/>
          <p:cNvSpPr/>
          <p:nvPr/>
        </p:nvSpPr>
        <p:spPr>
          <a:xfrm>
            <a:off x="6197600" y="2169164"/>
            <a:ext cx="5181600" cy="2872740"/>
          </a:xfrm>
          <a:prstGeom prst="roundRect">
            <a:avLst>
              <a:gd name="adj" fmla="val 3537"/>
            </a:avLst>
          </a:prstGeom>
          <a:solidFill>
            <a:srgbClr val="1C2333"/>
          </a:solidFill>
          <a:ln/>
        </p:spPr>
        <p:txBody>
          <a:bodyPr wrap="none" lIns="173442" tIns="209002" rIns="30186" bIns="148042" rtlCol="0" anchor="t">
            <a:normAutofit/>
          </a:bodyPr>
          <a:lstStyle/>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public class ControladorContador {</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a:t>
            </a:r>
            <a:r>
              <a:rPr lang="en-US" sz="1200" dirty="0">
                <a:solidFill>
                  <a:srgbClr val="F2B880"/>
                </a:solidFill>
                <a:latin typeface="JetBrains Mono" pitchFamily="49" charset="0"/>
                <a:ea typeface="JetBrains Mono" pitchFamily="49" charset="-122"/>
                <a:cs typeface="JetBrains Mono" pitchFamily="49" charset="-120"/>
              </a:rPr>
              <a:t>@FXML</a:t>
            </a:r>
            <a:r>
              <a:rPr lang="en-US" sz="1200" dirty="0">
                <a:solidFill>
                  <a:srgbClr val="E6E9F0"/>
                </a:solidFill>
                <a:latin typeface="JetBrains Mono" pitchFamily="49" charset="0"/>
                <a:ea typeface="JetBrains Mono" pitchFamily="49" charset="-122"/>
                <a:cs typeface="JetBrains Mono" pitchFamily="49" charset="-120"/>
              </a:rPr>
              <a:t> private Label lblValor;</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a:t>
            </a:r>
            <a:r>
              <a:rPr lang="en-US" sz="1200" dirty="0">
                <a:solidFill>
                  <a:srgbClr val="F2B880"/>
                </a:solidFill>
                <a:latin typeface="JetBrains Mono" pitchFamily="49" charset="0"/>
                <a:ea typeface="JetBrains Mono" pitchFamily="49" charset="-122"/>
                <a:cs typeface="JetBrains Mono" pitchFamily="49" charset="-120"/>
              </a:rPr>
              <a:t>@FXML</a:t>
            </a:r>
            <a:r>
              <a:rPr lang="en-US" sz="1200" dirty="0">
                <a:solidFill>
                  <a:srgbClr val="E6E9F0"/>
                </a:solidFill>
                <a:latin typeface="JetBrains Mono" pitchFamily="49" charset="0"/>
                <a:ea typeface="JetBrains Mono" pitchFamily="49" charset="-122"/>
                <a:cs typeface="JetBrains Mono" pitchFamily="49" charset="-120"/>
              </a:rPr>
              <a:t> private void initialize() {</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refrescarVista();</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a:t>
            </a:r>
            <a:r>
              <a:rPr lang="en-US" sz="1200" dirty="0">
                <a:solidFill>
                  <a:srgbClr val="F2B880"/>
                </a:solidFill>
                <a:latin typeface="JetBrains Mono" pitchFamily="49" charset="0"/>
                <a:ea typeface="JetBrains Mono" pitchFamily="49" charset="-122"/>
                <a:cs typeface="JetBrains Mono" pitchFamily="49" charset="-120"/>
              </a:rPr>
              <a:t>@FXML</a:t>
            </a:r>
            <a:r>
              <a:rPr lang="en-US" sz="1200" dirty="0">
                <a:solidFill>
                  <a:srgbClr val="E6E9F0"/>
                </a:solidFill>
                <a:latin typeface="JetBrains Mono" pitchFamily="49" charset="0"/>
                <a:ea typeface="JetBrains Mono" pitchFamily="49" charset="-122"/>
                <a:cs typeface="JetBrains Mono" pitchFamily="49" charset="-120"/>
              </a:rPr>
              <a:t> private void incrementar() {</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modelo.incrementar();</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refrescarVista();</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a:t>
            </a:r>
            <a:endParaRPr lang="en-US" sz="1200" dirty="0"/>
          </a:p>
        </p:txBody>
      </p:sp>
      <p:sp>
        <p:nvSpPr>
          <p:cNvPr id="9" name="Shape 7"/>
          <p:cNvSpPr/>
          <p:nvPr/>
        </p:nvSpPr>
        <p:spPr>
          <a:xfrm>
            <a:off x="6197600" y="2169164"/>
            <a:ext cx="5181600" cy="2872740"/>
          </a:xfrm>
          <a:custGeom>
            <a:avLst/>
            <a:gdLst/>
            <a:ahLst/>
            <a:cxnLst/>
            <a:rect l="l" t="t" r="r" b="b"/>
            <a:pathLst>
              <a:path w="5181600" h="2872740">
                <a:moveTo>
                  <a:pt x="0" y="101600"/>
                </a:moveTo>
                <a:lnTo>
                  <a:pt x="0" y="101600"/>
                </a:lnTo>
                <a:arcTo hR="101600" wR="101600" stAng="10800000" swAng="5400000"/>
                <a:lnTo>
                  <a:pt x="5080000" y="0"/>
                </a:lnTo>
                <a:arcTo hR="101600" wR="101600" stAng="16200000" swAng="5400000"/>
                <a:lnTo>
                  <a:pt x="5181600" y="101600"/>
                </a:lnTo>
                <a:arcTo hR="63500" wR="101600" stAng="0" swAng="-5400000"/>
                <a:lnTo>
                  <a:pt x="101600" y="38100"/>
                </a:lnTo>
                <a:arcTo hR="63500" wR="101600" stAng="16200000" swAng="-5400000"/>
                <a:close/>
              </a:path>
            </a:pathLst>
          </a:custGeom>
          <a:solidFill>
            <a:srgbClr val="E08A3C"/>
          </a:solidFill>
          <a:ln/>
        </p:spPr>
      </p:sp>
      <p:sp>
        <p:nvSpPr>
          <p:cNvPr id="10" name="Text 8"/>
          <p:cNvSpPr/>
          <p:nvPr/>
        </p:nvSpPr>
        <p:spPr>
          <a:xfrm>
            <a:off x="819150" y="5251450"/>
            <a:ext cx="3407807" cy="408940"/>
          </a:xfrm>
          <a:prstGeom prst="roundRect">
            <a:avLst>
              <a:gd name="adj" fmla="val 17081"/>
            </a:avLst>
          </a:prstGeom>
          <a:solidFill>
            <a:srgbClr val="FFFFFF"/>
          </a:solidFill>
          <a:ln w="12700">
            <a:solidFill>
              <a:srgbClr val="D5DBE4"/>
            </a:solidFill>
            <a:prstDash val="solid"/>
          </a:ln>
        </p:spPr>
        <p:txBody>
          <a:bodyPr wrap="square" lIns="135752" tIns="59552" rIns="42890" bIns="34152" rtlCol="0" anchor="t">
            <a:normAutofit/>
          </a:bodyPr>
          <a:lstStyle/>
          <a:p>
            <a:pPr algn="l"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fx:id → atributo @FXML</a:t>
            </a:r>
            <a:endParaRPr lang="en-US" sz="1400" dirty="0"/>
          </a:p>
        </p:txBody>
      </p:sp>
      <p:sp>
        <p:nvSpPr>
          <p:cNvPr id="11" name="Text 9"/>
          <p:cNvSpPr/>
          <p:nvPr/>
        </p:nvSpPr>
        <p:spPr>
          <a:xfrm>
            <a:off x="4392057" y="5251450"/>
            <a:ext cx="3407886" cy="408940"/>
          </a:xfrm>
          <a:prstGeom prst="roundRect">
            <a:avLst>
              <a:gd name="adj" fmla="val 17081"/>
            </a:avLst>
          </a:prstGeom>
          <a:solidFill>
            <a:srgbClr val="FFFFFF"/>
          </a:solidFill>
          <a:ln w="12700">
            <a:solidFill>
              <a:srgbClr val="D5DBE4"/>
            </a:solidFill>
            <a:prstDash val="solid"/>
          </a:ln>
        </p:spPr>
        <p:txBody>
          <a:bodyPr wrap="square" lIns="135752" tIns="59552" rIns="42888" bIns="34152" rtlCol="0" anchor="t">
            <a:normAutofit/>
          </a:bodyPr>
          <a:lstStyle/>
          <a:p>
            <a:pPr algn="l"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onAction="#x" → método @FXML</a:t>
            </a:r>
            <a:endParaRPr lang="en-US" sz="1400" dirty="0"/>
          </a:p>
        </p:txBody>
      </p:sp>
      <p:sp>
        <p:nvSpPr>
          <p:cNvPr id="12" name="Text 10"/>
          <p:cNvSpPr/>
          <p:nvPr/>
        </p:nvSpPr>
        <p:spPr>
          <a:xfrm>
            <a:off x="7965043" y="5251450"/>
            <a:ext cx="3407807" cy="408940"/>
          </a:xfrm>
          <a:prstGeom prst="roundRect">
            <a:avLst>
              <a:gd name="adj" fmla="val 17081"/>
            </a:avLst>
          </a:prstGeom>
          <a:solidFill>
            <a:srgbClr val="E6F2EA"/>
          </a:solidFill>
          <a:ln w="12700">
            <a:solidFill>
              <a:srgbClr val="BCDCC8"/>
            </a:solidFill>
            <a:prstDash val="solid"/>
          </a:ln>
        </p:spPr>
        <p:txBody>
          <a:bodyPr wrap="square" lIns="135752" tIns="59552" rIns="42890" bIns="34152" rtlCol="0" anchor="t">
            <a:normAutofit/>
          </a:bodyPr>
          <a:lstStyle/>
          <a:p>
            <a:pPr algn="l"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Reutiliza el modelo Contador</a:t>
            </a:r>
            <a:endParaRPr lang="en-US" sz="1400" dirty="0"/>
          </a:p>
        </p:txBody>
      </p:sp>
      <p:sp>
        <p:nvSpPr>
          <p:cNvPr id="13" name="Text 11"/>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El patrón MVC en JavaFX · Desarrollo de Interfaces · 2º DAM</a:t>
            </a:r>
            <a:endParaRPr lang="en-US" sz="1200" dirty="0"/>
          </a:p>
        </p:txBody>
      </p:sp>
      <p:sp>
        <p:nvSpPr>
          <p:cNvPr id="14" name="Text 12"/>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14 / 22</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6A80"/>
                </a:solidFill>
                <a:latin typeface="IBM Plex Sans" pitchFamily="34" charset="0"/>
                <a:ea typeface="IBM Plex Sans" pitchFamily="34" charset="-122"/>
                <a:cs typeface="IBM Plex Sans" pitchFamily="34" charset="-120"/>
              </a:rPr>
              <a:t>PARTE 2 · EJEMPLOS · EJEMPLO 2</a:t>
            </a:r>
            <a:endParaRPr lang="en-US" sz="1200" dirty="0"/>
          </a:p>
        </p:txBody>
      </p:sp>
      <p:sp>
        <p:nvSpPr>
          <p:cNvPr id="3" name="Text 1"/>
          <p:cNvSpPr/>
          <p:nvPr>
            <p:ph type="title"/>
          </p:nvPr>
        </p:nvSpPr>
        <p:spPr>
          <a:xfrm>
            <a:off x="812800" y="1229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33"/>
                </a:solidFill>
                <a:latin typeface="IBM Plex Sans" pitchFamily="34" charset="0"/>
                <a:ea typeface="IBM Plex Sans" pitchFamily="34" charset="-122"/>
                <a:cs typeface="IBM Plex Sans" pitchFamily="34" charset="-120"/>
              </a:rPr>
              <a:t>Pantalla de login</a:t>
            </a:r>
            <a:endParaRPr lang="en-US" sz="3200" dirty="0"/>
          </a:p>
        </p:txBody>
      </p:sp>
      <p:sp>
        <p:nvSpPr>
          <p:cNvPr id="4" name="Shape 2"/>
          <p:cNvSpPr/>
          <p:nvPr/>
        </p:nvSpPr>
        <p:spPr>
          <a:xfrm>
            <a:off x="812800" y="1879600"/>
            <a:ext cx="3386614" cy="1584960"/>
          </a:xfrm>
          <a:prstGeom prst="roundRect">
            <a:avLst>
              <a:gd name="adj" fmla="val 6410"/>
            </a:avLst>
          </a:prstGeom>
          <a:solidFill>
            <a:srgbClr val="E6F2EA"/>
          </a:solidFill>
          <a:ln/>
        </p:spPr>
      </p:sp>
      <p:sp>
        <p:nvSpPr>
          <p:cNvPr id="5" name="Shape 3"/>
          <p:cNvSpPr/>
          <p:nvPr/>
        </p:nvSpPr>
        <p:spPr>
          <a:xfrm>
            <a:off x="812800" y="1879600"/>
            <a:ext cx="3386614" cy="1584960"/>
          </a:xfrm>
          <a:custGeom>
            <a:avLst/>
            <a:gdLst/>
            <a:ahLst/>
            <a:cxnLst/>
            <a:rect l="l" t="t" r="r" b="b"/>
            <a:pathLst>
              <a:path w="3386614" h="1584960">
                <a:moveTo>
                  <a:pt x="0" y="101600"/>
                </a:moveTo>
                <a:lnTo>
                  <a:pt x="0" y="101600"/>
                </a:lnTo>
                <a:arcTo hR="101600" wR="101600" stAng="10800000" swAng="5400000"/>
                <a:lnTo>
                  <a:pt x="3285014" y="0"/>
                </a:lnTo>
                <a:arcTo hR="101600" wR="101600" stAng="16200000" swAng="5400000"/>
                <a:lnTo>
                  <a:pt x="3386614" y="101600"/>
                </a:lnTo>
                <a:arcTo hR="50800" wR="101600" stAng="0" swAng="-5400000"/>
                <a:lnTo>
                  <a:pt x="101600" y="50800"/>
                </a:lnTo>
                <a:arcTo hR="50800" wR="101600" stAng="16200000" swAng="-5400000"/>
                <a:close/>
              </a:path>
            </a:pathLst>
          </a:custGeom>
          <a:solidFill>
            <a:srgbClr val="2F7D4F"/>
          </a:solidFill>
          <a:ln/>
        </p:spPr>
      </p:sp>
      <p:sp>
        <p:nvSpPr>
          <p:cNvPr id="6" name="Text 4"/>
          <p:cNvSpPr/>
          <p:nvPr/>
        </p:nvSpPr>
        <p:spPr>
          <a:xfrm>
            <a:off x="1016000" y="2133600"/>
            <a:ext cx="306962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3633E"/>
                </a:solidFill>
                <a:latin typeface="IBM Plex Sans" pitchFamily="34" charset="0"/>
                <a:ea typeface="IBM Plex Sans" pitchFamily="34" charset="-122"/>
                <a:cs typeface="IBM Plex Sans" pitchFamily="34" charset="-120"/>
              </a:rPr>
              <a:t>Modelo</a:t>
            </a:r>
            <a:endParaRPr lang="en-US" sz="2000" dirty="0"/>
          </a:p>
        </p:txBody>
      </p:sp>
      <p:sp>
        <p:nvSpPr>
          <p:cNvPr id="7" name="Text 5"/>
          <p:cNvSpPr/>
          <p:nvPr/>
        </p:nvSpPr>
        <p:spPr>
          <a:xfrm>
            <a:off x="1016000" y="2514600"/>
            <a:ext cx="3069620"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UsuarioService guarda los usuarios y decide con validar() si el login es correcto.</a:t>
            </a:r>
            <a:endParaRPr lang="en-US" sz="1400" dirty="0"/>
          </a:p>
        </p:txBody>
      </p:sp>
      <p:sp>
        <p:nvSpPr>
          <p:cNvPr id="8" name="Shape 6"/>
          <p:cNvSpPr/>
          <p:nvPr/>
        </p:nvSpPr>
        <p:spPr>
          <a:xfrm>
            <a:off x="4402614" y="1879600"/>
            <a:ext cx="3386693" cy="1584960"/>
          </a:xfrm>
          <a:prstGeom prst="roundRect">
            <a:avLst>
              <a:gd name="adj" fmla="val 6410"/>
            </a:avLst>
          </a:prstGeom>
          <a:solidFill>
            <a:srgbClr val="E5EDF8"/>
          </a:solidFill>
          <a:ln/>
        </p:spPr>
      </p:sp>
      <p:sp>
        <p:nvSpPr>
          <p:cNvPr id="9" name="Shape 7"/>
          <p:cNvSpPr/>
          <p:nvPr/>
        </p:nvSpPr>
        <p:spPr>
          <a:xfrm>
            <a:off x="4402614" y="1879600"/>
            <a:ext cx="3386693" cy="1584960"/>
          </a:xfrm>
          <a:custGeom>
            <a:avLst/>
            <a:gdLst/>
            <a:ahLst/>
            <a:cxnLst/>
            <a:rect l="l" t="t" r="r" b="b"/>
            <a:pathLst>
              <a:path w="3386693" h="1584960">
                <a:moveTo>
                  <a:pt x="0" y="101600"/>
                </a:moveTo>
                <a:lnTo>
                  <a:pt x="0" y="101600"/>
                </a:lnTo>
                <a:arcTo hR="101600" wR="101600" stAng="10800000" swAng="5400000"/>
                <a:lnTo>
                  <a:pt x="3285093" y="0"/>
                </a:lnTo>
                <a:arcTo hR="101600" wR="101600" stAng="16200000" swAng="5400000"/>
                <a:lnTo>
                  <a:pt x="3386693" y="101600"/>
                </a:lnTo>
                <a:arcTo hR="50800" wR="101600" stAng="0" swAng="-5400000"/>
                <a:lnTo>
                  <a:pt x="101600" y="50800"/>
                </a:lnTo>
                <a:arcTo hR="50800" wR="101600" stAng="16200000" swAng="-5400000"/>
                <a:close/>
              </a:path>
            </a:pathLst>
          </a:custGeom>
          <a:solidFill>
            <a:srgbClr val="2A5EA8"/>
          </a:solidFill>
          <a:ln/>
        </p:spPr>
      </p:sp>
      <p:sp>
        <p:nvSpPr>
          <p:cNvPr id="10" name="Text 8"/>
          <p:cNvSpPr/>
          <p:nvPr/>
        </p:nvSpPr>
        <p:spPr>
          <a:xfrm>
            <a:off x="4605814" y="2133600"/>
            <a:ext cx="306970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4E91"/>
                </a:solidFill>
                <a:latin typeface="IBM Plex Sans" pitchFamily="34" charset="0"/>
                <a:ea typeface="IBM Plex Sans" pitchFamily="34" charset="-122"/>
                <a:cs typeface="IBM Plex Sans" pitchFamily="34" charset="-120"/>
              </a:rPr>
              <a:t>Vista</a:t>
            </a:r>
            <a:endParaRPr lang="en-US" sz="2000" dirty="0"/>
          </a:p>
        </p:txBody>
      </p:sp>
      <p:sp>
        <p:nvSpPr>
          <p:cNvPr id="11" name="Text 9"/>
          <p:cNvSpPr/>
          <p:nvPr/>
        </p:nvSpPr>
        <p:spPr>
          <a:xfrm>
            <a:off x="4605814" y="2514600"/>
            <a:ext cx="306970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TextField, PasswordField, botón Entrar y mostrarMensaje(String).</a:t>
            </a:r>
            <a:endParaRPr lang="en-US" sz="1400" dirty="0"/>
          </a:p>
        </p:txBody>
      </p:sp>
      <p:sp>
        <p:nvSpPr>
          <p:cNvPr id="12" name="Shape 10"/>
          <p:cNvSpPr/>
          <p:nvPr/>
        </p:nvSpPr>
        <p:spPr>
          <a:xfrm>
            <a:off x="7992507" y="1879600"/>
            <a:ext cx="3386693" cy="1584960"/>
          </a:xfrm>
          <a:prstGeom prst="roundRect">
            <a:avLst>
              <a:gd name="adj" fmla="val 6410"/>
            </a:avLst>
          </a:prstGeom>
          <a:solidFill>
            <a:srgbClr val="FAEEDF"/>
          </a:solidFill>
          <a:ln/>
        </p:spPr>
      </p:sp>
      <p:sp>
        <p:nvSpPr>
          <p:cNvPr id="13" name="Shape 11"/>
          <p:cNvSpPr/>
          <p:nvPr/>
        </p:nvSpPr>
        <p:spPr>
          <a:xfrm>
            <a:off x="7992507" y="1879600"/>
            <a:ext cx="3386693" cy="1584960"/>
          </a:xfrm>
          <a:custGeom>
            <a:avLst/>
            <a:gdLst/>
            <a:ahLst/>
            <a:cxnLst/>
            <a:rect l="l" t="t" r="r" b="b"/>
            <a:pathLst>
              <a:path w="3386693" h="1584960">
                <a:moveTo>
                  <a:pt x="0" y="101600"/>
                </a:moveTo>
                <a:lnTo>
                  <a:pt x="0" y="101600"/>
                </a:lnTo>
                <a:arcTo hR="101600" wR="101600" stAng="10800000" swAng="5400000"/>
                <a:lnTo>
                  <a:pt x="3285093" y="0"/>
                </a:lnTo>
                <a:arcTo hR="101600" wR="101600" stAng="16200000" swAng="5400000"/>
                <a:lnTo>
                  <a:pt x="3386693" y="101600"/>
                </a:lnTo>
                <a:arcTo hR="50800" wR="101600" stAng="0" swAng="-5400000"/>
                <a:lnTo>
                  <a:pt x="101600" y="50800"/>
                </a:lnTo>
                <a:arcTo hR="50800" wR="101600" stAng="16200000" swAng="-5400000"/>
                <a:close/>
              </a:path>
            </a:pathLst>
          </a:custGeom>
          <a:solidFill>
            <a:srgbClr val="B0601A"/>
          </a:solidFill>
          <a:ln/>
        </p:spPr>
      </p:sp>
      <p:sp>
        <p:nvSpPr>
          <p:cNvPr id="14" name="Text 12"/>
          <p:cNvSpPr/>
          <p:nvPr/>
        </p:nvSpPr>
        <p:spPr>
          <a:xfrm>
            <a:off x="8195707" y="2133600"/>
            <a:ext cx="306970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8F4C12"/>
                </a:solidFill>
                <a:latin typeface="IBM Plex Sans" pitchFamily="34" charset="0"/>
                <a:ea typeface="IBM Plex Sans" pitchFamily="34" charset="-122"/>
                <a:cs typeface="IBM Plex Sans" pitchFamily="34" charset="-120"/>
              </a:rPr>
              <a:t>Controlador</a:t>
            </a:r>
            <a:endParaRPr lang="en-US" sz="2000" dirty="0"/>
          </a:p>
        </p:txBody>
      </p:sp>
      <p:sp>
        <p:nvSpPr>
          <p:cNvPr id="15" name="Text 13"/>
          <p:cNvSpPr/>
          <p:nvPr/>
        </p:nvSpPr>
        <p:spPr>
          <a:xfrm>
            <a:off x="8195707" y="2514600"/>
            <a:ext cx="306970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Lee los campos, pregunta al modelo y elige qué mensaje mostrar.</a:t>
            </a:r>
            <a:endParaRPr lang="en-US" sz="1400" dirty="0"/>
          </a:p>
        </p:txBody>
      </p:sp>
      <p:sp>
        <p:nvSpPr>
          <p:cNvPr id="16" name="Text 14"/>
          <p:cNvSpPr/>
          <p:nvPr/>
        </p:nvSpPr>
        <p:spPr>
          <a:xfrm>
            <a:off x="812800" y="3667764"/>
            <a:ext cx="10566400" cy="2117725"/>
          </a:xfrm>
          <a:prstGeom prst="roundRect">
            <a:avLst>
              <a:gd name="adj" fmla="val 4798"/>
            </a:avLst>
          </a:prstGeom>
          <a:solidFill>
            <a:srgbClr val="1C2333"/>
          </a:solidFill>
          <a:ln/>
        </p:spPr>
        <p:txBody>
          <a:bodyPr wrap="none" lIns="198842" tIns="209002" rIns="0" bIns="148042" rtlCol="0" anchor="t">
            <a:normAutofit/>
          </a:bodyPr>
          <a:lstStyle/>
          <a:p>
            <a:pPr algn="l" indent="0" marL="0">
              <a:lnSpc>
                <a:spcPts val="1885"/>
              </a:lnSpc>
              <a:buNone/>
            </a:pPr>
            <a:r>
              <a:rPr lang="en-US" sz="1300" dirty="0">
                <a:solidFill>
                  <a:srgbClr val="8C97AB"/>
                </a:solidFill>
                <a:latin typeface="JetBrains Mono" pitchFamily="49" charset="0"/>
                <a:ea typeface="JetBrains Mono" pitchFamily="49" charset="-122"/>
                <a:cs typeface="JetBrains Mono" pitchFamily="49" charset="-120"/>
              </a:rPr>
              <a:t>// ControladorLogin: la regla de negocio la decide el MODELO</a:t>
            </a:r>
            <a:endParaRPr lang="en-US" sz="1300" dirty="0"/>
          </a:p>
          <a:p>
            <a:pPr algn="l" indent="0" marL="0">
              <a:lnSpc>
                <a:spcPts val="1885"/>
              </a:lnSpc>
              <a:buNone/>
            </a:pPr>
            <a:r>
              <a:rPr lang="en-US" sz="1300" dirty="0">
                <a:solidFill>
                  <a:srgbClr val="E6E9F0"/>
                </a:solidFill>
                <a:latin typeface="JetBrains Mono" pitchFamily="49" charset="0"/>
                <a:ea typeface="JetBrains Mono" pitchFamily="49" charset="-122"/>
                <a:cs typeface="JetBrains Mono" pitchFamily="49" charset="-120"/>
              </a:rPr>
              <a:t>if (servicio.validar(usuario, clave)) {</a:t>
            </a:r>
            <a:endParaRPr lang="en-US" sz="1300" dirty="0"/>
          </a:p>
          <a:p>
            <a:pPr algn="l" indent="0" marL="0">
              <a:lnSpc>
                <a:spcPts val="1885"/>
              </a:lnSpc>
              <a:buNone/>
            </a:pPr>
            <a:r>
              <a:rPr lang="en-US" sz="1300" dirty="0">
                <a:solidFill>
                  <a:srgbClr val="E6E9F0"/>
                </a:solidFill>
                <a:latin typeface="JetBrains Mono" pitchFamily="49" charset="0"/>
                <a:ea typeface="JetBrains Mono" pitchFamily="49" charset="-122"/>
                <a:cs typeface="JetBrains Mono" pitchFamily="49" charset="-120"/>
              </a:rPr>
              <a:t>    vista.mostrarMensaje("¡Bienvenido, " + usuario + "!");</a:t>
            </a:r>
            <a:endParaRPr lang="en-US" sz="1300" dirty="0"/>
          </a:p>
          <a:p>
            <a:pPr algn="l" indent="0" marL="0">
              <a:lnSpc>
                <a:spcPts val="1885"/>
              </a:lnSpc>
              <a:buNone/>
            </a:pPr>
            <a:r>
              <a:rPr lang="en-US" sz="1300" dirty="0">
                <a:solidFill>
                  <a:srgbClr val="E6E9F0"/>
                </a:solidFill>
                <a:latin typeface="JetBrains Mono" pitchFamily="49" charset="0"/>
                <a:ea typeface="JetBrains Mono" pitchFamily="49" charset="-122"/>
                <a:cs typeface="JetBrains Mono" pitchFamily="49" charset="-120"/>
              </a:rPr>
              <a:t>} else {</a:t>
            </a:r>
            <a:endParaRPr lang="en-US" sz="1300" dirty="0"/>
          </a:p>
          <a:p>
            <a:pPr algn="l" indent="0" marL="0">
              <a:lnSpc>
                <a:spcPts val="1885"/>
              </a:lnSpc>
              <a:buNone/>
            </a:pPr>
            <a:r>
              <a:rPr lang="en-US" sz="1300" dirty="0">
                <a:solidFill>
                  <a:srgbClr val="E6E9F0"/>
                </a:solidFill>
                <a:latin typeface="JetBrains Mono" pitchFamily="49" charset="0"/>
                <a:ea typeface="JetBrains Mono" pitchFamily="49" charset="-122"/>
                <a:cs typeface="JetBrains Mono" pitchFamily="49" charset="-120"/>
              </a:rPr>
              <a:t>    vista.mostrarMensaje("Usuario o contraseña incorrectos");</a:t>
            </a:r>
            <a:endParaRPr lang="en-US" sz="1300" dirty="0"/>
          </a:p>
          <a:p>
            <a:pPr algn="l" indent="0" marL="0">
              <a:lnSpc>
                <a:spcPts val="1885"/>
              </a:lnSpc>
              <a:buNone/>
            </a:pPr>
            <a:r>
              <a:rPr lang="en-US" sz="1300" dirty="0">
                <a:solidFill>
                  <a:srgbClr val="E6E9F0"/>
                </a:solidFill>
                <a:latin typeface="JetBrains Mono" pitchFamily="49" charset="0"/>
                <a:ea typeface="JetBrains Mono" pitchFamily="49" charset="-122"/>
                <a:cs typeface="JetBrains Mono" pitchFamily="49" charset="-120"/>
              </a:rPr>
              <a:t>    vista.limpiarClave();</a:t>
            </a:r>
            <a:endParaRPr lang="en-US" sz="1300" dirty="0"/>
          </a:p>
          <a:p>
            <a:pPr algn="l" indent="0" marL="0">
              <a:lnSpc>
                <a:spcPts val="1885"/>
              </a:lnSpc>
              <a:buNone/>
            </a:pPr>
            <a:r>
              <a:rPr lang="en-US" sz="1300" dirty="0">
                <a:solidFill>
                  <a:srgbClr val="E6E9F0"/>
                </a:solidFill>
                <a:latin typeface="JetBrains Mono" pitchFamily="49" charset="0"/>
                <a:ea typeface="JetBrains Mono" pitchFamily="49" charset="-122"/>
                <a:cs typeface="JetBrains Mono" pitchFamily="49" charset="-120"/>
              </a:rPr>
              <a:t>}</a:t>
            </a:r>
            <a:endParaRPr lang="en-US" sz="1300" dirty="0"/>
          </a:p>
        </p:txBody>
      </p:sp>
      <p:sp>
        <p:nvSpPr>
          <p:cNvPr id="17" name="Shape 15"/>
          <p:cNvSpPr/>
          <p:nvPr/>
        </p:nvSpPr>
        <p:spPr>
          <a:xfrm>
            <a:off x="812800" y="3667764"/>
            <a:ext cx="10566400" cy="2117725"/>
          </a:xfrm>
          <a:custGeom>
            <a:avLst/>
            <a:gdLst/>
            <a:ahLst/>
            <a:cxnLst/>
            <a:rect l="l" t="t" r="r" b="b"/>
            <a:pathLst>
              <a:path w="10566400" h="2117725">
                <a:moveTo>
                  <a:pt x="0" y="101600"/>
                </a:moveTo>
                <a:lnTo>
                  <a:pt x="0" y="101600"/>
                </a:lnTo>
                <a:arcTo hR="101600" wR="101600" stAng="10800000" swAng="5400000"/>
                <a:lnTo>
                  <a:pt x="10464800" y="0"/>
                </a:lnTo>
                <a:arcTo hR="101600" wR="101600" stAng="16200000" swAng="5400000"/>
                <a:lnTo>
                  <a:pt x="10566400" y="101600"/>
                </a:lnTo>
                <a:arcTo hR="63500" wR="101600" stAng="0" swAng="-5400000"/>
                <a:lnTo>
                  <a:pt x="101600" y="38100"/>
                </a:lnTo>
                <a:arcTo hR="63500" wR="101600" stAng="16200000" swAng="-5400000"/>
                <a:close/>
              </a:path>
            </a:pathLst>
          </a:custGeom>
          <a:solidFill>
            <a:srgbClr val="E08A3C"/>
          </a:solidFill>
          <a:ln/>
        </p:spPr>
      </p:sp>
      <p:sp>
        <p:nvSpPr>
          <p:cNvPr id="18" name="Text 16"/>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El patrón MVC en JavaFX · Desarrollo de Interfaces · 2º DAM</a:t>
            </a:r>
            <a:endParaRPr lang="en-US" sz="1200" dirty="0"/>
          </a:p>
        </p:txBody>
      </p:sp>
      <p:sp>
        <p:nvSpPr>
          <p:cNvPr id="19" name="Text 17"/>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15 / 22</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6A80"/>
                </a:solidFill>
                <a:latin typeface="IBM Plex Sans" pitchFamily="34" charset="0"/>
                <a:ea typeface="IBM Plex Sans" pitchFamily="34" charset="-122"/>
                <a:cs typeface="IBM Plex Sans" pitchFamily="34" charset="-120"/>
              </a:rPr>
              <a:t>PARTE 2 · EJEMPLOS · EJEMPLO 3</a:t>
            </a:r>
            <a:endParaRPr lang="en-US" sz="1200" dirty="0"/>
          </a:p>
        </p:txBody>
      </p:sp>
      <p:sp>
        <p:nvSpPr>
          <p:cNvPr id="3" name="Text 1"/>
          <p:cNvSpPr/>
          <p:nvPr>
            <p:ph type="title"/>
          </p:nvPr>
        </p:nvSpPr>
        <p:spPr>
          <a:xfrm>
            <a:off x="812800" y="1229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33"/>
                </a:solidFill>
                <a:latin typeface="IBM Plex Sans" pitchFamily="34" charset="0"/>
                <a:ea typeface="IBM Plex Sans" pitchFamily="34" charset="-122"/>
                <a:cs typeface="IBM Plex Sans" pitchFamily="34" charset="-120"/>
              </a:rPr>
              <a:t>Lista de la compra con dos vistas</a:t>
            </a:r>
            <a:endParaRPr lang="en-US" sz="3200" dirty="0"/>
          </a:p>
        </p:txBody>
      </p:sp>
      <p:sp>
        <p:nvSpPr>
          <p:cNvPr id="4" name="Shape 2"/>
          <p:cNvSpPr/>
          <p:nvPr/>
        </p:nvSpPr>
        <p:spPr>
          <a:xfrm>
            <a:off x="812800" y="1879600"/>
            <a:ext cx="3386614" cy="1336040"/>
          </a:xfrm>
          <a:prstGeom prst="roundRect">
            <a:avLst>
              <a:gd name="adj" fmla="val 7605"/>
            </a:avLst>
          </a:prstGeom>
          <a:solidFill>
            <a:srgbClr val="E6F2EA"/>
          </a:solidFill>
          <a:ln/>
        </p:spPr>
      </p:sp>
      <p:sp>
        <p:nvSpPr>
          <p:cNvPr id="5" name="Shape 3"/>
          <p:cNvSpPr/>
          <p:nvPr/>
        </p:nvSpPr>
        <p:spPr>
          <a:xfrm>
            <a:off x="812800" y="1879600"/>
            <a:ext cx="3386614" cy="1336040"/>
          </a:xfrm>
          <a:custGeom>
            <a:avLst/>
            <a:gdLst/>
            <a:ahLst/>
            <a:cxnLst/>
            <a:rect l="l" t="t" r="r" b="b"/>
            <a:pathLst>
              <a:path w="3386614" h="1336040">
                <a:moveTo>
                  <a:pt x="0" y="101600"/>
                </a:moveTo>
                <a:lnTo>
                  <a:pt x="0" y="101600"/>
                </a:lnTo>
                <a:arcTo hR="101600" wR="101600" stAng="10800000" swAng="5400000"/>
                <a:lnTo>
                  <a:pt x="3285014" y="0"/>
                </a:lnTo>
                <a:arcTo hR="101600" wR="101600" stAng="16200000" swAng="5400000"/>
                <a:lnTo>
                  <a:pt x="3386614" y="101600"/>
                </a:lnTo>
                <a:arcTo hR="50800" wR="101600" stAng="0" swAng="-5400000"/>
                <a:lnTo>
                  <a:pt x="101600" y="50800"/>
                </a:lnTo>
                <a:arcTo hR="50800" wR="101600" stAng="16200000" swAng="-5400000"/>
                <a:close/>
              </a:path>
            </a:pathLst>
          </a:custGeom>
          <a:solidFill>
            <a:srgbClr val="2F7D4F"/>
          </a:solidFill>
          <a:ln/>
        </p:spPr>
      </p:sp>
      <p:sp>
        <p:nvSpPr>
          <p:cNvPr id="6" name="Text 4"/>
          <p:cNvSpPr/>
          <p:nvPr/>
        </p:nvSpPr>
        <p:spPr>
          <a:xfrm>
            <a:off x="1016000" y="2133600"/>
            <a:ext cx="306962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3633E"/>
                </a:solidFill>
                <a:latin typeface="IBM Plex Sans" pitchFamily="34" charset="0"/>
                <a:ea typeface="IBM Plex Sans" pitchFamily="34" charset="-122"/>
                <a:cs typeface="IBM Plex Sans" pitchFamily="34" charset="-120"/>
              </a:rPr>
              <a:t>Modelo</a:t>
            </a:r>
            <a:endParaRPr lang="en-US" sz="2000" dirty="0"/>
          </a:p>
        </p:txBody>
      </p:sp>
      <p:sp>
        <p:nvSpPr>
          <p:cNvPr id="7" name="Text 5"/>
          <p:cNvSpPr/>
          <p:nvPr/>
        </p:nvSpPr>
        <p:spPr>
          <a:xfrm>
            <a:off x="1016000" y="2514600"/>
            <a:ext cx="306962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ListaCompra: una ObservableList de productos y el total como propiedad.</a:t>
            </a:r>
            <a:endParaRPr lang="en-US" sz="1400" dirty="0"/>
          </a:p>
        </p:txBody>
      </p:sp>
      <p:sp>
        <p:nvSpPr>
          <p:cNvPr id="8" name="Shape 6"/>
          <p:cNvSpPr/>
          <p:nvPr/>
        </p:nvSpPr>
        <p:spPr>
          <a:xfrm>
            <a:off x="4402614" y="1879600"/>
            <a:ext cx="3386693" cy="1336040"/>
          </a:xfrm>
          <a:prstGeom prst="roundRect">
            <a:avLst>
              <a:gd name="adj" fmla="val 7605"/>
            </a:avLst>
          </a:prstGeom>
          <a:solidFill>
            <a:srgbClr val="E5EDF8"/>
          </a:solidFill>
          <a:ln/>
        </p:spPr>
      </p:sp>
      <p:sp>
        <p:nvSpPr>
          <p:cNvPr id="9" name="Shape 7"/>
          <p:cNvSpPr/>
          <p:nvPr/>
        </p:nvSpPr>
        <p:spPr>
          <a:xfrm>
            <a:off x="4402614" y="1879600"/>
            <a:ext cx="3386693" cy="1336040"/>
          </a:xfrm>
          <a:custGeom>
            <a:avLst/>
            <a:gdLst/>
            <a:ahLst/>
            <a:cxnLst/>
            <a:rect l="l" t="t" r="r" b="b"/>
            <a:pathLst>
              <a:path w="3386693" h="1336040">
                <a:moveTo>
                  <a:pt x="0" y="101600"/>
                </a:moveTo>
                <a:lnTo>
                  <a:pt x="0" y="101600"/>
                </a:lnTo>
                <a:arcTo hR="101600" wR="101600" stAng="10800000" swAng="5400000"/>
                <a:lnTo>
                  <a:pt x="3285093" y="0"/>
                </a:lnTo>
                <a:arcTo hR="101600" wR="101600" stAng="16200000" swAng="5400000"/>
                <a:lnTo>
                  <a:pt x="3386693" y="101600"/>
                </a:lnTo>
                <a:arcTo hR="50800" wR="101600" stAng="0" swAng="-5400000"/>
                <a:lnTo>
                  <a:pt x="101600" y="50800"/>
                </a:lnTo>
                <a:arcTo hR="50800" wR="101600" stAng="16200000" swAng="-5400000"/>
                <a:close/>
              </a:path>
            </a:pathLst>
          </a:custGeom>
          <a:solidFill>
            <a:srgbClr val="2A5EA8"/>
          </a:solidFill>
          <a:ln/>
        </p:spPr>
      </p:sp>
      <p:sp>
        <p:nvSpPr>
          <p:cNvPr id="10" name="Text 8"/>
          <p:cNvSpPr/>
          <p:nvPr/>
        </p:nvSpPr>
        <p:spPr>
          <a:xfrm>
            <a:off x="4605814" y="2133600"/>
            <a:ext cx="306970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4E91"/>
                </a:solidFill>
                <a:latin typeface="IBM Plex Sans" pitchFamily="34" charset="0"/>
                <a:ea typeface="IBM Plex Sans" pitchFamily="34" charset="-122"/>
                <a:cs typeface="IBM Plex Sans" pitchFamily="34" charset="-120"/>
              </a:rPr>
              <a:t>Vista 1</a:t>
            </a:r>
            <a:endParaRPr lang="en-US" sz="2000" dirty="0"/>
          </a:p>
        </p:txBody>
      </p:sp>
      <p:sp>
        <p:nvSpPr>
          <p:cNvPr id="11" name="Text 9"/>
          <p:cNvSpPr/>
          <p:nvPr/>
        </p:nvSpPr>
        <p:spPr>
          <a:xfrm>
            <a:off x="4605814" y="2514600"/>
            <a:ext cx="306970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Un ListView con los productos.</a:t>
            </a:r>
            <a:endParaRPr lang="en-US" sz="1400" dirty="0"/>
          </a:p>
        </p:txBody>
      </p:sp>
      <p:sp>
        <p:nvSpPr>
          <p:cNvPr id="12" name="Shape 10"/>
          <p:cNvSpPr/>
          <p:nvPr/>
        </p:nvSpPr>
        <p:spPr>
          <a:xfrm>
            <a:off x="7992507" y="1879600"/>
            <a:ext cx="3386693" cy="1336040"/>
          </a:xfrm>
          <a:prstGeom prst="roundRect">
            <a:avLst>
              <a:gd name="adj" fmla="val 7605"/>
            </a:avLst>
          </a:prstGeom>
          <a:solidFill>
            <a:srgbClr val="E5EDF8"/>
          </a:solidFill>
          <a:ln/>
        </p:spPr>
      </p:sp>
      <p:sp>
        <p:nvSpPr>
          <p:cNvPr id="13" name="Shape 11"/>
          <p:cNvSpPr/>
          <p:nvPr/>
        </p:nvSpPr>
        <p:spPr>
          <a:xfrm>
            <a:off x="7992507" y="1879600"/>
            <a:ext cx="3386693" cy="1336040"/>
          </a:xfrm>
          <a:custGeom>
            <a:avLst/>
            <a:gdLst/>
            <a:ahLst/>
            <a:cxnLst/>
            <a:rect l="l" t="t" r="r" b="b"/>
            <a:pathLst>
              <a:path w="3386693" h="1336040">
                <a:moveTo>
                  <a:pt x="0" y="101600"/>
                </a:moveTo>
                <a:lnTo>
                  <a:pt x="0" y="101600"/>
                </a:lnTo>
                <a:arcTo hR="101600" wR="101600" stAng="10800000" swAng="5400000"/>
                <a:lnTo>
                  <a:pt x="3285093" y="0"/>
                </a:lnTo>
                <a:arcTo hR="101600" wR="101600" stAng="16200000" swAng="5400000"/>
                <a:lnTo>
                  <a:pt x="3386693" y="101600"/>
                </a:lnTo>
                <a:arcTo hR="50800" wR="101600" stAng="0" swAng="-5400000"/>
                <a:lnTo>
                  <a:pt x="101600" y="50800"/>
                </a:lnTo>
                <a:arcTo hR="50800" wR="101600" stAng="16200000" swAng="-5400000"/>
                <a:close/>
              </a:path>
            </a:pathLst>
          </a:custGeom>
          <a:solidFill>
            <a:srgbClr val="2A5EA8"/>
          </a:solidFill>
          <a:ln/>
        </p:spPr>
      </p:sp>
      <p:sp>
        <p:nvSpPr>
          <p:cNvPr id="14" name="Text 12"/>
          <p:cNvSpPr/>
          <p:nvPr/>
        </p:nvSpPr>
        <p:spPr>
          <a:xfrm>
            <a:off x="8195707" y="2133600"/>
            <a:ext cx="306970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4E91"/>
                </a:solidFill>
                <a:latin typeface="IBM Plex Sans" pitchFamily="34" charset="0"/>
                <a:ea typeface="IBM Plex Sans" pitchFamily="34" charset="-122"/>
                <a:cs typeface="IBM Plex Sans" pitchFamily="34" charset="-120"/>
              </a:rPr>
              <a:t>Vista 2</a:t>
            </a:r>
            <a:endParaRPr lang="en-US" sz="2000" dirty="0"/>
          </a:p>
        </p:txBody>
      </p:sp>
      <p:sp>
        <p:nvSpPr>
          <p:cNvPr id="15" name="Text 13"/>
          <p:cNvSpPr/>
          <p:nvPr/>
        </p:nvSpPr>
        <p:spPr>
          <a:xfrm>
            <a:off x="8195707" y="2514600"/>
            <a:ext cx="306970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2033"/>
                </a:solidFill>
                <a:latin typeface="IBM Plex Sans" pitchFamily="34" charset="0"/>
                <a:ea typeface="IBM Plex Sans" pitchFamily="34" charset="-122"/>
                <a:cs typeface="IBM Plex Sans" pitchFamily="34" charset="-120"/>
              </a:rPr>
              <a:t>Un Label con el total, enlazado con bind().</a:t>
            </a:r>
            <a:endParaRPr lang="en-US" sz="1400" dirty="0"/>
          </a:p>
        </p:txBody>
      </p:sp>
      <p:sp>
        <p:nvSpPr>
          <p:cNvPr id="16" name="Text 14"/>
          <p:cNvSpPr/>
          <p:nvPr/>
        </p:nvSpPr>
        <p:spPr>
          <a:xfrm>
            <a:off x="812800" y="3418842"/>
            <a:ext cx="10566400" cy="1878330"/>
          </a:xfrm>
          <a:prstGeom prst="roundRect">
            <a:avLst>
              <a:gd name="adj" fmla="val 5409"/>
            </a:avLst>
          </a:prstGeom>
          <a:solidFill>
            <a:srgbClr val="1C2333"/>
          </a:solidFill>
          <a:ln/>
        </p:spPr>
        <p:txBody>
          <a:bodyPr wrap="none" lIns="198842" tIns="209002" rIns="0" bIns="148043" rtlCol="0" anchor="t">
            <a:normAutofit/>
          </a:bodyPr>
          <a:lstStyle/>
          <a:p>
            <a:pPr algn="l" indent="0" marL="0">
              <a:lnSpc>
                <a:spcPts val="1885"/>
              </a:lnSpc>
              <a:buNone/>
            </a:pPr>
            <a:r>
              <a:rPr lang="en-US" sz="1300" dirty="0">
                <a:solidFill>
                  <a:srgbClr val="8C97AB"/>
                </a:solidFill>
                <a:latin typeface="JetBrains Mono" pitchFamily="49" charset="0"/>
                <a:ea typeface="JetBrains Mono" pitchFamily="49" charset="-122"/>
                <a:cs typeface="JetBrains Mono" pitchFamily="49" charset="-120"/>
              </a:rPr>
              <a:t>// Modelo: la lista avisa sola de cada cambio</a:t>
            </a:r>
            <a:endParaRPr lang="en-US" sz="1300" dirty="0"/>
          </a:p>
          <a:p>
            <a:pPr algn="l" indent="0" marL="0">
              <a:lnSpc>
                <a:spcPts val="1885"/>
              </a:lnSpc>
              <a:buNone/>
            </a:pPr>
            <a:r>
              <a:rPr lang="en-US" sz="1300" dirty="0">
                <a:solidFill>
                  <a:srgbClr val="E6E9F0"/>
                </a:solidFill>
                <a:latin typeface="JetBrains Mono" pitchFamily="49" charset="0"/>
                <a:ea typeface="JetBrains Mono" pitchFamily="49" charset="-122"/>
                <a:cs typeface="JetBrains Mono" pitchFamily="49" charset="-120"/>
              </a:rPr>
              <a:t>productos.add(producto);</a:t>
            </a:r>
            <a:endParaRPr lang="en-US" sz="1300" dirty="0"/>
          </a:p>
          <a:p>
            <a:pPr algn="l" indent="0" marL="0">
              <a:lnSpc>
                <a:spcPts val="1885"/>
              </a:lnSpc>
              <a:buNone/>
            </a:pPr>
            <a:r>
              <a:rPr lang="en-US" sz="1300" dirty="0">
                <a:solidFill>
                  <a:srgbClr val="E6E9F0"/>
                </a:solidFill>
                <a:latin typeface="JetBrains Mono" pitchFamily="49" charset="0"/>
                <a:ea typeface="JetBrains Mono" pitchFamily="49" charset="-122"/>
                <a:cs typeface="JetBrains Mono" pitchFamily="49" charset="-120"/>
              </a:rPr>
              <a:t> </a:t>
            </a:r>
            <a:endParaRPr lang="en-US" sz="1300" dirty="0"/>
          </a:p>
          <a:p>
            <a:pPr algn="l" indent="0" marL="0">
              <a:lnSpc>
                <a:spcPts val="1885"/>
              </a:lnSpc>
              <a:buNone/>
            </a:pPr>
            <a:r>
              <a:rPr lang="en-US" sz="1300" dirty="0">
                <a:solidFill>
                  <a:srgbClr val="8C97AB"/>
                </a:solidFill>
                <a:latin typeface="JetBrains Mono" pitchFamily="49" charset="0"/>
                <a:ea typeface="JetBrains Mono" pitchFamily="49" charset="-122"/>
                <a:cs typeface="JetBrains Mono" pitchFamily="49" charset="-120"/>
              </a:rPr>
              <a:t>// App: cada vista se conecta a una parte del modelo</a:t>
            </a:r>
            <a:endParaRPr lang="en-US" sz="1300" dirty="0"/>
          </a:p>
          <a:p>
            <a:pPr algn="l" indent="0" marL="0">
              <a:lnSpc>
                <a:spcPts val="1885"/>
              </a:lnSpc>
              <a:buNone/>
            </a:pPr>
            <a:r>
              <a:rPr lang="en-US" sz="1300" dirty="0">
                <a:solidFill>
                  <a:srgbClr val="E6E9F0"/>
                </a:solidFill>
                <a:latin typeface="JetBrains Mono" pitchFamily="49" charset="0"/>
                <a:ea typeface="JetBrains Mono" pitchFamily="49" charset="-122"/>
                <a:cs typeface="JetBrains Mono" pitchFamily="49" charset="-120"/>
              </a:rPr>
              <a:t>vistaProductos.mostrar(modelo.getProductos());  </a:t>
            </a:r>
            <a:r>
              <a:rPr lang="en-US" sz="1300" dirty="0">
                <a:solidFill>
                  <a:srgbClr val="8FB4F0"/>
                </a:solidFill>
                <a:latin typeface="JetBrains Mono" pitchFamily="49" charset="0"/>
                <a:ea typeface="JetBrains Mono" pitchFamily="49" charset="-122"/>
                <a:cs typeface="JetBrains Mono" pitchFamily="49" charset="-120"/>
              </a:rPr>
              <a:t>// lista.setItems(...)</a:t>
            </a:r>
            <a:endParaRPr lang="en-US" sz="1300" dirty="0"/>
          </a:p>
          <a:p>
            <a:pPr algn="l" indent="0" marL="0">
              <a:lnSpc>
                <a:spcPts val="1885"/>
              </a:lnSpc>
              <a:buNone/>
            </a:pPr>
            <a:r>
              <a:rPr lang="en-US" sz="1300" dirty="0">
                <a:solidFill>
                  <a:srgbClr val="E6E9F0"/>
                </a:solidFill>
                <a:latin typeface="JetBrains Mono" pitchFamily="49" charset="0"/>
                <a:ea typeface="JetBrains Mono" pitchFamily="49" charset="-122"/>
                <a:cs typeface="JetBrains Mono" pitchFamily="49" charset="-120"/>
              </a:rPr>
              <a:t>vistaTotal.mostrar(modelo.totalProperty());     </a:t>
            </a:r>
            <a:r>
              <a:rPr lang="en-US" sz="1300" dirty="0">
                <a:solidFill>
                  <a:srgbClr val="8FB4F0"/>
                </a:solidFill>
                <a:latin typeface="JetBrains Mono" pitchFamily="49" charset="0"/>
                <a:ea typeface="JetBrains Mono" pitchFamily="49" charset="-122"/>
                <a:cs typeface="JetBrains Mono" pitchFamily="49" charset="-120"/>
              </a:rPr>
              <a:t>// textProperty().bind(...)</a:t>
            </a:r>
            <a:endParaRPr lang="en-US" sz="1300" dirty="0"/>
          </a:p>
        </p:txBody>
      </p:sp>
      <p:sp>
        <p:nvSpPr>
          <p:cNvPr id="17" name="Shape 15"/>
          <p:cNvSpPr/>
          <p:nvPr/>
        </p:nvSpPr>
        <p:spPr>
          <a:xfrm>
            <a:off x="812800" y="3418842"/>
            <a:ext cx="10566400" cy="1878330"/>
          </a:xfrm>
          <a:custGeom>
            <a:avLst/>
            <a:gdLst/>
            <a:ahLst/>
            <a:cxnLst/>
            <a:rect l="l" t="t" r="r" b="b"/>
            <a:pathLst>
              <a:path w="10566400" h="1878330">
                <a:moveTo>
                  <a:pt x="0" y="101600"/>
                </a:moveTo>
                <a:lnTo>
                  <a:pt x="0" y="101600"/>
                </a:lnTo>
                <a:arcTo hR="101600" wR="101600" stAng="10800000" swAng="5400000"/>
                <a:lnTo>
                  <a:pt x="10464800" y="0"/>
                </a:lnTo>
                <a:arcTo hR="101600" wR="101600" stAng="16200000" swAng="5400000"/>
                <a:lnTo>
                  <a:pt x="10566400" y="101600"/>
                </a:lnTo>
                <a:arcTo hR="63500" wR="101600" stAng="0" swAng="-5400000"/>
                <a:lnTo>
                  <a:pt x="101600" y="38100"/>
                </a:lnTo>
                <a:arcTo hR="63500" wR="101600" stAng="16200000" swAng="-5400000"/>
                <a:close/>
              </a:path>
            </a:pathLst>
          </a:custGeom>
          <a:solidFill>
            <a:srgbClr val="4FAE78"/>
          </a:solidFill>
          <a:ln/>
        </p:spPr>
      </p:sp>
      <p:sp>
        <p:nvSpPr>
          <p:cNvPr id="18" name="Text 16"/>
          <p:cNvSpPr/>
          <p:nvPr/>
        </p:nvSpPr>
        <p:spPr>
          <a:xfrm>
            <a:off x="812800" y="5500377"/>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El controlador solo cambia el modelo: no llama a ningún refrescar().</a:t>
            </a:r>
            <a:endParaRPr lang="en-US" sz="1400" dirty="0"/>
          </a:p>
        </p:txBody>
      </p:sp>
      <p:sp>
        <p:nvSpPr>
          <p:cNvPr id="19" name="Text 17"/>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El patrón MVC en JavaFX · Desarrollo de Interfaces · 2º DAM</a:t>
            </a:r>
            <a:endParaRPr lang="en-US" sz="1200" dirty="0"/>
          </a:p>
        </p:txBody>
      </p:sp>
      <p:sp>
        <p:nvSpPr>
          <p:cNvPr id="20" name="Text 18"/>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16 / 22</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6A80"/>
                </a:solidFill>
                <a:latin typeface="IBM Plex Sans" pitchFamily="34" charset="0"/>
                <a:ea typeface="IBM Plex Sans" pitchFamily="34" charset="-122"/>
                <a:cs typeface="IBM Plex Sans" pitchFamily="34" charset="-120"/>
              </a:rPr>
              <a:t>PARTE 2 · EJEMPLOS · EJEMPLO 4</a:t>
            </a:r>
            <a:endParaRPr lang="en-US" sz="1200" dirty="0"/>
          </a:p>
        </p:txBody>
      </p:sp>
      <p:sp>
        <p:nvSpPr>
          <p:cNvPr id="3" name="Text 1"/>
          <p:cNvSpPr/>
          <p:nvPr>
            <p:ph type="title"/>
          </p:nvPr>
        </p:nvSpPr>
        <p:spPr>
          <a:xfrm>
            <a:off x="812800" y="1229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33"/>
                </a:solidFill>
                <a:latin typeface="IBM Plex Sans" pitchFamily="34" charset="0"/>
                <a:ea typeface="IBM Plex Sans" pitchFamily="34" charset="-122"/>
                <a:cs typeface="IBM Plex Sans" pitchFamily="34" charset="-120"/>
              </a:rPr>
              <a:t>Tablas que se actualizan solas: TableView</a:t>
            </a:r>
            <a:endParaRPr lang="en-US" sz="3200" dirty="0"/>
          </a:p>
        </p:txBody>
      </p:sp>
      <p:sp>
        <p:nvSpPr>
          <p:cNvPr id="4" name="Text 2"/>
          <p:cNvSpPr/>
          <p:nvPr/>
        </p:nvSpPr>
        <p:spPr>
          <a:xfrm>
            <a:off x="812800" y="1879600"/>
            <a:ext cx="6985000" cy="2209800"/>
          </a:xfrm>
          <a:prstGeom prst="roundRect">
            <a:avLst>
              <a:gd name="adj" fmla="val 4598"/>
            </a:avLst>
          </a:prstGeom>
          <a:solidFill>
            <a:srgbClr val="1C2333"/>
          </a:solidFill>
          <a:ln/>
        </p:spPr>
        <p:txBody>
          <a:bodyPr wrap="none" lIns="198842" tIns="209002" rIns="3008" bIns="148042" rtlCol="0" anchor="t">
            <a:normAutofit/>
          </a:bodyPr>
          <a:lstStyle/>
          <a:p>
            <a:pPr algn="l" indent="0" marL="0">
              <a:lnSpc>
                <a:spcPts val="1740"/>
              </a:lnSpc>
              <a:buNone/>
            </a:pPr>
            <a:r>
              <a:rPr lang="en-US" sz="1200" dirty="0">
                <a:solidFill>
                  <a:srgbClr val="8C97AB"/>
                </a:solidFill>
                <a:latin typeface="JetBrains Mono" pitchFamily="49" charset="0"/>
                <a:ea typeface="JetBrains Mono" pitchFamily="49" charset="-122"/>
                <a:cs typeface="JetBrains Mono" pitchFamily="49" charset="-120"/>
              </a:rPr>
              <a:t>// Cada columna dice qué dato del Alumno enseña</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TableColumn&lt;Alumno, String&gt; colNombre = new TableColumn&lt;&gt;("Nombre");</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colNombre.setCellValueFactory(fila -&gt;</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new ReadOnlyObjectWrapper&lt;&gt;(fila.getValue().getNombre()));</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tabla.getColumns().add(colNombre);</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8C97AB"/>
                </a:solidFill>
                <a:latin typeface="JetBrains Mono" pitchFamily="49" charset="0"/>
                <a:ea typeface="JetBrains Mono" pitchFamily="49" charset="-122"/>
                <a:cs typeface="JetBrains Mono" pitchFamily="49" charset="-120"/>
              </a:rPr>
              <a:t>// La tabla OBSERVA la lista del modelo</a:t>
            </a:r>
            <a:endParaRPr lang="en-US" sz="1200" dirty="0"/>
          </a:p>
          <a:p>
            <a:pPr algn="l" indent="0" marL="0">
              <a:lnSpc>
                <a:spcPts val="1740"/>
              </a:lnSpc>
              <a:buNone/>
            </a:pPr>
            <a:r>
              <a:rPr lang="en-US" sz="1200" dirty="0">
                <a:solidFill>
                  <a:srgbClr val="E6E9F0"/>
                </a:solidFill>
                <a:latin typeface="JetBrains Mono" pitchFamily="49" charset="0"/>
                <a:ea typeface="JetBrains Mono" pitchFamily="49" charset="-122"/>
                <a:cs typeface="JetBrains Mono" pitchFamily="49" charset="-120"/>
              </a:rPr>
              <a:t>tabla.setItems(grupo.getAlumnos());</a:t>
            </a:r>
            <a:endParaRPr lang="en-US" sz="1200" dirty="0"/>
          </a:p>
        </p:txBody>
      </p:sp>
      <p:sp>
        <p:nvSpPr>
          <p:cNvPr id="5" name="Shape 3"/>
          <p:cNvSpPr/>
          <p:nvPr/>
        </p:nvSpPr>
        <p:spPr>
          <a:xfrm>
            <a:off x="812800" y="1879600"/>
            <a:ext cx="6985000" cy="2209800"/>
          </a:xfrm>
          <a:custGeom>
            <a:avLst/>
            <a:gdLst/>
            <a:ahLst/>
            <a:cxnLst/>
            <a:rect l="l" t="t" r="r" b="b"/>
            <a:pathLst>
              <a:path w="6985000" h="2209800">
                <a:moveTo>
                  <a:pt x="0" y="101600"/>
                </a:moveTo>
                <a:lnTo>
                  <a:pt x="0" y="101600"/>
                </a:lnTo>
                <a:arcTo hR="101600" wR="101600" stAng="10800000" swAng="5400000"/>
                <a:lnTo>
                  <a:pt x="6883400" y="0"/>
                </a:lnTo>
                <a:arcTo hR="101600" wR="101600" stAng="16200000" swAng="5400000"/>
                <a:lnTo>
                  <a:pt x="6985000" y="101600"/>
                </a:lnTo>
                <a:arcTo hR="63500" wR="101600" stAng="0" swAng="-5400000"/>
                <a:lnTo>
                  <a:pt x="101600" y="38100"/>
                </a:lnTo>
                <a:arcTo hR="63500" wR="101600" stAng="16200000" swAng="-5400000"/>
                <a:close/>
              </a:path>
            </a:pathLst>
          </a:custGeom>
          <a:solidFill>
            <a:srgbClr val="5B8FDB"/>
          </a:solidFill>
          <a:ln/>
        </p:spPr>
      </p:sp>
      <p:sp>
        <p:nvSpPr>
          <p:cNvPr id="6" name="Shape 4"/>
          <p:cNvSpPr/>
          <p:nvPr/>
        </p:nvSpPr>
        <p:spPr>
          <a:xfrm>
            <a:off x="8108950" y="1885950"/>
            <a:ext cx="3263900" cy="1770380"/>
          </a:xfrm>
          <a:prstGeom prst="roundRect">
            <a:avLst>
              <a:gd name="adj" fmla="val 3945"/>
            </a:avLst>
          </a:prstGeom>
          <a:solidFill>
            <a:srgbClr val="FFFFFF"/>
          </a:solidFill>
          <a:ln w="12700">
            <a:solidFill>
              <a:srgbClr val="C9D0DB"/>
            </a:solidFill>
            <a:prstDash val="solid"/>
          </a:ln>
        </p:spPr>
      </p:sp>
      <p:sp>
        <p:nvSpPr>
          <p:cNvPr id="7" name="Shape 5"/>
          <p:cNvSpPr/>
          <p:nvPr/>
        </p:nvSpPr>
        <p:spPr>
          <a:xfrm>
            <a:off x="8112760" y="1889758"/>
            <a:ext cx="3256280" cy="1762760"/>
          </a:xfrm>
          <a:custGeom>
            <a:avLst/>
            <a:gdLst/>
            <a:ahLst/>
            <a:cxnLst/>
            <a:rect l="l" t="t" r="r" b="b"/>
            <a:pathLst>
              <a:path w="3256280" h="1762760">
                <a:moveTo>
                  <a:pt x="0" y="66040"/>
                </a:moveTo>
                <a:arcTo hR="66040" wR="66040" stAng="10800000" swAng="1932254"/>
                <a:lnTo>
                  <a:pt x="10160" y="1731915"/>
                </a:lnTo>
                <a:arcTo hR="66040" wR="66040" stAng="8867746" swAng="1932254"/>
                <a:close/>
                <a:moveTo>
                  <a:pt x="30845" y="10160"/>
                </a:moveTo>
                <a:arcTo hR="66040" wR="66040" stAng="14267746" swAng="1932254"/>
                <a:lnTo>
                  <a:pt x="3190240" y="0"/>
                </a:lnTo>
                <a:arcTo hR="66040" wR="66040" stAng="16200000" swAng="1932254"/>
                <a:close/>
              </a:path>
            </a:pathLst>
          </a:custGeom>
          <a:solidFill>
            <a:srgbClr val="141413">
              <a:alpha val="22000"/>
            </a:srgbClr>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122920" y="1899918"/>
          <a:ext cx="3246120" cy="1752600"/>
        </p:xfrm>
        <a:graphic>
          <a:graphicData uri="http://schemas.openxmlformats.org/drawingml/2006/table">
            <a:tbl>
              <a:tblPr/>
              <a:tblGrid>
                <a:gridCol w="1687982"/>
                <a:gridCol w="714146"/>
                <a:gridCol w="843991"/>
              </a:tblGrid>
              <a:tr h="350520">
                <a:tc>
                  <a:txBody>
                    <a:bodyPr/>
                    <a:lstStyle/>
                    <a:p>
                      <a:pPr indent="0" marL="0">
                        <a:lnSpc>
                          <a:spcPts val="1680"/>
                        </a:lnSpc>
                        <a:buNone/>
                      </a:pPr>
                      <a:r>
                        <a:rPr lang="en-US" sz="1200" b="1" dirty="0">
                          <a:solidFill>
                            <a:srgbClr val="172033"/>
                          </a:solidFill>
                          <a:latin typeface="IBM Plex Sans" pitchFamily="34" charset="0"/>
                          <a:ea typeface="IBM Plex Sans" pitchFamily="34" charset="-122"/>
                          <a:cs typeface="IBM Plex Sans" pitchFamily="34" charset="-120"/>
                        </a:rPr>
                        <a:t>Nombre</a:t>
                      </a:r>
                      <a:endParaRPr lang="en-US" sz="1200" dirty="0">
                        <a:latin typeface="IBM Plex Sans" charset="0"/>
                        <a:ea typeface="IBM Plex Sans" charset="0"/>
                        <a:cs typeface="IBM Plex Sans" charset="0"/>
                      </a:endParaRPr>
                    </a:p>
                  </a:txBody>
                  <a:tcPr marL="88900" marR="88900" marT="63500" marB="63500" anchor="t">
                    <a:lnL w="0" cap="flat" cmpd="sng" algn="ctr">
                      <a:noFill/>
                    </a:lnL>
                    <a:lnR w="12700" cap="flat" cmpd="sng" algn="ctr">
                      <a:solidFill>
                        <a:srgbClr val="B6B9BE"/>
                      </a:solidFill>
                      <a:prstDash val="solid"/>
                      <a:round/>
                      <a:headEnd type="none" w="med" len="med"/>
                      <a:tailEnd type="none" w="med" len="med"/>
                    </a:lnR>
                    <a:lnT w="0" cap="flat" cmpd="sng" algn="ctr">
                      <a:noFill/>
                    </a:lnT>
                    <a:lnB w="12700" cap="flat" cmpd="sng" algn="ctr">
                      <a:solidFill>
                        <a:srgbClr val="B6B9BE"/>
                      </a:solidFill>
                      <a:prstDash val="solid"/>
                      <a:round/>
                      <a:headEnd type="none" w="med" len="med"/>
                      <a:tailEnd type="none" w="med" len="med"/>
                    </a:lnB>
                    <a:solidFill>
                      <a:srgbClr val="E4E8EE"/>
                    </a:solidFill>
                  </a:tcPr>
                </a:tc>
                <a:tc>
                  <a:txBody>
                    <a:bodyPr/>
                    <a:lstStyle/>
                    <a:p>
                      <a:pPr indent="0" marL="0">
                        <a:lnSpc>
                          <a:spcPts val="1680"/>
                        </a:lnSpc>
                        <a:buNone/>
                      </a:pPr>
                      <a:r>
                        <a:rPr lang="en-US" sz="1200" b="1" dirty="0">
                          <a:solidFill>
                            <a:srgbClr val="172033"/>
                          </a:solidFill>
                          <a:latin typeface="IBM Plex Sans" pitchFamily="34" charset="0"/>
                          <a:ea typeface="IBM Plex Sans" pitchFamily="34" charset="-122"/>
                          <a:cs typeface="IBM Plex Sans" pitchFamily="34" charset="-120"/>
                        </a:rPr>
                        <a:t>Edad</a:t>
                      </a:r>
                      <a:endParaRPr lang="en-US" sz="1200" dirty="0">
                        <a:latin typeface="IBM Plex Sans" charset="0"/>
                        <a:ea typeface="IBM Plex Sans" charset="0"/>
                        <a:cs typeface="IBM Plex Sans" charset="0"/>
                      </a:endParaRPr>
                    </a:p>
                  </a:txBody>
                  <a:tcPr marL="88900" marR="88900" marT="63500" marB="63500" anchor="t">
                    <a:lnL w="12700" cap="flat" cmpd="sng" algn="ctr">
                      <a:solidFill>
                        <a:srgbClr val="B6B9BE"/>
                      </a:solidFill>
                      <a:prstDash val="solid"/>
                      <a:round/>
                      <a:headEnd type="none" w="med" len="med"/>
                      <a:tailEnd type="none" w="med" len="med"/>
                    </a:lnL>
                    <a:lnR w="12700" cap="flat" cmpd="sng" algn="ctr">
                      <a:solidFill>
                        <a:srgbClr val="B6B9BE"/>
                      </a:solidFill>
                      <a:prstDash val="solid"/>
                      <a:round/>
                      <a:headEnd type="none" w="med" len="med"/>
                      <a:tailEnd type="none" w="med" len="med"/>
                    </a:lnR>
                    <a:lnT w="0" cap="flat" cmpd="sng" algn="ctr">
                      <a:noFill/>
                    </a:lnT>
                    <a:lnB w="12700" cap="flat" cmpd="sng" algn="ctr">
                      <a:solidFill>
                        <a:srgbClr val="B6B9BE"/>
                      </a:solidFill>
                      <a:prstDash val="solid"/>
                      <a:round/>
                      <a:headEnd type="none" w="med" len="med"/>
                      <a:tailEnd type="none" w="med" len="med"/>
                    </a:lnB>
                    <a:solidFill>
                      <a:srgbClr val="E4E8EE"/>
                    </a:solidFill>
                  </a:tcPr>
                </a:tc>
                <a:tc>
                  <a:txBody>
                    <a:bodyPr/>
                    <a:lstStyle/>
                    <a:p>
                      <a:pPr indent="0" marL="0">
                        <a:lnSpc>
                          <a:spcPts val="1680"/>
                        </a:lnSpc>
                        <a:buNone/>
                      </a:pPr>
                      <a:r>
                        <a:rPr lang="en-US" sz="1200" b="1" dirty="0">
                          <a:solidFill>
                            <a:srgbClr val="172033"/>
                          </a:solidFill>
                          <a:latin typeface="IBM Plex Sans" pitchFamily="34" charset="0"/>
                          <a:ea typeface="IBM Plex Sans" pitchFamily="34" charset="-122"/>
                          <a:cs typeface="IBM Plex Sans" pitchFamily="34" charset="-120"/>
                        </a:rPr>
                        <a:t>Nota</a:t>
                      </a:r>
                      <a:endParaRPr lang="en-US" sz="1200" dirty="0">
                        <a:latin typeface="IBM Plex Sans" charset="0"/>
                        <a:ea typeface="IBM Plex Sans" charset="0"/>
                        <a:cs typeface="IBM Plex Sans" charset="0"/>
                      </a:endParaRPr>
                    </a:p>
                  </a:txBody>
                  <a:tcPr marL="88900" marR="88900" marT="63500" marB="63500" anchor="t">
                    <a:lnL w="12700" cap="flat" cmpd="sng" algn="ctr">
                      <a:solidFill>
                        <a:srgbClr val="B6B9BE"/>
                      </a:solidFill>
                      <a:prstDash val="solid"/>
                      <a:round/>
                      <a:headEnd type="none" w="med" len="med"/>
                      <a:tailEnd type="none" w="med" len="med"/>
                    </a:lnL>
                    <a:lnR w="12700" cap="flat" cmpd="sng" algn="ctr">
                      <a:solidFill>
                        <a:srgbClr val="B6B9BE"/>
                      </a:solidFill>
                      <a:prstDash val="solid"/>
                      <a:round/>
                      <a:headEnd type="none" w="med" len="med"/>
                      <a:tailEnd type="none" w="med" len="med"/>
                    </a:lnR>
                    <a:lnT w="0" cap="flat" cmpd="sng" algn="ctr">
                      <a:noFill/>
                    </a:lnT>
                    <a:lnB w="12700" cap="flat" cmpd="sng" algn="ctr">
                      <a:solidFill>
                        <a:srgbClr val="B6B9BE"/>
                      </a:solidFill>
                      <a:prstDash val="solid"/>
                      <a:round/>
                      <a:headEnd type="none" w="med" len="med"/>
                      <a:tailEnd type="none" w="med" len="med"/>
                    </a:lnB>
                    <a:solidFill>
                      <a:srgbClr val="E4E8EE"/>
                    </a:solidFill>
                  </a:tcPr>
                </a:tc>
              </a:tr>
              <a:tr h="350520">
                <a:tc>
                  <a:txBody>
                    <a:bodyPr/>
                    <a:lstStyle/>
                    <a:p>
                      <a:pPr indent="0" marL="0">
                        <a:lnSpc>
                          <a:spcPts val="1680"/>
                        </a:lnSpc>
                        <a:buNone/>
                      </a:pPr>
                      <a:r>
                        <a:rPr lang="en-US" sz="1200" dirty="0">
                          <a:solidFill>
                            <a:srgbClr val="172033"/>
                          </a:solidFill>
                          <a:latin typeface="IBM Plex Sans" pitchFamily="34" charset="0"/>
                          <a:ea typeface="IBM Plex Sans" pitchFamily="34" charset="-122"/>
                          <a:cs typeface="IBM Plex Sans" pitchFamily="34" charset="-120"/>
                        </a:rPr>
                        <a:t>Ana García</a:t>
                      </a:r>
                      <a:endParaRPr lang="en-US" sz="1200" dirty="0">
                        <a:latin typeface="IBM Plex Sans" charset="0"/>
                        <a:ea typeface="IBM Plex Sans" charset="0"/>
                        <a:cs typeface="IBM Plex Sans" charset="0"/>
                      </a:endParaRPr>
                    </a:p>
                  </a:txBody>
                  <a:tcPr marL="88900" marR="88900" marT="63500" marB="6350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6B9BE"/>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2033"/>
                          </a:solidFill>
                          <a:latin typeface="IBM Plex Sans" pitchFamily="34" charset="0"/>
                          <a:ea typeface="IBM Plex Sans" pitchFamily="34" charset="-122"/>
                          <a:cs typeface="IBM Plex Sans" pitchFamily="34" charset="-120"/>
                        </a:rPr>
                        <a:t>19</a:t>
                      </a:r>
                      <a:endParaRPr lang="en-US" sz="1200" dirty="0">
                        <a:latin typeface="IBM Plex Sans" charset="0"/>
                        <a:ea typeface="IBM Plex Sans" charset="0"/>
                        <a:cs typeface="IBM Plex Sans" charset="0"/>
                      </a:endParaRPr>
                    </a:p>
                  </a:txBody>
                  <a:tcPr marL="88900" marR="889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6B9BE"/>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2033"/>
                          </a:solidFill>
                          <a:latin typeface="IBM Plex Sans" pitchFamily="34" charset="0"/>
                          <a:ea typeface="IBM Plex Sans" pitchFamily="34" charset="-122"/>
                          <a:cs typeface="IBM Plex Sans" pitchFamily="34" charset="-120"/>
                        </a:rPr>
                        <a:t>8.5</a:t>
                      </a:r>
                      <a:endParaRPr lang="en-US" sz="1200" dirty="0">
                        <a:latin typeface="IBM Plex Sans" charset="0"/>
                        <a:ea typeface="IBM Plex Sans" charset="0"/>
                        <a:cs typeface="IBM Plex Sans" charset="0"/>
                      </a:endParaRPr>
                    </a:p>
                  </a:txBody>
                  <a:tcPr marL="88900" marR="889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6B9BE"/>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0520">
                <a:tc>
                  <a:txBody>
                    <a:bodyPr/>
                    <a:lstStyle/>
                    <a:p>
                      <a:pPr indent="0" marL="0">
                        <a:lnSpc>
                          <a:spcPts val="1680"/>
                        </a:lnSpc>
                        <a:buNone/>
                      </a:pPr>
                      <a:r>
                        <a:rPr lang="en-US" sz="1200" dirty="0">
                          <a:solidFill>
                            <a:srgbClr val="172033"/>
                          </a:solidFill>
                          <a:latin typeface="IBM Plex Sans" pitchFamily="34" charset="0"/>
                          <a:ea typeface="IBM Plex Sans" pitchFamily="34" charset="-122"/>
                          <a:cs typeface="IBM Plex Sans" pitchFamily="34" charset="-120"/>
                        </a:rPr>
                        <a:t>Luis Pérez</a:t>
                      </a:r>
                      <a:endParaRPr lang="en-US" sz="1200" dirty="0">
                        <a:latin typeface="IBM Plex Sans" charset="0"/>
                        <a:ea typeface="IBM Plex Sans" charset="0"/>
                        <a:cs typeface="IBM Plex Sans" charset="0"/>
                      </a:endParaRPr>
                    </a:p>
                  </a:txBody>
                  <a:tcPr marL="88900" marR="88900" marT="63500" marB="63500" anchor="t">
                    <a:lnL w="0" cap="flat" cmpd="sng" algn="ctr">
                      <a:noFill/>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9"/>
                    </a:solidFill>
                  </a:tcPr>
                </a:tc>
                <a:tc>
                  <a:txBody>
                    <a:bodyPr/>
                    <a:lstStyle/>
                    <a:p>
                      <a:pPr indent="0" marL="0">
                        <a:lnSpc>
                          <a:spcPts val="1680"/>
                        </a:lnSpc>
                        <a:buNone/>
                      </a:pPr>
                      <a:r>
                        <a:rPr lang="en-US" sz="1200" dirty="0">
                          <a:solidFill>
                            <a:srgbClr val="172033"/>
                          </a:solidFill>
                          <a:latin typeface="IBM Plex Sans" pitchFamily="34" charset="0"/>
                          <a:ea typeface="IBM Plex Sans" pitchFamily="34" charset="-122"/>
                          <a:cs typeface="IBM Plex Sans" pitchFamily="34" charset="-120"/>
                        </a:rPr>
                        <a:t>21</a:t>
                      </a:r>
                      <a:endParaRPr lang="en-US" sz="1200" dirty="0">
                        <a:latin typeface="IBM Plex Sans" charset="0"/>
                        <a:ea typeface="IBM Plex Sans" charset="0"/>
                        <a:cs typeface="IBM Plex Sans" charset="0"/>
                      </a:endParaRPr>
                    </a:p>
                  </a:txBody>
                  <a:tcPr marL="88900" marR="88900" marT="63500" marB="635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9"/>
                    </a:solidFill>
                  </a:tcPr>
                </a:tc>
                <a:tc>
                  <a:txBody>
                    <a:bodyPr/>
                    <a:lstStyle/>
                    <a:p>
                      <a:pPr indent="0" marL="0">
                        <a:lnSpc>
                          <a:spcPts val="1680"/>
                        </a:lnSpc>
                        <a:buNone/>
                      </a:pPr>
                      <a:r>
                        <a:rPr lang="en-US" sz="1200" dirty="0">
                          <a:solidFill>
                            <a:srgbClr val="172033"/>
                          </a:solidFill>
                          <a:latin typeface="IBM Plex Sans" pitchFamily="34" charset="0"/>
                          <a:ea typeface="IBM Plex Sans" pitchFamily="34" charset="-122"/>
                          <a:cs typeface="IBM Plex Sans" pitchFamily="34" charset="-120"/>
                        </a:rPr>
                        <a:t>6.0</a:t>
                      </a:r>
                      <a:endParaRPr lang="en-US" sz="1200" dirty="0">
                        <a:latin typeface="IBM Plex Sans" charset="0"/>
                        <a:ea typeface="IBM Plex Sans" charset="0"/>
                        <a:cs typeface="IBM Plex Sans" charset="0"/>
                      </a:endParaRPr>
                    </a:p>
                  </a:txBody>
                  <a:tcPr marL="88900" marR="88900" marT="63500" marB="6350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9"/>
                    </a:solidFill>
                  </a:tcPr>
                </a:tc>
              </a:tr>
              <a:tr h="350520">
                <a:tc>
                  <a:txBody>
                    <a:bodyPr/>
                    <a:lstStyle/>
                    <a:p>
                      <a:pPr indent="0" marL="0">
                        <a:lnSpc>
                          <a:spcPts val="1680"/>
                        </a:lnSpc>
                        <a:buNone/>
                      </a:pPr>
                      <a:r>
                        <a:rPr lang="en-US" sz="1200" dirty="0">
                          <a:solidFill>
                            <a:srgbClr val="172033"/>
                          </a:solidFill>
                          <a:latin typeface="IBM Plex Sans" pitchFamily="34" charset="0"/>
                          <a:ea typeface="IBM Plex Sans" pitchFamily="34" charset="-122"/>
                          <a:cs typeface="IBM Plex Sans" pitchFamily="34" charset="-120"/>
                        </a:rPr>
                        <a:t>Marta Ruiz</a:t>
                      </a:r>
                      <a:endParaRPr lang="en-US" sz="1200" dirty="0">
                        <a:latin typeface="IBM Plex Sans" charset="0"/>
                        <a:ea typeface="IBM Plex Sans" charset="0"/>
                        <a:cs typeface="IBM Plex Sans" charset="0"/>
                      </a:endParaRPr>
                    </a:p>
                  </a:txBody>
                  <a:tcPr marL="88900" marR="88900" marT="63500" marB="6350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2033"/>
                          </a:solidFill>
                          <a:latin typeface="IBM Plex Sans" pitchFamily="34" charset="0"/>
                          <a:ea typeface="IBM Plex Sans" pitchFamily="34" charset="-122"/>
                          <a:cs typeface="IBM Plex Sans" pitchFamily="34" charset="-120"/>
                        </a:rPr>
                        <a:t>20</a:t>
                      </a:r>
                      <a:endParaRPr lang="en-US" sz="1200" dirty="0">
                        <a:latin typeface="IBM Plex Sans" charset="0"/>
                        <a:ea typeface="IBM Plex Sans" charset="0"/>
                        <a:cs typeface="IBM Plex Sans" charset="0"/>
                      </a:endParaRPr>
                    </a:p>
                  </a:txBody>
                  <a:tcPr marL="88900" marR="889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72033"/>
                          </a:solidFill>
                          <a:latin typeface="IBM Plex Sans" pitchFamily="34" charset="0"/>
                          <a:ea typeface="IBM Plex Sans" pitchFamily="34" charset="-122"/>
                          <a:cs typeface="IBM Plex Sans" pitchFamily="34" charset="-120"/>
                        </a:rPr>
                        <a:t>9.25</a:t>
                      </a:r>
                      <a:endParaRPr lang="en-US" sz="1200" dirty="0">
                        <a:latin typeface="IBM Plex Sans" charset="0"/>
                        <a:ea typeface="IBM Plex Sans" charset="0"/>
                        <a:cs typeface="IBM Plex Sans" charset="0"/>
                      </a:endParaRPr>
                    </a:p>
                  </a:txBody>
                  <a:tcPr marL="88900" marR="889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0520">
                <a:tc>
                  <a:txBody>
                    <a:bodyPr/>
                    <a:lstStyle/>
                    <a:p>
                      <a:pPr indent="0" marL="0">
                        <a:lnSpc>
                          <a:spcPts val="1680"/>
                        </a:lnSpc>
                        <a:buNone/>
                      </a:pPr>
                      <a:r>
                        <a:rPr lang="en-US" sz="1200" dirty="0">
                          <a:solidFill>
                            <a:srgbClr val="172033"/>
                          </a:solidFill>
                          <a:latin typeface="IBM Plex Sans" pitchFamily="34" charset="0"/>
                          <a:ea typeface="IBM Plex Sans" pitchFamily="34" charset="-122"/>
                          <a:cs typeface="IBM Plex Sans" pitchFamily="34" charset="-120"/>
                        </a:rPr>
                        <a:t>Pablo Sanz</a:t>
                      </a:r>
                      <a:endParaRPr lang="en-US" sz="1200" dirty="0">
                        <a:latin typeface="IBM Plex Sans" charset="0"/>
                        <a:ea typeface="IBM Plex Sans" charset="0"/>
                        <a:cs typeface="IBM Plex Sans" charset="0"/>
                      </a:endParaRPr>
                    </a:p>
                  </a:txBody>
                  <a:tcPr marL="88900" marR="88900" marT="63500" marB="63500" anchor="t">
                    <a:lnL w="0" cap="flat" cmpd="sng" algn="ctr">
                      <a:noFill/>
                    </a:lnL>
                    <a:lnR w="12700" cap="flat" cmpd="sng" algn="ctr">
                      <a:solidFill>
                        <a:srgbClr val="B8C1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C1BB"/>
                      </a:solidFill>
                      <a:prstDash val="solid"/>
                      <a:round/>
                      <a:headEnd type="none" w="med" len="med"/>
                      <a:tailEnd type="none" w="med" len="med"/>
                    </a:lnB>
                    <a:solidFill>
                      <a:srgbClr val="E6F2EA"/>
                    </a:solidFill>
                  </a:tcPr>
                </a:tc>
                <a:tc>
                  <a:txBody>
                    <a:bodyPr/>
                    <a:lstStyle/>
                    <a:p>
                      <a:pPr indent="0" marL="0">
                        <a:lnSpc>
                          <a:spcPts val="1680"/>
                        </a:lnSpc>
                        <a:buNone/>
                      </a:pPr>
                      <a:r>
                        <a:rPr lang="en-US" sz="1200" dirty="0">
                          <a:solidFill>
                            <a:srgbClr val="172033"/>
                          </a:solidFill>
                          <a:latin typeface="IBM Plex Sans" pitchFamily="34" charset="0"/>
                          <a:ea typeface="IBM Plex Sans" pitchFamily="34" charset="-122"/>
                          <a:cs typeface="IBM Plex Sans" pitchFamily="34" charset="-120"/>
                        </a:rPr>
                        <a:t>22</a:t>
                      </a:r>
                      <a:endParaRPr lang="en-US" sz="1200" dirty="0">
                        <a:latin typeface="IBM Plex Sans" charset="0"/>
                        <a:ea typeface="IBM Plex Sans" charset="0"/>
                        <a:cs typeface="IBM Plex Sans" charset="0"/>
                      </a:endParaRPr>
                    </a:p>
                  </a:txBody>
                  <a:tcPr marL="88900" marR="88900" marT="63500" marB="63500" anchor="t">
                    <a:lnL w="12700" cap="flat" cmpd="sng" algn="ctr">
                      <a:solidFill>
                        <a:srgbClr val="B8C1BB"/>
                      </a:solidFill>
                      <a:prstDash val="solid"/>
                      <a:round/>
                      <a:headEnd type="none" w="med" len="med"/>
                      <a:tailEnd type="none" w="med" len="med"/>
                    </a:lnL>
                    <a:lnR w="12700" cap="flat" cmpd="sng" algn="ctr">
                      <a:solidFill>
                        <a:srgbClr val="B8C1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C1BB"/>
                      </a:solidFill>
                      <a:prstDash val="solid"/>
                      <a:round/>
                      <a:headEnd type="none" w="med" len="med"/>
                      <a:tailEnd type="none" w="med" len="med"/>
                    </a:lnB>
                    <a:solidFill>
                      <a:srgbClr val="E6F2EA"/>
                    </a:solidFill>
                  </a:tcPr>
                </a:tc>
                <a:tc>
                  <a:txBody>
                    <a:bodyPr/>
                    <a:lstStyle/>
                    <a:p>
                      <a:pPr indent="0" marL="0">
                        <a:lnSpc>
                          <a:spcPts val="1680"/>
                        </a:lnSpc>
                        <a:buNone/>
                      </a:pPr>
                      <a:r>
                        <a:rPr lang="en-US" sz="1200" dirty="0">
                          <a:solidFill>
                            <a:srgbClr val="172033"/>
                          </a:solidFill>
                          <a:latin typeface="IBM Plex Sans" pitchFamily="34" charset="0"/>
                          <a:ea typeface="IBM Plex Sans" pitchFamily="34" charset="-122"/>
                          <a:cs typeface="IBM Plex Sans" pitchFamily="34" charset="-120"/>
                        </a:rPr>
                        <a:t>7.0</a:t>
                      </a:r>
                      <a:endParaRPr lang="en-US" sz="1200" dirty="0">
                        <a:latin typeface="IBM Plex Sans" charset="0"/>
                        <a:ea typeface="IBM Plex Sans" charset="0"/>
                        <a:cs typeface="IBM Plex Sans" charset="0"/>
                      </a:endParaRPr>
                    </a:p>
                  </a:txBody>
                  <a:tcPr marL="88900" marR="88900" marT="63500" marB="63500" anchor="t">
                    <a:lnL w="12700" cap="flat" cmpd="sng" algn="ctr">
                      <a:solidFill>
                        <a:srgbClr val="B8C1BB"/>
                      </a:solidFill>
                      <a:prstDash val="solid"/>
                      <a:round/>
                      <a:headEnd type="none" w="med" len="med"/>
                      <a:tailEnd type="none" w="med" len="med"/>
                    </a:lnL>
                    <a:lnR w="12700" cap="flat" cmpd="sng" algn="ctr">
                      <a:solidFill>
                        <a:srgbClr val="B8C1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C1BB"/>
                      </a:solidFill>
                      <a:prstDash val="solid"/>
                      <a:round/>
                      <a:headEnd type="none" w="med" len="med"/>
                      <a:tailEnd type="none" w="med" len="med"/>
                    </a:lnB>
                    <a:solidFill>
                      <a:srgbClr val="E6F2EA"/>
                    </a:solidFill>
                  </a:tcPr>
                </a:tc>
              </a:tr>
            </a:tbl>
          </a:graphicData>
        </a:graphic>
      </p:graphicFrame>
      <p:sp>
        <p:nvSpPr>
          <p:cNvPr id="9" name="Text 6"/>
          <p:cNvSpPr/>
          <p:nvPr/>
        </p:nvSpPr>
        <p:spPr>
          <a:xfrm>
            <a:off x="812800" y="4292600"/>
            <a:ext cx="5171440" cy="1102360"/>
          </a:xfrm>
          <a:prstGeom prst="roundRect">
            <a:avLst>
              <a:gd name="adj" fmla="val 9217"/>
            </a:avLst>
          </a:prstGeom>
          <a:solidFill>
            <a:srgbClr val="172033"/>
          </a:solidFill>
          <a:ln/>
        </p:spPr>
        <p:txBody>
          <a:bodyPr wrap="square" lIns="173442" tIns="148042" rIns="30491" bIns="122642" rtlCol="0" anchor="t">
            <a:normAutofit/>
          </a:bodyPr>
          <a:lstStyle/>
          <a:p>
            <a:pPr algn="l" indent="0" marL="0">
              <a:lnSpc>
                <a:spcPts val="1960"/>
              </a:lnSpc>
              <a:buNone/>
            </a:pPr>
            <a:r>
              <a:rPr lang="en-US" sz="1400" dirty="0">
                <a:solidFill>
                  <a:srgbClr val="F7F6F2"/>
                </a:solidFill>
                <a:latin typeface="IBM Plex Sans" pitchFamily="34" charset="0"/>
                <a:ea typeface="IBM Plex Sans" pitchFamily="34" charset="-122"/>
                <a:cs typeface="IBM Plex Sans" pitchFamily="34" charset="-120"/>
              </a:rPr>
              <a:t>La </a:t>
            </a:r>
            <a:r>
              <a:rPr lang="en-US" sz="1400" b="1" dirty="0">
                <a:solidFill>
                  <a:srgbClr val="F7F6F2"/>
                </a:solidFill>
                <a:latin typeface="IBM Plex Sans" pitchFamily="34" charset="0"/>
                <a:ea typeface="IBM Plex Sans" pitchFamily="34" charset="-122"/>
                <a:cs typeface="IBM Plex Sans" pitchFamily="34" charset="-120"/>
              </a:rPr>
              <a:t>TableView</a:t>
            </a:r>
            <a:r>
              <a:rPr lang="en-US" sz="1400" dirty="0">
                <a:solidFill>
                  <a:srgbClr val="F7F6F2"/>
                </a:solidFill>
                <a:latin typeface="IBM Plex Sans" pitchFamily="34" charset="0"/>
                <a:ea typeface="IBM Plex Sans" pitchFamily="34" charset="-122"/>
                <a:cs typeface="IBM Plex Sans" pitchFamily="34" charset="-120"/>
              </a:rPr>
              <a:t> es la vista y observa la </a:t>
            </a:r>
            <a:r>
              <a:rPr lang="en-US" sz="1400" b="1" dirty="0">
                <a:solidFill>
                  <a:srgbClr val="F7F6F2"/>
                </a:solidFill>
                <a:latin typeface="IBM Plex Sans" pitchFamily="34" charset="0"/>
                <a:ea typeface="IBM Plex Sans" pitchFamily="34" charset="-122"/>
                <a:cs typeface="IBM Plex Sans" pitchFamily="34" charset="-120"/>
              </a:rPr>
              <a:t>ObservableList</a:t>
            </a:r>
            <a:r>
              <a:rPr lang="en-US" sz="1400" dirty="0">
                <a:solidFill>
                  <a:srgbClr val="F7F6F2"/>
                </a:solidFill>
                <a:latin typeface="IBM Plex Sans" pitchFamily="34" charset="0"/>
                <a:ea typeface="IBM Plex Sans" pitchFamily="34" charset="-122"/>
                <a:cs typeface="IBM Plex Sans" pitchFamily="34" charset="-120"/>
              </a:rPr>
              <a:t> del modelo: si se añade un alumno, la fila aparece sola. Es el patrón Observer.</a:t>
            </a:r>
            <a:endParaRPr lang="en-US" sz="1400" dirty="0"/>
          </a:p>
        </p:txBody>
      </p:sp>
      <p:sp>
        <p:nvSpPr>
          <p:cNvPr id="10" name="Text 7"/>
          <p:cNvSpPr/>
          <p:nvPr/>
        </p:nvSpPr>
        <p:spPr>
          <a:xfrm>
            <a:off x="6193790" y="4298950"/>
            <a:ext cx="5179060" cy="1089660"/>
          </a:xfrm>
          <a:prstGeom prst="roundRect">
            <a:avLst>
              <a:gd name="adj" fmla="val 8741"/>
            </a:avLst>
          </a:prstGeom>
          <a:solidFill>
            <a:srgbClr val="FFFFFF"/>
          </a:solidFill>
          <a:ln w="12700">
            <a:solidFill>
              <a:srgbClr val="D5DBE4"/>
            </a:solidFill>
            <a:prstDash val="solid"/>
          </a:ln>
        </p:spPr>
        <p:txBody>
          <a:bodyPr wrap="square" lIns="179112" tIns="153712" rIns="36161" bIns="153712" rtlCol="0" anchor="t">
            <a:normAutofit/>
          </a:bodyPr>
          <a:lstStyle/>
          <a:p>
            <a:pPr algn="l"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La nota media es otra propiedad del modelo, enlazada a un Label con bind(). Nadie llama a refrescar().</a:t>
            </a:r>
            <a:endParaRPr lang="en-US" sz="1400" dirty="0"/>
          </a:p>
        </p:txBody>
      </p:sp>
      <p:sp>
        <p:nvSpPr>
          <p:cNvPr id="11" name="Text 8"/>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El patrón MVC en JavaFX · Desarrollo de Interfaces · 2º DAM</a:t>
            </a:r>
            <a:endParaRPr lang="en-US" sz="1200" dirty="0"/>
          </a:p>
        </p:txBody>
      </p:sp>
      <p:sp>
        <p:nvSpPr>
          <p:cNvPr id="12" name="Text 9"/>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17 / 22</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72033"/>
        </a:solidFill>
      </p:bgPr>
    </p:bg>
    <p:spTree>
      <p:nvGrpSpPr>
        <p:cNvPr id="1" name=""/>
        <p:cNvGrpSpPr/>
        <p:nvPr/>
      </p:nvGrpSpPr>
      <p:grpSpPr>
        <a:xfrm>
          <a:off x="0" y="0"/>
          <a:ext cx="0" cy="0"/>
          <a:chOff x="0" y="0"/>
          <a:chExt cx="0" cy="0"/>
        </a:xfrm>
      </p:grpSpPr>
      <p:sp>
        <p:nvSpPr>
          <p:cNvPr id="2" name="Text 0"/>
          <p:cNvSpPr/>
          <p:nvPr/>
        </p:nvSpPr>
        <p:spPr>
          <a:xfrm>
            <a:off x="812800" y="2134877"/>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9AA6BA"/>
                </a:solidFill>
                <a:latin typeface="IBM Plex Sans" pitchFamily="34" charset="0"/>
                <a:ea typeface="IBM Plex Sans" pitchFamily="34" charset="-122"/>
                <a:cs typeface="IBM Plex Sans" pitchFamily="34" charset="-120"/>
              </a:rPr>
              <a:t>PARTE 3</a:t>
            </a:r>
            <a:endParaRPr lang="en-US" sz="1400" dirty="0"/>
          </a:p>
        </p:txBody>
      </p:sp>
      <p:sp>
        <p:nvSpPr>
          <p:cNvPr id="3" name="Text 1"/>
          <p:cNvSpPr/>
          <p:nvPr>
            <p:ph type="title"/>
          </p:nvPr>
        </p:nvSpPr>
        <p:spPr>
          <a:xfrm>
            <a:off x="812800" y="2637792"/>
            <a:ext cx="10883392" cy="718820"/>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7F6F2"/>
                </a:solidFill>
                <a:latin typeface="IBM Plex Sans" pitchFamily="34" charset="0"/>
                <a:ea typeface="IBM Plex Sans" pitchFamily="34" charset="-122"/>
                <a:cs typeface="IBM Plex Sans" pitchFamily="34" charset="-120"/>
              </a:rPr>
              <a:t>Tareas para clase</a:t>
            </a:r>
            <a:endParaRPr lang="en-US" sz="5200" dirty="0"/>
          </a:p>
        </p:txBody>
      </p:sp>
      <p:sp>
        <p:nvSpPr>
          <p:cNvPr id="4" name="Text 2"/>
          <p:cNvSpPr/>
          <p:nvPr/>
        </p:nvSpPr>
        <p:spPr>
          <a:xfrm>
            <a:off x="812800" y="3585208"/>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C8D6"/>
                </a:solidFill>
                <a:latin typeface="IBM Plex Sans" pitchFamily="34" charset="0"/>
                <a:ea typeface="IBM Plex Sans" pitchFamily="34" charset="-122"/>
                <a:cs typeface="IBM Plex Sans" pitchFamily="34" charset="-120"/>
              </a:rPr>
              <a:t>De guiada a mini proyecto</a:t>
            </a:r>
            <a:endParaRPr lang="en-US" sz="1600" dirty="0"/>
          </a:p>
        </p:txBody>
      </p:sp>
      <p:sp>
        <p:nvSpPr>
          <p:cNvPr id="5" name="Text 3"/>
          <p:cNvSpPr/>
          <p:nvPr/>
        </p:nvSpPr>
        <p:spPr>
          <a:xfrm>
            <a:off x="819150" y="4130042"/>
            <a:ext cx="2119551" cy="383540"/>
          </a:xfrm>
          <a:prstGeom prst="roundRect">
            <a:avLst>
              <a:gd name="adj" fmla="val 50000"/>
            </a:avLst>
          </a:prstGeom>
          <a:noFill/>
          <a:ln w="12700">
            <a:solidFill>
              <a:srgbClr val="4A5878"/>
            </a:solidFill>
            <a:prstDash val="solid"/>
          </a:ln>
        </p:spPr>
        <p:txBody>
          <a:bodyPr wrap="none" lIns="0" tIns="0" rIns="0" bIns="0" rtlCol="0" anchor="ctr">
            <a:normAutofit/>
          </a:bodyPr>
          <a:lstStyle/>
          <a:p>
            <a:pPr algn="ctr" indent="0" marL="0">
              <a:lnSpc>
                <a:spcPts val="1960"/>
              </a:lnSpc>
              <a:buNone/>
            </a:pPr>
            <a:r>
              <a:rPr lang="en-US" sz="1400" dirty="0">
                <a:solidFill>
                  <a:srgbClr val="F7F6F2"/>
                </a:solidFill>
                <a:latin typeface="IBM Plex Sans" pitchFamily="34" charset="0"/>
                <a:ea typeface="IBM Plex Sans" pitchFamily="34" charset="-122"/>
                <a:cs typeface="IBM Plex Sans" pitchFamily="34" charset="-120"/>
              </a:rPr>
              <a:t>1 · Conversor · 45 min</a:t>
            </a:r>
            <a:endParaRPr lang="en-US" sz="1400" dirty="0"/>
          </a:p>
        </p:txBody>
      </p:sp>
      <p:sp>
        <p:nvSpPr>
          <p:cNvPr id="6" name="Text 4"/>
          <p:cNvSpPr/>
          <p:nvPr/>
        </p:nvSpPr>
        <p:spPr>
          <a:xfrm>
            <a:off x="3053001" y="4130042"/>
            <a:ext cx="1967706" cy="383540"/>
          </a:xfrm>
          <a:prstGeom prst="roundRect">
            <a:avLst>
              <a:gd name="adj" fmla="val 50000"/>
            </a:avLst>
          </a:prstGeom>
          <a:noFill/>
          <a:ln w="12700">
            <a:solidFill>
              <a:srgbClr val="4A5878"/>
            </a:solidFill>
            <a:prstDash val="solid"/>
          </a:ln>
        </p:spPr>
        <p:txBody>
          <a:bodyPr wrap="none" lIns="0" tIns="0" rIns="0" bIns="0" rtlCol="0" anchor="ctr">
            <a:normAutofit/>
          </a:bodyPr>
          <a:lstStyle/>
          <a:p>
            <a:pPr algn="ctr" indent="0" marL="0">
              <a:lnSpc>
                <a:spcPts val="1960"/>
              </a:lnSpc>
              <a:buNone/>
            </a:pPr>
            <a:r>
              <a:rPr lang="en-US" sz="1400" dirty="0">
                <a:solidFill>
                  <a:srgbClr val="F7F6F2"/>
                </a:solidFill>
                <a:latin typeface="IBM Plex Sans" pitchFamily="34" charset="0"/>
                <a:ea typeface="IBM Plex Sans" pitchFamily="34" charset="-122"/>
                <a:cs typeface="IBM Plex Sans" pitchFamily="34" charset="-120"/>
              </a:rPr>
              <a:t>2 · Refactorizar · 1 h</a:t>
            </a:r>
            <a:endParaRPr lang="en-US" sz="1400" dirty="0"/>
          </a:p>
        </p:txBody>
      </p:sp>
      <p:sp>
        <p:nvSpPr>
          <p:cNvPr id="7" name="Text 5"/>
          <p:cNvSpPr/>
          <p:nvPr/>
        </p:nvSpPr>
        <p:spPr>
          <a:xfrm>
            <a:off x="5135007" y="4130042"/>
            <a:ext cx="2511981" cy="383540"/>
          </a:xfrm>
          <a:prstGeom prst="roundRect">
            <a:avLst>
              <a:gd name="adj" fmla="val 50000"/>
            </a:avLst>
          </a:prstGeom>
          <a:noFill/>
          <a:ln w="12700">
            <a:solidFill>
              <a:srgbClr val="4A5878"/>
            </a:solidFill>
            <a:prstDash val="solid"/>
          </a:ln>
        </p:spPr>
        <p:txBody>
          <a:bodyPr wrap="none" lIns="0" tIns="0" rIns="0" bIns="0" rtlCol="0" anchor="ctr">
            <a:normAutofit/>
          </a:bodyPr>
          <a:lstStyle/>
          <a:p>
            <a:pPr algn="ctr" indent="0" marL="0">
              <a:lnSpc>
                <a:spcPts val="1960"/>
              </a:lnSpc>
              <a:buNone/>
            </a:pPr>
            <a:r>
              <a:rPr lang="en-US" sz="1400" dirty="0">
                <a:solidFill>
                  <a:srgbClr val="F7F6F2"/>
                </a:solidFill>
                <a:latin typeface="IBM Plex Sans" pitchFamily="34" charset="0"/>
                <a:ea typeface="IBM Plex Sans" pitchFamily="34" charset="-122"/>
                <a:cs typeface="IBM Plex Sans" pitchFamily="34" charset="-120"/>
              </a:rPr>
              <a:t>3 · Cuenta bancaria · 1–2 h</a:t>
            </a:r>
            <a:endParaRPr lang="en-US" sz="1400" dirty="0"/>
          </a:p>
        </p:txBody>
      </p:sp>
      <p:sp>
        <p:nvSpPr>
          <p:cNvPr id="8" name="Text 6"/>
          <p:cNvSpPr/>
          <p:nvPr/>
        </p:nvSpPr>
        <p:spPr>
          <a:xfrm>
            <a:off x="7761287" y="4130042"/>
            <a:ext cx="1818005" cy="383540"/>
          </a:xfrm>
          <a:prstGeom prst="roundRect">
            <a:avLst>
              <a:gd name="adj" fmla="val 50000"/>
            </a:avLst>
          </a:prstGeom>
          <a:noFill/>
          <a:ln w="12700">
            <a:solidFill>
              <a:srgbClr val="4A5878"/>
            </a:solidFill>
            <a:prstDash val="solid"/>
          </a:ln>
        </p:spPr>
        <p:txBody>
          <a:bodyPr wrap="none" lIns="0" tIns="0" rIns="0" bIns="0" rtlCol="0" anchor="ctr">
            <a:normAutofit/>
          </a:bodyPr>
          <a:lstStyle/>
          <a:p>
            <a:pPr algn="ctr" indent="0" marL="0">
              <a:lnSpc>
                <a:spcPts val="1960"/>
              </a:lnSpc>
              <a:buNone/>
            </a:pPr>
            <a:r>
              <a:rPr lang="en-US" sz="1400" dirty="0">
                <a:solidFill>
                  <a:srgbClr val="F7F6F2"/>
                </a:solidFill>
                <a:latin typeface="IBM Plex Sans" pitchFamily="34" charset="0"/>
                <a:ea typeface="IBM Plex Sans" pitchFamily="34" charset="-122"/>
                <a:cs typeface="IBM Plex Sans" pitchFamily="34" charset="-120"/>
              </a:rPr>
              <a:t>4 · Agenda · 2–3 h</a:t>
            </a:r>
            <a:endParaRPr lang="en-US" sz="1400" dirty="0"/>
          </a:p>
        </p:txBody>
      </p:sp>
      <p:sp>
        <p:nvSpPr>
          <p:cNvPr id="9" name="Text 7"/>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6BA"/>
                </a:solidFill>
                <a:latin typeface="IBM Plex Sans" pitchFamily="34" charset="0"/>
                <a:ea typeface="IBM Plex Sans" pitchFamily="34" charset="-122"/>
                <a:cs typeface="IBM Plex Sans" pitchFamily="34" charset="-120"/>
              </a:rPr>
              <a:t>El patrón MVC en JavaFX · Desarrollo de Interfaces · 2º DAM</a:t>
            </a:r>
            <a:endParaRPr lang="en-US" sz="1200" dirty="0"/>
          </a:p>
        </p:txBody>
      </p:sp>
      <p:sp>
        <p:nvSpPr>
          <p:cNvPr id="10" name="Text 8"/>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6BA"/>
                </a:solidFill>
                <a:latin typeface="IBM Plex Sans" pitchFamily="34" charset="0"/>
                <a:ea typeface="IBM Plex Sans" pitchFamily="34" charset="-122"/>
                <a:cs typeface="IBM Plex Sans" pitchFamily="34" charset="-120"/>
              </a:rPr>
              <a:t>18 / 22</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6A80"/>
                </a:solidFill>
                <a:latin typeface="IBM Plex Sans" pitchFamily="34" charset="0"/>
                <a:ea typeface="IBM Plex Sans" pitchFamily="34" charset="-122"/>
                <a:cs typeface="IBM Plex Sans" pitchFamily="34" charset="-120"/>
              </a:rPr>
              <a:t>PARTE 3 · TAREA 1 · GUIADA · 45 MIN</a:t>
            </a:r>
            <a:endParaRPr lang="en-US" sz="1200" dirty="0"/>
          </a:p>
        </p:txBody>
      </p:sp>
      <p:sp>
        <p:nvSpPr>
          <p:cNvPr id="3" name="Text 1"/>
          <p:cNvSpPr/>
          <p:nvPr>
            <p:ph type="title"/>
          </p:nvPr>
        </p:nvSpPr>
        <p:spPr>
          <a:xfrm>
            <a:off x="812800" y="1229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33"/>
                </a:solidFill>
                <a:latin typeface="IBM Plex Sans" pitchFamily="34" charset="0"/>
                <a:ea typeface="IBM Plex Sans" pitchFamily="34" charset="-122"/>
                <a:cs typeface="IBM Plex Sans" pitchFamily="34" charset="-120"/>
              </a:rPr>
              <a:t>Conversor de temperatura</a:t>
            </a:r>
            <a:endParaRPr lang="en-US" sz="3200" dirty="0"/>
          </a:p>
        </p:txBody>
      </p:sp>
      <p:sp>
        <p:nvSpPr>
          <p:cNvPr id="4" name="Text 2"/>
          <p:cNvSpPr/>
          <p:nvPr/>
        </p:nvSpPr>
        <p:spPr>
          <a:xfrm>
            <a:off x="812800" y="1879600"/>
            <a:ext cx="651433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033"/>
                </a:solidFill>
                <a:latin typeface="IBM Plex Sans" pitchFamily="34" charset="0"/>
                <a:ea typeface="IBM Plex Sans" pitchFamily="34" charset="-122"/>
                <a:cs typeface="IBM Plex Sans" pitchFamily="34" charset="-120"/>
              </a:rPr>
              <a:t>Pasos</a:t>
            </a:r>
            <a:endParaRPr lang="en-US" sz="2000" dirty="0"/>
          </a:p>
        </p:txBody>
      </p:sp>
      <p:sp>
        <p:nvSpPr>
          <p:cNvPr id="5" name="Text 3"/>
          <p:cNvSpPr/>
          <p:nvPr/>
        </p:nvSpPr>
        <p:spPr>
          <a:xfrm>
            <a:off x="841613" y="2311400"/>
            <a:ext cx="6477905" cy="1732280"/>
          </a:xfrm>
          <a:prstGeom prst="rect">
            <a:avLst/>
          </a:prstGeom>
          <a:noFill/>
          <a:ln/>
        </p:spPr>
        <p:txBody>
          <a:bodyPr wrap="square" lIns="0" tIns="0" rIns="0" bIns="0" rtlCol="0" anchor="t">
            <a:normAutofit/>
          </a:bodyPr>
          <a:lstStyle/>
          <a:p>
            <a:pPr algn="l" marL="225187" indent="-225187">
              <a:lnSpc>
                <a:spcPts val="2240"/>
              </a:lnSpc>
              <a:buSzPct val="100000"/>
              <a:buFontTx/>
              <a:buAutoNum type="arabicPeriod" startAt="1"/>
            </a:pPr>
            <a:r>
              <a:rPr lang="en-US" sz="1600" dirty="0">
                <a:solidFill>
                  <a:srgbClr val="3E4A5C"/>
                </a:solidFill>
                <a:latin typeface="IBM Plex Sans" pitchFamily="34" charset="0"/>
                <a:ea typeface="IBM Plex Sans" pitchFamily="34" charset="-122"/>
                <a:cs typeface="IBM Plex Sans" pitchFamily="34" charset="-120"/>
              </a:rPr>
              <a:t>Crea los paquetes modelo, vista y controlador.</a:t>
            </a:r>
            <a:endParaRPr lang="en-US" sz="1600" dirty="0"/>
          </a:p>
          <a:p>
            <a:pPr algn="l" marL="225187" indent="-225187">
              <a:lnSpc>
                <a:spcPts val="2240"/>
              </a:lnSpc>
              <a:buSzPct val="100000"/>
              <a:buFontTx/>
              <a:buAutoNum type="arabicPeriod" startAt="1"/>
            </a:pPr>
            <a:r>
              <a:rPr lang="en-US" sz="1600" dirty="0">
                <a:solidFill>
                  <a:srgbClr val="3E4A5C"/>
                </a:solidFill>
                <a:latin typeface="IBM Plex Sans" pitchFamily="34" charset="0"/>
                <a:ea typeface="IBM Plex Sans" pitchFamily="34" charset="-122"/>
                <a:cs typeface="IBM Plex Sans" pitchFamily="34" charset="-120"/>
              </a:rPr>
              <a:t>Modelo ConversorTemperatura con celsiusAFahrenheit y fahrenheitACelsius.</a:t>
            </a:r>
            <a:endParaRPr lang="en-US" sz="1600" dirty="0"/>
          </a:p>
          <a:p>
            <a:pPr algn="l" marL="225187" indent="-225187">
              <a:lnSpc>
                <a:spcPts val="2240"/>
              </a:lnSpc>
              <a:buSzPct val="100000"/>
              <a:buFontTx/>
              <a:buAutoNum type="arabicPeriod" startAt="1"/>
            </a:pPr>
            <a:r>
              <a:rPr lang="en-US" sz="1600" dirty="0">
                <a:solidFill>
                  <a:srgbClr val="3E4A5C"/>
                </a:solidFill>
                <a:latin typeface="IBM Plex Sans" pitchFamily="34" charset="0"/>
                <a:ea typeface="IBM Plex Sans" pitchFamily="34" charset="-122"/>
                <a:cs typeface="IBM Plex Sans" pitchFamily="34" charset="-120"/>
              </a:rPr>
              <a:t>Prueba el modelo en un main: 100 °C dan 212 °F.</a:t>
            </a:r>
            <a:endParaRPr lang="en-US" sz="1600" dirty="0"/>
          </a:p>
          <a:p>
            <a:pPr algn="l" marL="225187" indent="-225187">
              <a:lnSpc>
                <a:spcPts val="2240"/>
              </a:lnSpc>
              <a:buSzPct val="100000"/>
              <a:buFontTx/>
              <a:buAutoNum type="arabicPeriod" startAt="1"/>
            </a:pPr>
            <a:r>
              <a:rPr lang="en-US" sz="1600" dirty="0">
                <a:solidFill>
                  <a:srgbClr val="3E4A5C"/>
                </a:solidFill>
                <a:latin typeface="IBM Plex Sans" pitchFamily="34" charset="0"/>
                <a:ea typeface="IBM Plex Sans" pitchFamily="34" charset="-122"/>
                <a:cs typeface="IBM Plex Sans" pitchFamily="34" charset="-120"/>
              </a:rPr>
              <a:t>Vista con un campo, un botón Convertir y una etiqueta.</a:t>
            </a:r>
            <a:endParaRPr lang="en-US" sz="1600" dirty="0"/>
          </a:p>
          <a:p>
            <a:pPr algn="l" marL="225187" indent="-225187">
              <a:lnSpc>
                <a:spcPts val="2240"/>
              </a:lnSpc>
              <a:buSzPct val="100000"/>
              <a:buFontTx/>
              <a:buAutoNum type="arabicPeriod" startAt="1"/>
            </a:pPr>
            <a:r>
              <a:rPr lang="en-US" sz="1600" dirty="0">
                <a:solidFill>
                  <a:srgbClr val="3E4A5C"/>
                </a:solidFill>
                <a:latin typeface="IBM Plex Sans" pitchFamily="34" charset="0"/>
                <a:ea typeface="IBM Plex Sans" pitchFamily="34" charset="-122"/>
                <a:cs typeface="IBM Plex Sans" pitchFamily="34" charset="-120"/>
              </a:rPr>
              <a:t>Controlador: si el texto no es un número, muestra un error.</a:t>
            </a:r>
            <a:endParaRPr lang="en-US" sz="1600" dirty="0"/>
          </a:p>
        </p:txBody>
      </p:sp>
      <p:sp>
        <p:nvSpPr>
          <p:cNvPr id="6" name="Shape 4"/>
          <p:cNvSpPr/>
          <p:nvPr/>
        </p:nvSpPr>
        <p:spPr>
          <a:xfrm>
            <a:off x="7448550" y="1885950"/>
            <a:ext cx="3924300" cy="2236470"/>
          </a:xfrm>
          <a:prstGeom prst="roundRect">
            <a:avLst>
              <a:gd name="adj" fmla="val 4259"/>
            </a:avLst>
          </a:prstGeom>
          <a:solidFill>
            <a:srgbClr val="FFFFFF"/>
          </a:solidFill>
          <a:ln w="12700">
            <a:solidFill>
              <a:srgbClr val="D5DBE4"/>
            </a:solidFill>
            <a:prstDash val="solid"/>
          </a:ln>
        </p:spPr>
      </p:sp>
      <p:sp>
        <p:nvSpPr>
          <p:cNvPr id="7" name="Text 5"/>
          <p:cNvSpPr/>
          <p:nvPr/>
        </p:nvSpPr>
        <p:spPr>
          <a:xfrm>
            <a:off x="7706360" y="2143758"/>
            <a:ext cx="351094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033"/>
                </a:solidFill>
                <a:latin typeface="IBM Plex Sans" pitchFamily="34" charset="0"/>
                <a:ea typeface="IBM Plex Sans" pitchFamily="34" charset="-122"/>
                <a:cs typeface="IBM Plex Sans" pitchFamily="34" charset="-120"/>
              </a:rPr>
              <a:t>Entregable y criterios</a:t>
            </a:r>
            <a:endParaRPr lang="en-US" sz="2000" dirty="0"/>
          </a:p>
        </p:txBody>
      </p:sp>
      <p:sp>
        <p:nvSpPr>
          <p:cNvPr id="8" name="Text 6"/>
          <p:cNvSpPr/>
          <p:nvPr/>
        </p:nvSpPr>
        <p:spPr>
          <a:xfrm>
            <a:off x="7784592" y="2575558"/>
            <a:ext cx="3425088" cy="1314450"/>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Proyecto Maven con Main y App</a:t>
            </a:r>
            <a:endParaRPr lang="en-US" sz="1400" dirty="0"/>
          </a:p>
          <a:p>
            <a:pPr algn="l" marL="175768"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El modelo no importa javafx</a:t>
            </a:r>
            <a:endParaRPr lang="en-US" sz="1400" dirty="0"/>
          </a:p>
          <a:p>
            <a:pPr algn="l" marL="175768"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La vista no hace ningún cálculo</a:t>
            </a:r>
            <a:endParaRPr lang="en-US" sz="1400" dirty="0"/>
          </a:p>
          <a:p>
            <a:pPr algn="l" marL="175768"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Error con un texto que no es número</a:t>
            </a:r>
            <a:endParaRPr lang="en-US" sz="1400" dirty="0"/>
          </a:p>
          <a:p>
            <a:pPr algn="l" marL="175768"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Error por debajo del cero absoluto</a:t>
            </a:r>
            <a:endParaRPr lang="en-US" sz="1400" dirty="0"/>
          </a:p>
        </p:txBody>
      </p:sp>
      <p:sp>
        <p:nvSpPr>
          <p:cNvPr id="9" name="Text 7"/>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El patrón MVC en JavaFX · Desarrollo de Interfaces · 2º DAM</a:t>
            </a:r>
            <a:endParaRPr lang="en-US" sz="1200" dirty="0"/>
          </a:p>
        </p:txBody>
      </p:sp>
      <p:sp>
        <p:nvSpPr>
          <p:cNvPr id="10" name="Text 8"/>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19 / 22</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6A80"/>
                </a:solidFill>
                <a:latin typeface="IBM Plex Sans" pitchFamily="34" charset="0"/>
                <a:ea typeface="IBM Plex Sans" pitchFamily="34" charset="-122"/>
                <a:cs typeface="IBM Plex Sans" pitchFamily="34" charset="-120"/>
              </a:rPr>
              <a:t>PARTE 3 · TAREA 2 · REFACTORIZAR · 1 H</a:t>
            </a:r>
            <a:endParaRPr lang="en-US" sz="1200" dirty="0"/>
          </a:p>
        </p:txBody>
      </p:sp>
      <p:sp>
        <p:nvSpPr>
          <p:cNvPr id="3" name="Text 1"/>
          <p:cNvSpPr/>
          <p:nvPr>
            <p:ph type="title"/>
          </p:nvPr>
        </p:nvSpPr>
        <p:spPr>
          <a:xfrm>
            <a:off x="812800" y="1229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33"/>
                </a:solidFill>
                <a:latin typeface="IBM Plex Sans" pitchFamily="34" charset="0"/>
                <a:ea typeface="IBM Plex Sans" pitchFamily="34" charset="-122"/>
                <a:cs typeface="IBM Plex Sans" pitchFamily="34" charset="-120"/>
              </a:rPr>
              <a:t>Separa la calculadora espagueti</a:t>
            </a:r>
            <a:endParaRPr lang="en-US" sz="3200" dirty="0"/>
          </a:p>
        </p:txBody>
      </p:sp>
      <p:sp>
        <p:nvSpPr>
          <p:cNvPr id="4" name="Text 2"/>
          <p:cNvSpPr/>
          <p:nvPr/>
        </p:nvSpPr>
        <p:spPr>
          <a:xfrm>
            <a:off x="812800" y="1879600"/>
            <a:ext cx="651433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033"/>
                </a:solidFill>
                <a:latin typeface="IBM Plex Sans" pitchFamily="34" charset="0"/>
                <a:ea typeface="IBM Plex Sans" pitchFamily="34" charset="-122"/>
                <a:cs typeface="IBM Plex Sans" pitchFamily="34" charset="-120"/>
              </a:rPr>
              <a:t>Pasos</a:t>
            </a:r>
            <a:endParaRPr lang="en-US" sz="2000" dirty="0"/>
          </a:p>
        </p:txBody>
      </p:sp>
      <p:sp>
        <p:nvSpPr>
          <p:cNvPr id="5" name="Text 3"/>
          <p:cNvSpPr/>
          <p:nvPr/>
        </p:nvSpPr>
        <p:spPr>
          <a:xfrm>
            <a:off x="841613" y="2311400"/>
            <a:ext cx="6477905" cy="1447800"/>
          </a:xfrm>
          <a:prstGeom prst="rect">
            <a:avLst/>
          </a:prstGeom>
          <a:noFill/>
          <a:ln/>
        </p:spPr>
        <p:txBody>
          <a:bodyPr wrap="square" lIns="0" tIns="0" rIns="0" bIns="0" rtlCol="0" anchor="t">
            <a:normAutofit/>
          </a:bodyPr>
          <a:lstStyle/>
          <a:p>
            <a:pPr algn="l" marL="225187" indent="-225187">
              <a:lnSpc>
                <a:spcPts val="2240"/>
              </a:lnSpc>
              <a:buSzPct val="100000"/>
              <a:buFontTx/>
              <a:buAutoNum type="arabicPeriod" startAt="1"/>
            </a:pPr>
            <a:r>
              <a:rPr lang="en-US" sz="1600" dirty="0">
                <a:solidFill>
                  <a:srgbClr val="3E4A5C"/>
                </a:solidFill>
                <a:latin typeface="IBM Plex Sans" pitchFamily="34" charset="0"/>
                <a:ea typeface="IBM Plex Sans" pitchFamily="34" charset="-122"/>
                <a:cs typeface="IBM Plex Sans" pitchFamily="34" charset="-120"/>
              </a:rPr>
              <a:t>Abre la clase CalculadoraEspagueti, que lo hace todo.</a:t>
            </a:r>
            <a:endParaRPr lang="en-US" sz="1600" dirty="0"/>
          </a:p>
          <a:p>
            <a:pPr algn="l" marL="225187" indent="-225187">
              <a:lnSpc>
                <a:spcPts val="2240"/>
              </a:lnSpc>
              <a:buSzPct val="100000"/>
              <a:buFontTx/>
              <a:buAutoNum type="arabicPeriod" startAt="1"/>
            </a:pPr>
            <a:r>
              <a:rPr lang="en-US" sz="1600" dirty="0">
                <a:solidFill>
                  <a:srgbClr val="3E4A5C"/>
                </a:solidFill>
                <a:latin typeface="IBM Plex Sans" pitchFamily="34" charset="0"/>
                <a:ea typeface="IBM Plex Sans" pitchFamily="34" charset="-122"/>
                <a:cs typeface="IBM Plex Sans" pitchFamily="34" charset="-120"/>
              </a:rPr>
              <a:t>Marca con tres colores qué es modelo, vista y controlador.</a:t>
            </a:r>
            <a:endParaRPr lang="en-US" sz="1600" dirty="0"/>
          </a:p>
          <a:p>
            <a:pPr algn="l" marL="225187" indent="-225187">
              <a:lnSpc>
                <a:spcPts val="2240"/>
              </a:lnSpc>
              <a:buSzPct val="100000"/>
              <a:buFontTx/>
              <a:buAutoNum type="arabicPeriod" startAt="1"/>
            </a:pPr>
            <a:r>
              <a:rPr lang="en-US" sz="1600" dirty="0">
                <a:solidFill>
                  <a:srgbClr val="3E4A5C"/>
                </a:solidFill>
                <a:latin typeface="IBM Plex Sans" pitchFamily="34" charset="0"/>
                <a:ea typeface="IBM Plex Sans" pitchFamily="34" charset="-122"/>
                <a:cs typeface="IBM Plex Sans" pitchFamily="34" charset="-120"/>
              </a:rPr>
              <a:t>Extrae el modelo con sumar, restar, multiplicar y dividir.</a:t>
            </a:r>
            <a:endParaRPr lang="en-US" sz="1600" dirty="0"/>
          </a:p>
          <a:p>
            <a:pPr algn="l" marL="225187" indent="-225187">
              <a:lnSpc>
                <a:spcPts val="2240"/>
              </a:lnSpc>
              <a:buSzPct val="100000"/>
              <a:buFontTx/>
              <a:buAutoNum type="arabicPeriod" startAt="1"/>
            </a:pPr>
            <a:r>
              <a:rPr lang="en-US" sz="1600" dirty="0">
                <a:solidFill>
                  <a:srgbClr val="3E4A5C"/>
                </a:solidFill>
                <a:latin typeface="IBM Plex Sans" pitchFamily="34" charset="0"/>
                <a:ea typeface="IBM Plex Sans" pitchFamily="34" charset="-122"/>
                <a:cs typeface="IBM Plex Sans" pitchFamily="34" charset="-120"/>
              </a:rPr>
              <a:t>Dividir entre cero lanza una excepción propia.</a:t>
            </a:r>
            <a:endParaRPr lang="en-US" sz="1600" dirty="0"/>
          </a:p>
          <a:p>
            <a:pPr algn="l" marL="225187" indent="-225187">
              <a:lnSpc>
                <a:spcPts val="2240"/>
              </a:lnSpc>
              <a:buSzPct val="100000"/>
              <a:buFontTx/>
              <a:buAutoNum type="arabicPeriod" startAt="1"/>
            </a:pPr>
            <a:r>
              <a:rPr lang="en-US" sz="1600" dirty="0">
                <a:solidFill>
                  <a:srgbClr val="3E4A5C"/>
                </a:solidFill>
                <a:latin typeface="IBM Plex Sans" pitchFamily="34" charset="0"/>
                <a:ea typeface="IBM Plex Sans" pitchFamily="34" charset="-122"/>
                <a:cs typeface="IBM Plex Sans" pitchFamily="34" charset="-120"/>
              </a:rPr>
              <a:t>Extrae la vista y crea el controlador.</a:t>
            </a:r>
            <a:endParaRPr lang="en-US" sz="1600" dirty="0"/>
          </a:p>
        </p:txBody>
      </p:sp>
      <p:sp>
        <p:nvSpPr>
          <p:cNvPr id="6" name="Shape 4"/>
          <p:cNvSpPr/>
          <p:nvPr/>
        </p:nvSpPr>
        <p:spPr>
          <a:xfrm>
            <a:off x="7448550" y="1885950"/>
            <a:ext cx="3924300" cy="1978660"/>
          </a:xfrm>
          <a:prstGeom prst="roundRect">
            <a:avLst>
              <a:gd name="adj" fmla="val 4814"/>
            </a:avLst>
          </a:prstGeom>
          <a:solidFill>
            <a:srgbClr val="FFFFFF"/>
          </a:solidFill>
          <a:ln w="12700">
            <a:solidFill>
              <a:srgbClr val="D5DBE4"/>
            </a:solidFill>
            <a:prstDash val="solid"/>
          </a:ln>
        </p:spPr>
      </p:sp>
      <p:sp>
        <p:nvSpPr>
          <p:cNvPr id="7" name="Text 5"/>
          <p:cNvSpPr/>
          <p:nvPr/>
        </p:nvSpPr>
        <p:spPr>
          <a:xfrm>
            <a:off x="7706360" y="2143758"/>
            <a:ext cx="351094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033"/>
                </a:solidFill>
                <a:latin typeface="IBM Plex Sans" pitchFamily="34" charset="0"/>
                <a:ea typeface="IBM Plex Sans" pitchFamily="34" charset="-122"/>
                <a:cs typeface="IBM Plex Sans" pitchFamily="34" charset="-120"/>
              </a:rPr>
              <a:t>Entregable y criterios</a:t>
            </a:r>
            <a:endParaRPr lang="en-US" sz="2000" dirty="0"/>
          </a:p>
        </p:txBody>
      </p:sp>
      <p:sp>
        <p:nvSpPr>
          <p:cNvPr id="8" name="Text 6"/>
          <p:cNvSpPr/>
          <p:nvPr/>
        </p:nvSpPr>
        <p:spPr>
          <a:xfrm>
            <a:off x="7784592" y="2575558"/>
            <a:ext cx="3425088" cy="1056640"/>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Funciona igual que el original</a:t>
            </a:r>
            <a:endParaRPr lang="en-US" sz="1400" dirty="0"/>
          </a:p>
          <a:p>
            <a:pPr algn="l" marL="175768"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Modelo sin javafx.scene ni stage</a:t>
            </a:r>
            <a:endParaRPr lang="en-US" sz="1400" dirty="0"/>
          </a:p>
          <a:p>
            <a:pPr algn="l" marL="175768"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Vista sin ningún if de operaciones</a:t>
            </a:r>
            <a:endParaRPr lang="en-US" sz="1400" dirty="0"/>
          </a:p>
          <a:p>
            <a:pPr algn="l" marL="175768"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Al menos un test JUnit del modelo</a:t>
            </a:r>
            <a:endParaRPr lang="en-US" sz="1400" dirty="0"/>
          </a:p>
        </p:txBody>
      </p:sp>
      <p:sp>
        <p:nvSpPr>
          <p:cNvPr id="9" name="Text 7"/>
          <p:cNvSpPr/>
          <p:nvPr/>
        </p:nvSpPr>
        <p:spPr>
          <a:xfrm>
            <a:off x="7442200" y="3997958"/>
            <a:ext cx="3937000" cy="751840"/>
          </a:xfrm>
          <a:prstGeom prst="roundRect">
            <a:avLst>
              <a:gd name="adj" fmla="val 10135"/>
            </a:avLst>
          </a:prstGeom>
          <a:solidFill>
            <a:srgbClr val="FBF0D9"/>
          </a:solidFill>
          <a:ln/>
        </p:spPr>
        <p:txBody>
          <a:bodyPr wrap="square" lIns="191042" tIns="104682" rIns="49107" bIns="79282" rtlCol="0" anchor="t">
            <a:normAutofit/>
          </a:bodyPr>
          <a:lstStyle/>
          <a:p>
            <a:pPr algn="l" indent="0" marL="0">
              <a:lnSpc>
                <a:spcPts val="1960"/>
              </a:lnSpc>
              <a:buNone/>
            </a:pPr>
            <a:r>
              <a:rPr lang="en-US" sz="1400" b="1" dirty="0">
                <a:solidFill>
                  <a:srgbClr val="172033"/>
                </a:solidFill>
                <a:latin typeface="IBM Plex Sans" pitchFamily="34" charset="0"/>
                <a:ea typeface="IBM Plex Sans" pitchFamily="34" charset="-122"/>
                <a:cs typeface="IBM Plex Sans" pitchFamily="34" charset="-120"/>
              </a:rPr>
              <a:t>Pista:</a:t>
            </a:r>
            <a:r>
              <a:rPr lang="en-US" sz="1400" dirty="0">
                <a:solidFill>
                  <a:srgbClr val="172033"/>
                </a:solidFill>
                <a:latin typeface="IBM Plex Sans" pitchFamily="34" charset="0"/>
                <a:ea typeface="IBM Plex Sans" pitchFamily="34" charset="-122"/>
                <a:cs typeface="IBM Plex Sans" pitchFamily="34" charset="-120"/>
              </a:rPr>
              <a:t> prueba «2 + 3 + 4 =». Encuentra el fallo con un test y arréglalo.</a:t>
            </a:r>
            <a:endParaRPr lang="en-US" sz="1400" dirty="0"/>
          </a:p>
        </p:txBody>
      </p:sp>
      <p:sp>
        <p:nvSpPr>
          <p:cNvPr id="10" name="Shape 8"/>
          <p:cNvSpPr/>
          <p:nvPr/>
        </p:nvSpPr>
        <p:spPr>
          <a:xfrm>
            <a:off x="7442200" y="3997958"/>
            <a:ext cx="3937000" cy="751840"/>
          </a:xfrm>
          <a:custGeom>
            <a:avLst/>
            <a:gdLst/>
            <a:ahLst/>
            <a:cxnLst/>
            <a:rect l="l" t="t" r="r" b="b"/>
            <a:pathLst>
              <a:path w="3937000" h="751840">
                <a:moveTo>
                  <a:pt x="76200" y="751840"/>
                </a:moveTo>
                <a:lnTo>
                  <a:pt x="76200" y="751840"/>
                </a:lnTo>
                <a:arcTo hR="76200" wR="76200" stAng="5400000" swAng="5400000"/>
                <a:lnTo>
                  <a:pt x="0" y="76200"/>
                </a:lnTo>
                <a:arcTo hR="76200" wR="76200" stAng="10800000" swAng="5400000"/>
                <a:lnTo>
                  <a:pt x="76200" y="0"/>
                </a:lnTo>
                <a:arcTo hR="76200" wR="38100" stAng="16200000" swAng="-5400000"/>
                <a:lnTo>
                  <a:pt x="38100" y="675640"/>
                </a:lnTo>
                <a:arcTo hR="76200" wR="38100" stAng="10800000" swAng="-5400000"/>
                <a:close/>
              </a:path>
            </a:pathLst>
          </a:custGeom>
          <a:solidFill>
            <a:srgbClr val="B0601A"/>
          </a:solidFill>
          <a:ln/>
        </p:spPr>
      </p:sp>
      <p:sp>
        <p:nvSpPr>
          <p:cNvPr id="11" name="Text 9"/>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El patrón MVC en JavaFX · Desarrollo de Interfaces · 2º DAM</a:t>
            </a:r>
            <a:endParaRPr lang="en-US" sz="1200" dirty="0"/>
          </a:p>
        </p:txBody>
      </p:sp>
      <p:sp>
        <p:nvSpPr>
          <p:cNvPr id="12" name="Text 10"/>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20 / 22</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6A80"/>
                </a:solidFill>
                <a:latin typeface="IBM Plex Sans" pitchFamily="34" charset="0"/>
                <a:ea typeface="IBM Plex Sans" pitchFamily="34" charset="-122"/>
                <a:cs typeface="IBM Plex Sans" pitchFamily="34" charset="-120"/>
              </a:rPr>
              <a:t>PARTE 3 · TAREA 3 · OBSERVER · 1–2 H</a:t>
            </a:r>
            <a:endParaRPr lang="en-US" sz="1200" dirty="0"/>
          </a:p>
        </p:txBody>
      </p:sp>
      <p:sp>
        <p:nvSpPr>
          <p:cNvPr id="3" name="Text 1"/>
          <p:cNvSpPr/>
          <p:nvPr>
            <p:ph type="title"/>
          </p:nvPr>
        </p:nvSpPr>
        <p:spPr>
          <a:xfrm>
            <a:off x="812800" y="1229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33"/>
                </a:solidFill>
                <a:latin typeface="IBM Plex Sans" pitchFamily="34" charset="0"/>
                <a:ea typeface="IBM Plex Sans" pitchFamily="34" charset="-122"/>
                <a:cs typeface="IBM Plex Sans" pitchFamily="34" charset="-120"/>
              </a:rPr>
              <a:t>Cuenta bancaria con dos vistas</a:t>
            </a:r>
            <a:endParaRPr lang="en-US" sz="3200" dirty="0"/>
          </a:p>
        </p:txBody>
      </p:sp>
      <p:sp>
        <p:nvSpPr>
          <p:cNvPr id="4" name="Text 2"/>
          <p:cNvSpPr/>
          <p:nvPr/>
        </p:nvSpPr>
        <p:spPr>
          <a:xfrm>
            <a:off x="812800" y="1879600"/>
            <a:ext cx="651433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033"/>
                </a:solidFill>
                <a:latin typeface="IBM Plex Sans" pitchFamily="34" charset="0"/>
                <a:ea typeface="IBM Plex Sans" pitchFamily="34" charset="-122"/>
                <a:cs typeface="IBM Plex Sans" pitchFamily="34" charset="-120"/>
              </a:rPr>
              <a:t>Pasos</a:t>
            </a:r>
            <a:endParaRPr lang="en-US" sz="2000" dirty="0"/>
          </a:p>
        </p:txBody>
      </p:sp>
      <p:sp>
        <p:nvSpPr>
          <p:cNvPr id="5" name="Text 3"/>
          <p:cNvSpPr/>
          <p:nvPr/>
        </p:nvSpPr>
        <p:spPr>
          <a:xfrm>
            <a:off x="841613" y="2311400"/>
            <a:ext cx="6477905" cy="1447800"/>
          </a:xfrm>
          <a:prstGeom prst="rect">
            <a:avLst/>
          </a:prstGeom>
          <a:noFill/>
          <a:ln/>
        </p:spPr>
        <p:txBody>
          <a:bodyPr wrap="square" lIns="0" tIns="0" rIns="0" bIns="0" rtlCol="0" anchor="t">
            <a:normAutofit/>
          </a:bodyPr>
          <a:lstStyle/>
          <a:p>
            <a:pPr algn="l" marL="225187" indent="-225187">
              <a:lnSpc>
                <a:spcPts val="2240"/>
              </a:lnSpc>
              <a:buSzPct val="100000"/>
              <a:buFontTx/>
              <a:buAutoNum type="arabicPeriod" startAt="1"/>
            </a:pPr>
            <a:r>
              <a:rPr lang="en-US" sz="1600" dirty="0">
                <a:solidFill>
                  <a:srgbClr val="3E4A5C"/>
                </a:solidFill>
                <a:latin typeface="IBM Plex Sans" pitchFamily="34" charset="0"/>
                <a:ea typeface="IBM Plex Sans" pitchFamily="34" charset="-122"/>
                <a:cs typeface="IBM Plex Sans" pitchFamily="34" charset="-120"/>
              </a:rPr>
              <a:t>CuentaBancaria con ingresar y retirar; si no hay saldo, excepción.</a:t>
            </a:r>
            <a:endParaRPr lang="en-US" sz="1600" dirty="0"/>
          </a:p>
          <a:p>
            <a:pPr algn="l" marL="225187" indent="-225187">
              <a:lnSpc>
                <a:spcPts val="2240"/>
              </a:lnSpc>
              <a:buSzPct val="100000"/>
              <a:buFontTx/>
              <a:buAutoNum type="arabicPeriod" startAt="1"/>
            </a:pPr>
            <a:r>
              <a:rPr lang="en-US" sz="1600" dirty="0">
                <a:solidFill>
                  <a:srgbClr val="3E4A5C"/>
                </a:solidFill>
                <a:latin typeface="IBM Plex Sans" pitchFamily="34" charset="0"/>
                <a:ea typeface="IBM Plex Sans" pitchFamily="34" charset="-122"/>
                <a:cs typeface="IBM Plex Sans" pitchFamily="34" charset="-120"/>
              </a:rPr>
              <a:t>Saldo como propiedad y movimientos como ObservableList.</a:t>
            </a:r>
            <a:endParaRPr lang="en-US" sz="1600" dirty="0"/>
          </a:p>
          <a:p>
            <a:pPr algn="l" marL="225187" indent="-225187">
              <a:lnSpc>
                <a:spcPts val="2240"/>
              </a:lnSpc>
              <a:buSzPct val="100000"/>
              <a:buFontTx/>
              <a:buAutoNum type="arabicPeriod" startAt="1"/>
            </a:pPr>
            <a:r>
              <a:rPr lang="en-US" sz="1600" dirty="0">
                <a:solidFill>
                  <a:srgbClr val="3E4A5C"/>
                </a:solidFill>
                <a:latin typeface="IBM Plex Sans" pitchFamily="34" charset="0"/>
                <a:ea typeface="IBM Plex Sans" pitchFamily="34" charset="-122"/>
                <a:cs typeface="IBM Plex Sans" pitchFamily="34" charset="-120"/>
              </a:rPr>
              <a:t>Vista de operaciones: importe, Ingresar y Retirar.</a:t>
            </a:r>
            <a:endParaRPr lang="en-US" sz="1600" dirty="0"/>
          </a:p>
          <a:p>
            <a:pPr algn="l" marL="225187" indent="-225187">
              <a:lnSpc>
                <a:spcPts val="2240"/>
              </a:lnSpc>
              <a:buSzPct val="100000"/>
              <a:buFontTx/>
              <a:buAutoNum type="arabicPeriod" startAt="1"/>
            </a:pPr>
            <a:r>
              <a:rPr lang="en-US" sz="1600" dirty="0">
                <a:solidFill>
                  <a:srgbClr val="3E4A5C"/>
                </a:solidFill>
                <a:latin typeface="IBM Plex Sans" pitchFamily="34" charset="0"/>
                <a:ea typeface="IBM Plex Sans" pitchFamily="34" charset="-122"/>
                <a:cs typeface="IBM Plex Sans" pitchFamily="34" charset="-120"/>
              </a:rPr>
              <a:t>Vista de resumen: saldo, en rojo si baja de 100 €.</a:t>
            </a:r>
            <a:endParaRPr lang="en-US" sz="1600" dirty="0"/>
          </a:p>
          <a:p>
            <a:pPr algn="l" marL="225187" indent="-225187">
              <a:lnSpc>
                <a:spcPts val="2240"/>
              </a:lnSpc>
              <a:buSzPct val="100000"/>
              <a:buFontTx/>
              <a:buAutoNum type="arabicPeriod" startAt="1"/>
            </a:pPr>
            <a:r>
              <a:rPr lang="en-US" sz="1600" dirty="0">
                <a:solidFill>
                  <a:srgbClr val="3E4A5C"/>
                </a:solidFill>
                <a:latin typeface="IBM Plex Sans" pitchFamily="34" charset="0"/>
                <a:ea typeface="IBM Plex Sans" pitchFamily="34" charset="-122"/>
                <a:cs typeface="IBM Plex Sans" pitchFamily="34" charset="-120"/>
              </a:rPr>
              <a:t>Tres tests JUnit del modelo.</a:t>
            </a:r>
            <a:endParaRPr lang="en-US" sz="1600" dirty="0"/>
          </a:p>
        </p:txBody>
      </p:sp>
      <p:sp>
        <p:nvSpPr>
          <p:cNvPr id="6" name="Shape 4"/>
          <p:cNvSpPr/>
          <p:nvPr/>
        </p:nvSpPr>
        <p:spPr>
          <a:xfrm>
            <a:off x="7448550" y="1885950"/>
            <a:ext cx="3924300" cy="2494280"/>
          </a:xfrm>
          <a:prstGeom prst="roundRect">
            <a:avLst>
              <a:gd name="adj" fmla="val 3819"/>
            </a:avLst>
          </a:prstGeom>
          <a:solidFill>
            <a:srgbClr val="FFFFFF"/>
          </a:solidFill>
          <a:ln w="12700">
            <a:solidFill>
              <a:srgbClr val="D5DBE4"/>
            </a:solidFill>
            <a:prstDash val="solid"/>
          </a:ln>
        </p:spPr>
      </p:sp>
      <p:sp>
        <p:nvSpPr>
          <p:cNvPr id="7" name="Text 5"/>
          <p:cNvSpPr/>
          <p:nvPr/>
        </p:nvSpPr>
        <p:spPr>
          <a:xfrm>
            <a:off x="7706360" y="2143758"/>
            <a:ext cx="351094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033"/>
                </a:solidFill>
                <a:latin typeface="IBM Plex Sans" pitchFamily="34" charset="0"/>
                <a:ea typeface="IBM Plex Sans" pitchFamily="34" charset="-122"/>
                <a:cs typeface="IBM Plex Sans" pitchFamily="34" charset="-120"/>
              </a:rPr>
              <a:t>Entregable y criterios</a:t>
            </a:r>
            <a:endParaRPr lang="en-US" sz="2000" dirty="0"/>
          </a:p>
        </p:txBody>
      </p:sp>
      <p:sp>
        <p:nvSpPr>
          <p:cNvPr id="8" name="Text 6"/>
          <p:cNvSpPr/>
          <p:nvPr/>
        </p:nvSpPr>
        <p:spPr>
          <a:xfrm>
            <a:off x="7784592" y="2575558"/>
            <a:ext cx="3425088" cy="1572260"/>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Las vistas se actualizan solas</a:t>
            </a:r>
            <a:endParaRPr lang="en-US" sz="1400" dirty="0"/>
          </a:p>
          <a:p>
            <a:pPr algn="l" marL="175768"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El controlador no refresca nada</a:t>
            </a:r>
            <a:endParaRPr lang="en-US" sz="1400" dirty="0"/>
          </a:p>
          <a:p>
            <a:pPr algn="l" marL="175768"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Qué es «saldo bajo» lo decide el modelo</a:t>
            </a:r>
            <a:endParaRPr lang="en-US" sz="1400" dirty="0"/>
          </a:p>
          <a:p>
            <a:pPr algn="l" marL="175768"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El color rojo lo pone la vista</a:t>
            </a:r>
            <a:endParaRPr lang="en-US" sz="1400" dirty="0"/>
          </a:p>
          <a:p>
            <a:pPr algn="l" marL="175768"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Los tests no abren ninguna ventana</a:t>
            </a:r>
            <a:endParaRPr lang="en-US" sz="1400" dirty="0"/>
          </a:p>
        </p:txBody>
      </p:sp>
      <p:sp>
        <p:nvSpPr>
          <p:cNvPr id="9" name="Text 7"/>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El patrón MVC en JavaFX · Desarrollo de Interfaces · 2º DAM</a:t>
            </a:r>
            <a:endParaRPr lang="en-US" sz="1200" dirty="0"/>
          </a:p>
        </p:txBody>
      </p:sp>
      <p:sp>
        <p:nvSpPr>
          <p:cNvPr id="10" name="Text 8"/>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21 / 22</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6A80"/>
                </a:solidFill>
                <a:latin typeface="IBM Plex Sans" pitchFamily="34" charset="0"/>
                <a:ea typeface="IBM Plex Sans" pitchFamily="34" charset="-122"/>
                <a:cs typeface="IBM Plex Sans" pitchFamily="34" charset="-120"/>
              </a:rPr>
              <a:t>PARTE 3 · TAREA 4 · MINI PROYECTO · 2–3 H</a:t>
            </a:r>
            <a:endParaRPr lang="en-US" sz="1200" dirty="0"/>
          </a:p>
        </p:txBody>
      </p:sp>
      <p:sp>
        <p:nvSpPr>
          <p:cNvPr id="3" name="Text 1"/>
          <p:cNvSpPr/>
          <p:nvPr>
            <p:ph type="title"/>
          </p:nvPr>
        </p:nvSpPr>
        <p:spPr>
          <a:xfrm>
            <a:off x="812800" y="1229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33"/>
                </a:solidFill>
                <a:latin typeface="IBM Plex Sans" pitchFamily="34" charset="0"/>
                <a:ea typeface="IBM Plex Sans" pitchFamily="34" charset="-122"/>
                <a:cs typeface="IBM Plex Sans" pitchFamily="34" charset="-120"/>
              </a:rPr>
              <a:t>Agenda de contactos con TableView</a:t>
            </a:r>
            <a:endParaRPr lang="en-US" sz="3200" dirty="0"/>
          </a:p>
        </p:txBody>
      </p:sp>
      <p:sp>
        <p:nvSpPr>
          <p:cNvPr id="4" name="Text 2"/>
          <p:cNvSpPr/>
          <p:nvPr/>
        </p:nvSpPr>
        <p:spPr>
          <a:xfrm>
            <a:off x="812800" y="1879600"/>
            <a:ext cx="651433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033"/>
                </a:solidFill>
                <a:latin typeface="IBM Plex Sans" pitchFamily="34" charset="0"/>
                <a:ea typeface="IBM Plex Sans" pitchFamily="34" charset="-122"/>
                <a:cs typeface="IBM Plex Sans" pitchFamily="34" charset="-120"/>
              </a:rPr>
              <a:t>Pasos</a:t>
            </a:r>
            <a:endParaRPr lang="en-US" sz="2000" dirty="0"/>
          </a:p>
        </p:txBody>
      </p:sp>
      <p:sp>
        <p:nvSpPr>
          <p:cNvPr id="5" name="Text 3"/>
          <p:cNvSpPr/>
          <p:nvPr/>
        </p:nvSpPr>
        <p:spPr>
          <a:xfrm>
            <a:off x="841613" y="2311400"/>
            <a:ext cx="6477905" cy="1447800"/>
          </a:xfrm>
          <a:prstGeom prst="rect">
            <a:avLst/>
          </a:prstGeom>
          <a:noFill/>
          <a:ln/>
        </p:spPr>
        <p:txBody>
          <a:bodyPr wrap="square" lIns="0" tIns="0" rIns="0" bIns="0" rtlCol="0" anchor="t">
            <a:normAutofit/>
          </a:bodyPr>
          <a:lstStyle/>
          <a:p>
            <a:pPr algn="l" marL="225187" indent="-225187">
              <a:lnSpc>
                <a:spcPts val="2240"/>
              </a:lnSpc>
              <a:buSzPct val="100000"/>
              <a:buFontTx/>
              <a:buAutoNum type="arabicPeriod" startAt="1"/>
            </a:pPr>
            <a:r>
              <a:rPr lang="en-US" sz="1600" dirty="0">
                <a:solidFill>
                  <a:srgbClr val="3E4A5C"/>
                </a:solidFill>
                <a:latin typeface="IBM Plex Sans" pitchFamily="34" charset="0"/>
                <a:ea typeface="IBM Plex Sans" pitchFamily="34" charset="-122"/>
                <a:cs typeface="IBM Plex Sans" pitchFamily="34" charset="-120"/>
              </a:rPr>
              <a:t>Clase Contacto y modelo Agenda con una ObservableList.</a:t>
            </a:r>
            <a:endParaRPr lang="en-US" sz="1600" dirty="0"/>
          </a:p>
          <a:p>
            <a:pPr algn="l" marL="225187" indent="-225187">
              <a:lnSpc>
                <a:spcPts val="2240"/>
              </a:lnSpc>
              <a:buSzPct val="100000"/>
              <a:buFontTx/>
              <a:buAutoNum type="arabicPeriod" startAt="1"/>
            </a:pPr>
            <a:r>
              <a:rPr lang="en-US" sz="1600" dirty="0">
                <a:solidFill>
                  <a:srgbClr val="3E4A5C"/>
                </a:solidFill>
                <a:latin typeface="IBM Plex Sans" pitchFamily="34" charset="0"/>
                <a:ea typeface="IBM Plex Sans" pitchFamily="34" charset="-122"/>
                <a:cs typeface="IBM Plex Sans" pitchFamily="34" charset="-120"/>
              </a:rPr>
              <a:t>Vista con TableView y un formulario.</a:t>
            </a:r>
            <a:endParaRPr lang="en-US" sz="1600" dirty="0"/>
          </a:p>
          <a:p>
            <a:pPr algn="l" marL="225187" indent="-225187">
              <a:lnSpc>
                <a:spcPts val="2240"/>
              </a:lnSpc>
              <a:buSzPct val="100000"/>
              <a:buFontTx/>
              <a:buAutoNum type="arabicPeriod" startAt="1"/>
            </a:pPr>
            <a:r>
              <a:rPr lang="en-US" sz="1600" dirty="0">
                <a:solidFill>
                  <a:srgbClr val="3E4A5C"/>
                </a:solidFill>
                <a:latin typeface="IBM Plex Sans" pitchFamily="34" charset="0"/>
                <a:ea typeface="IBM Plex Sans" pitchFamily="34" charset="-122"/>
                <a:cs typeface="IBM Plex Sans" pitchFamily="34" charset="-120"/>
              </a:rPr>
              <a:t>Controlador con alta, baja y modificación.</a:t>
            </a:r>
            <a:endParaRPr lang="en-US" sz="1600" dirty="0"/>
          </a:p>
          <a:p>
            <a:pPr algn="l" marL="225187" indent="-225187">
              <a:lnSpc>
                <a:spcPts val="2240"/>
              </a:lnSpc>
              <a:buSzPct val="100000"/>
              <a:buFontTx/>
              <a:buAutoNum type="arabicPeriod" startAt="1"/>
            </a:pPr>
            <a:r>
              <a:rPr lang="en-US" sz="1600" dirty="0">
                <a:solidFill>
                  <a:srgbClr val="3E4A5C"/>
                </a:solidFill>
                <a:latin typeface="IBM Plex Sans" pitchFamily="34" charset="0"/>
                <a:ea typeface="IBM Plex Sans" pitchFamily="34" charset="-122"/>
                <a:cs typeface="IBM Plex Sans" pitchFamily="34" charset="-120"/>
              </a:rPr>
              <a:t>Búsqueda por nombre.</a:t>
            </a:r>
            <a:endParaRPr lang="en-US" sz="1600" dirty="0"/>
          </a:p>
          <a:p>
            <a:pPr algn="l" marL="225187" indent="-225187">
              <a:lnSpc>
                <a:spcPts val="2240"/>
              </a:lnSpc>
              <a:buSzPct val="100000"/>
              <a:buFontTx/>
              <a:buAutoNum type="arabicPeriod" startAt="1"/>
            </a:pPr>
            <a:r>
              <a:rPr lang="en-US" sz="1600" dirty="0">
                <a:solidFill>
                  <a:srgbClr val="3E4A5C"/>
                </a:solidFill>
                <a:latin typeface="IBM Plex Sans" pitchFamily="34" charset="0"/>
                <a:ea typeface="IBM Plex Sans" pitchFamily="34" charset="-122"/>
                <a:cs typeface="IBM Plex Sans" pitchFamily="34" charset="-120"/>
              </a:rPr>
              <a:t>Ampliación: guardar en fichero o hacer la vista en FXML.</a:t>
            </a:r>
            <a:endParaRPr lang="en-US" sz="1600" dirty="0"/>
          </a:p>
        </p:txBody>
      </p:sp>
      <p:sp>
        <p:nvSpPr>
          <p:cNvPr id="6" name="Shape 4"/>
          <p:cNvSpPr/>
          <p:nvPr/>
        </p:nvSpPr>
        <p:spPr>
          <a:xfrm>
            <a:off x="7448550" y="1885950"/>
            <a:ext cx="3924300" cy="2494280"/>
          </a:xfrm>
          <a:prstGeom prst="roundRect">
            <a:avLst>
              <a:gd name="adj" fmla="val 3819"/>
            </a:avLst>
          </a:prstGeom>
          <a:solidFill>
            <a:srgbClr val="FFFFFF"/>
          </a:solidFill>
          <a:ln w="12700">
            <a:solidFill>
              <a:srgbClr val="D5DBE4"/>
            </a:solidFill>
            <a:prstDash val="solid"/>
          </a:ln>
        </p:spPr>
      </p:sp>
      <p:sp>
        <p:nvSpPr>
          <p:cNvPr id="7" name="Text 5"/>
          <p:cNvSpPr/>
          <p:nvPr/>
        </p:nvSpPr>
        <p:spPr>
          <a:xfrm>
            <a:off x="7706360" y="2143758"/>
            <a:ext cx="351094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033"/>
                </a:solidFill>
                <a:latin typeface="IBM Plex Sans" pitchFamily="34" charset="0"/>
                <a:ea typeface="IBM Plex Sans" pitchFamily="34" charset="-122"/>
                <a:cs typeface="IBM Plex Sans" pitchFamily="34" charset="-120"/>
              </a:rPr>
              <a:t>Entregable y criterios</a:t>
            </a:r>
            <a:endParaRPr lang="en-US" sz="2000" dirty="0"/>
          </a:p>
        </p:txBody>
      </p:sp>
      <p:sp>
        <p:nvSpPr>
          <p:cNvPr id="8" name="Text 6"/>
          <p:cNvSpPr/>
          <p:nvPr/>
        </p:nvSpPr>
        <p:spPr>
          <a:xfrm>
            <a:off x="7784592" y="2575558"/>
            <a:ext cx="3425088" cy="1572260"/>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No hay dos contactos con el mismo nombre</a:t>
            </a:r>
            <a:endParaRPr lang="en-US" sz="1400" dirty="0"/>
          </a:p>
          <a:p>
            <a:pPr algn="l" marL="175768"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La baja pide confirmación</a:t>
            </a:r>
            <a:endParaRPr lang="en-US" sz="1400" dirty="0"/>
          </a:p>
          <a:p>
            <a:pPr algn="l" marL="175768"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La búsqueda se mantiene tras cada cambio</a:t>
            </a:r>
            <a:endParaRPr lang="en-US" sz="1400" dirty="0"/>
          </a:p>
          <a:p>
            <a:pPr algn="l" marL="175768"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Código limpio</a:t>
            </a:r>
            <a:endParaRPr lang="en-US" sz="1400" dirty="0"/>
          </a:p>
        </p:txBody>
      </p:sp>
      <p:sp>
        <p:nvSpPr>
          <p:cNvPr id="9" name="Text 7"/>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El patrón MVC en JavaFX · Desarrollo de Interfaces · 2º DAM</a:t>
            </a:r>
            <a:endParaRPr lang="en-US" sz="1200" dirty="0"/>
          </a:p>
        </p:txBody>
      </p:sp>
      <p:sp>
        <p:nvSpPr>
          <p:cNvPr id="10" name="Text 8"/>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8C"/>
                </a:solidFill>
                <a:latin typeface="IBM Plex Sans" pitchFamily="34" charset="0"/>
                <a:ea typeface="IBM Plex Sans" pitchFamily="34" charset="-122"/>
                <a:cs typeface="IBM Plex Sans" pitchFamily="34" charset="-120"/>
              </a:rPr>
              <a:t>22 / 22</a:t>
            </a:r>
            <a:endParaRPr lang="en-US" sz="1200" dirty="0"/>
          </a:p>
        </p:txBody>
      </p:sp>
    </p:spTree>
  </p:cSld>
  <p:clrMapOvr>
    <a:masterClrMapping/>
  </p:clrMapOvr>
</p:sld>
</file>

<file path=ppt/theme/theme1.xml><?xml version="1.0" encoding="utf-8"?>
<a:theme xmlns:a="http://schemas.openxmlformats.org/drawingml/2006/main" name="El patrón MVC en JavaFX">
  <a:themeElements>
    <a:clrScheme name="El patrón MVC en JavaFX">
      <a:dk1>
        <a:srgbClr val="172033"/>
      </a:dk1>
      <a:lt1>
        <a:srgbClr val="F7F6F2"/>
      </a:lt1>
      <a:dk2>
        <a:srgbClr val="4F5663"/>
      </a:dk2>
      <a:lt2>
        <a:srgbClr val="E1E1DF"/>
      </a:lt2>
      <a:accent1>
        <a:srgbClr val="1F4E91"/>
      </a:accent1>
      <a:accent2>
        <a:srgbClr val="2A5EA8"/>
      </a:accent2>
      <a:accent3>
        <a:srgbClr val="23633E"/>
      </a:accent3>
      <a:accent4>
        <a:srgbClr val="B0601A"/>
      </a:accent4>
      <a:accent5>
        <a:srgbClr val="2F7D4F"/>
      </a:accent5>
      <a:accent6>
        <a:srgbClr val="8F4C12"/>
      </a:accent6>
      <a:hlink>
        <a:srgbClr val="0563C1"/>
      </a:hlink>
      <a:folHlink>
        <a:srgbClr val="954F72"/>
      </a:folHlink>
    </a:clrScheme>
    <a:fontScheme name="El patrón MVC en JavaFX">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 patrón MVC en JavaFX</dc:title>
  <dc:subject/>
  <dc:creator/>
  <cp:lastModifiedBy/>
  <cp:revision>1</cp:revision>
  <dcterms:created xsi:type="dcterms:W3CDTF">2026-10-14T09:01:21Z</dcterms:created>
  <dcterms:modified xsi:type="dcterms:W3CDTF">2026-10-14T09:01:21Z</dcterms:modified>
</cp:coreProperties>
</file>